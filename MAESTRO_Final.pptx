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87" r:id="rId3"/>
    <p:sldId id="289" r:id="rId4"/>
    <p:sldId id="299" r:id="rId5"/>
    <p:sldId id="290" r:id="rId6"/>
    <p:sldId id="304" r:id="rId7"/>
    <p:sldId id="300" r:id="rId8"/>
    <p:sldId id="260" r:id="rId9"/>
    <p:sldId id="261" r:id="rId10"/>
    <p:sldId id="301" r:id="rId11"/>
    <p:sldId id="263" r:id="rId12"/>
    <p:sldId id="266" r:id="rId13"/>
    <p:sldId id="264" r:id="rId14"/>
    <p:sldId id="302" r:id="rId15"/>
    <p:sldId id="267" r:id="rId16"/>
    <p:sldId id="269" r:id="rId17"/>
    <p:sldId id="270" r:id="rId18"/>
    <p:sldId id="291" r:id="rId19"/>
    <p:sldId id="271" r:id="rId20"/>
    <p:sldId id="292" r:id="rId21"/>
    <p:sldId id="272" r:id="rId22"/>
    <p:sldId id="293" r:id="rId23"/>
    <p:sldId id="273" r:id="rId24"/>
    <p:sldId id="294" r:id="rId25"/>
    <p:sldId id="274" r:id="rId26"/>
    <p:sldId id="258" r:id="rId27"/>
    <p:sldId id="275" r:id="rId28"/>
    <p:sldId id="257" r:id="rId29"/>
    <p:sldId id="276" r:id="rId30"/>
    <p:sldId id="295" r:id="rId31"/>
    <p:sldId id="277" r:id="rId32"/>
    <p:sldId id="296" r:id="rId33"/>
    <p:sldId id="303" r:id="rId34"/>
    <p:sldId id="279" r:id="rId35"/>
    <p:sldId id="288" r:id="rId36"/>
    <p:sldId id="281" r:id="rId37"/>
    <p:sldId id="284" r:id="rId38"/>
    <p:sldId id="283" r:id="rId39"/>
    <p:sldId id="285"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1A2B"/>
    <a:srgbClr val="F97066"/>
    <a:srgbClr val="712B13"/>
    <a:srgbClr val="F8FAFC"/>
    <a:srgbClr val="05B6D4"/>
    <a:srgbClr val="C77A2B"/>
    <a:srgbClr val="5C5C6E"/>
    <a:srgbClr val="2C784A"/>
    <a:srgbClr val="090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91"/>
    <p:restoredTop sz="90795"/>
  </p:normalViewPr>
  <p:slideViewPr>
    <p:cSldViewPr snapToGrid="0" snapToObjects="1">
      <p:cViewPr varScale="1">
        <p:scale>
          <a:sx n="140" d="100"/>
          <a:sy n="140" d="100"/>
        </p:scale>
        <p:origin x="816" y="16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826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CE71D-F8AF-8E36-1CA8-F23D84188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8870C5-52D1-196A-DD2B-2A83DA6C1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ABE450-00E8-355B-2122-87515F0D25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16986B-C836-14FF-219D-4AD7863AF16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179184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75215-366D-ABF9-5738-F05884FD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94102-4FBD-1738-03B0-C1CB981E3E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C5D06C-B5C4-AB0F-530E-D228388553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3A90A4-53AF-9360-2C18-1C1D6BC0DCB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02968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9451B-BB5B-D740-A916-E13780DD6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F12FD-95B4-AE6A-9FCB-E37D55F69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F9188E-13F9-8862-34A9-5839868705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1152B9-48FE-E710-39A0-76147A37A22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504037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502E-74FC-C267-D07D-EC0821548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0CA261-2941-3006-36E3-28D20EBB3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9E88A-F450-DF43-7D1F-CB5624E208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2E8BFE-23DD-5F3E-509D-11360ADCD4D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833991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D26EC-14E3-BBE5-E3DE-C79DB8878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6CBAD-E50F-92F9-91FA-C99901D1D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CD98A-E543-32F0-B67D-A803131657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F2D9DF-3477-3664-CA67-7BC3410CF0F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609724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299FF-EC81-5EF2-F6E7-336E5E9C9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6175C-DC1F-0925-1239-9302899AA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BBD3A2-E729-5B7C-4F5F-68438FF78C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E3745E-443A-3352-86BF-5D949DD8838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31685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64397-792B-FB7C-9962-E3EE66FF2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F57060-F6BC-8498-C248-7BBA7D0E3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FD385A-2B02-475C-155C-C0851039D0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7F68B8-D367-7066-4A24-014FC83F839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29621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7F73D-00F3-FE87-30B0-72A9E2F50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93312-2E0C-3F77-5B04-D805A76C6E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130B2-4D29-B527-FE6D-A4D7F5E651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6D4B3-7D7C-7520-0540-178283E9B3E5}"/>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41390616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6722872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2.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7.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6.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hyperlink" Target="https://arxiv.org/abs/2503.18813"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228600" cy="6858000"/>
          </a:xfrm>
          <a:prstGeom prst="rect">
            <a:avLst/>
          </a:prstGeom>
          <a:solidFill>
            <a:srgbClr val="06B6D4"/>
          </a:solidFill>
          <a:ln/>
        </p:spPr>
        <p:txBody>
          <a:bodyPr/>
          <a:lstStyle/>
          <a:p>
            <a:endParaRPr lang="en-US"/>
          </a:p>
        </p:txBody>
      </p:sp>
      <p:sp>
        <p:nvSpPr>
          <p:cNvPr id="4" name="Text 2"/>
          <p:cNvSpPr/>
          <p:nvPr/>
        </p:nvSpPr>
        <p:spPr>
          <a:xfrm>
            <a:off x="822960" y="1463040"/>
            <a:ext cx="10515600" cy="1097280"/>
          </a:xfrm>
          <a:prstGeom prst="rect">
            <a:avLst/>
          </a:prstGeom>
          <a:noFill/>
          <a:ln/>
        </p:spPr>
        <p:txBody>
          <a:bodyPr wrap="square" lIns="0" tIns="0" rIns="0" bIns="0" rtlCol="0" anchor="ctr"/>
          <a:lstStyle/>
          <a:p>
            <a:pPr marL="0" indent="0">
              <a:buNone/>
            </a:pPr>
            <a:r>
              <a:rPr lang="en-US" sz="6400" b="1" dirty="0">
                <a:solidFill>
                  <a:srgbClr val="E8F1FF"/>
                </a:solidFill>
                <a:latin typeface="Georgia" pitchFamily="34" charset="0"/>
                <a:ea typeface="Georgia" pitchFamily="34" charset="-122"/>
                <a:cs typeface="Georgia" pitchFamily="34" charset="-120"/>
              </a:rPr>
              <a:t>Beyond STRIDE</a:t>
            </a:r>
            <a:endParaRPr lang="en-US" sz="6400" dirty="0"/>
          </a:p>
        </p:txBody>
      </p:sp>
      <p:sp>
        <p:nvSpPr>
          <p:cNvPr id="5" name="Text 3"/>
          <p:cNvSpPr/>
          <p:nvPr/>
        </p:nvSpPr>
        <p:spPr>
          <a:xfrm>
            <a:off x="822960" y="2651760"/>
            <a:ext cx="10515600" cy="822960"/>
          </a:xfrm>
          <a:prstGeom prst="rect">
            <a:avLst/>
          </a:prstGeom>
          <a:noFill/>
          <a:ln/>
        </p:spPr>
        <p:txBody>
          <a:bodyPr wrap="square" lIns="0" tIns="0" rIns="0" bIns="0" rtlCol="0" anchor="ctr"/>
          <a:lstStyle/>
          <a:p>
            <a:pPr marL="0" indent="0">
              <a:buNone/>
            </a:pPr>
            <a:r>
              <a:rPr lang="en-US" sz="3000" i="1" dirty="0">
                <a:solidFill>
                  <a:srgbClr val="B8C9E0"/>
                </a:solidFill>
                <a:latin typeface="Georgia" pitchFamily="34" charset="0"/>
                <a:ea typeface="Georgia" pitchFamily="34" charset="-122"/>
                <a:cs typeface="Georgia" pitchFamily="34" charset="-120"/>
              </a:rPr>
              <a:t>Securing Agentic AI with the MAESTRO Framework</a:t>
            </a:r>
            <a:endParaRPr lang="en-US" sz="3000" dirty="0"/>
          </a:p>
        </p:txBody>
      </p:sp>
      <p:sp>
        <p:nvSpPr>
          <p:cNvPr id="6" name="Shape 4">
            <a:extLst>
              <a:ext uri="{C183D7F6-B498-43B3-948B-1728B52AA6E4}">
                <adec:decorative xmlns:adec="http://schemas.microsoft.com/office/drawing/2017/decorative" val="1"/>
              </a:ext>
            </a:extLst>
          </p:cNvPr>
          <p:cNvSpPr/>
          <p:nvPr/>
        </p:nvSpPr>
        <p:spPr>
          <a:xfrm>
            <a:off x="822960" y="3749040"/>
            <a:ext cx="1097280" cy="36576"/>
          </a:xfrm>
          <a:prstGeom prst="rect">
            <a:avLst/>
          </a:prstGeom>
          <a:solidFill>
            <a:srgbClr val="F97066"/>
          </a:solidFill>
          <a:ln/>
        </p:spPr>
        <p:txBody>
          <a:bodyPr/>
          <a:lstStyle/>
          <a:p>
            <a:endParaRPr lang="en-US"/>
          </a:p>
        </p:txBody>
      </p:sp>
      <p:sp>
        <p:nvSpPr>
          <p:cNvPr id="8" name="Text 6">
            <a:extLst>
              <a:ext uri="{C183D7F6-B498-43B3-948B-1728B52AA6E4}">
                <adec:decorative xmlns:adec="http://schemas.microsoft.com/office/drawing/2017/decorative" val="1"/>
              </a:ext>
            </a:extLst>
          </p:cNvPr>
          <p:cNvSpPr/>
          <p:nvPr/>
        </p:nvSpPr>
        <p:spPr>
          <a:xfrm>
            <a:off x="822960" y="4343400"/>
            <a:ext cx="10058400" cy="457200"/>
          </a:xfrm>
          <a:prstGeom prst="rect">
            <a:avLst/>
          </a:prstGeom>
          <a:noFill/>
          <a:ln/>
        </p:spPr>
        <p:txBody>
          <a:bodyPr wrap="square" rtlCol="0" anchor="ctr"/>
          <a:lstStyle/>
          <a:p>
            <a:pPr marL="0" indent="0">
              <a:buNone/>
            </a:pPr>
            <a:endParaRPr lang="en-US" sz="1800" dirty="0"/>
          </a:p>
        </p:txBody>
      </p:sp>
      <p:sp>
        <p:nvSpPr>
          <p:cNvPr id="9" name="TextBox 8"/>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1 / 43</a:t>
            </a:r>
          </a:p>
        </p:txBody>
      </p:sp>
    </p:spTree>
  </p:cSld>
  <p:clrMapOvr>
    <a:masterClrMapping/>
  </p:clrMapOvr>
  <mc:AlternateContent xmlns:mc="http://schemas.openxmlformats.org/markup-compatibility/2006">
    <mc:Choice xmlns:p14="http://schemas.microsoft.com/office/powerpoint/2010/main" Requires="p14">
      <p:transition spd="slow" p14:dur="2000" advTm="13031"/>
    </mc:Choice>
    <mc:Fallback>
      <p:transition spd="slow" advTm="1303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C0845C-2D84-2BE5-EA7C-95A530EEA594}"/>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0267A0F0-B0F1-5242-64C4-65B2B1465F88}"/>
              </a:ext>
            </a:extLst>
          </p:cNvPr>
          <p:cNvSpPr/>
          <p:nvPr/>
        </p:nvSpPr>
        <p:spPr>
          <a:xfrm>
            <a:off x="5048252" y="1154938"/>
            <a:ext cx="2608552" cy="457200"/>
          </a:xfrm>
          <a:prstGeom prst="rect">
            <a:avLst/>
          </a:prstGeom>
          <a:noFill/>
          <a:ln/>
        </p:spPr>
        <p:txBody>
          <a:bodyPr wrap="square" lIns="0" tIns="0" rIns="0" bIns="0"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Darylynn Ross</a:t>
            </a:r>
            <a:endParaRPr lang="en-US" sz="3200" dirty="0"/>
          </a:p>
        </p:txBody>
      </p:sp>
      <p:sp>
        <p:nvSpPr>
          <p:cNvPr id="6" name="Text 3">
            <a:extLst>
              <a:ext uri="{FF2B5EF4-FFF2-40B4-BE49-F238E27FC236}">
                <a16:creationId xmlns:a16="http://schemas.microsoft.com/office/drawing/2014/main" id="{B1239396-9805-D4CC-42E9-5901484816DB}"/>
              </a:ext>
            </a:extLst>
          </p:cNvPr>
          <p:cNvSpPr/>
          <p:nvPr/>
        </p:nvSpPr>
        <p:spPr>
          <a:xfrm>
            <a:off x="5048251" y="1837722"/>
            <a:ext cx="5409363" cy="742342"/>
          </a:xfrm>
          <a:prstGeom prst="rect">
            <a:avLst/>
          </a:prstGeom>
          <a:noFill/>
          <a:ln/>
        </p:spPr>
        <p:txBody>
          <a:bodyPr wrap="square" lIns="0" tIns="0" rIns="0" bIns="0" rtlCol="0" anchor="t"/>
          <a:lstStyle/>
          <a:p>
            <a:r>
              <a:rPr lang="en-US" sz="2000" dirty="0">
                <a:latin typeface="Calibri" pitchFamily="34" charset="0"/>
                <a:ea typeface="Calibri" pitchFamily="34" charset="-122"/>
                <a:cs typeface="Calibri" pitchFamily="34" charset="-120"/>
              </a:rPr>
              <a:t>Sr. Application Security Engineer, Product Security</a:t>
            </a:r>
          </a:p>
          <a:p>
            <a:r>
              <a:rPr lang="en-US" sz="2000" dirty="0" err="1">
                <a:latin typeface="Calibri" pitchFamily="34" charset="0"/>
                <a:cs typeface="Calibri" pitchFamily="34" charset="-120"/>
              </a:rPr>
              <a:t>CoverMyMeds</a:t>
            </a:r>
            <a:r>
              <a:rPr lang="en-US" sz="2000" dirty="0">
                <a:latin typeface="Calibri" pitchFamily="34" charset="0"/>
                <a:cs typeface="Calibri" pitchFamily="34" charset="-120"/>
              </a:rPr>
              <a:t>, part of McKesson Corporation</a:t>
            </a:r>
          </a:p>
        </p:txBody>
      </p:sp>
      <p:sp>
        <p:nvSpPr>
          <p:cNvPr id="9" name="Text 5">
            <a:extLst>
              <a:ext uri="{FF2B5EF4-FFF2-40B4-BE49-F238E27FC236}">
                <a16:creationId xmlns:a16="http://schemas.microsoft.com/office/drawing/2014/main" id="{B009BF27-2564-99E5-72B9-00DC9E7E3C15}"/>
              </a:ext>
            </a:extLst>
          </p:cNvPr>
          <p:cNvSpPr/>
          <p:nvPr/>
        </p:nvSpPr>
        <p:spPr>
          <a:xfrm>
            <a:off x="579538" y="5225585"/>
            <a:ext cx="10925823" cy="1143000"/>
          </a:xfrm>
          <a:prstGeom prst="rect">
            <a:avLst/>
          </a:prstGeom>
          <a:noFill/>
          <a:ln/>
        </p:spPr>
        <p:txBody>
          <a:bodyPr wrap="square" lIns="0" tIns="0" rIns="0" bIns="0" rtlCol="0" anchor="ctr"/>
          <a:lstStyle/>
          <a:p>
            <a:pPr algn="ctr" defTabSz="676656">
              <a:spcAft>
                <a:spcPts val="600"/>
              </a:spcAft>
            </a:pPr>
            <a:r>
              <a:rPr lang="en-US" sz="2800" dirty="0">
                <a:solidFill>
                  <a:srgbClr val="475569"/>
                </a:solidFill>
                <a:latin typeface="Calibri" pitchFamily="34" charset="0"/>
                <a:cs typeface="Calibri" pitchFamily="34" charset="-120"/>
              </a:rPr>
              <a:t>Please don’t hold questions to the end.  </a:t>
            </a:r>
          </a:p>
          <a:p>
            <a:pPr algn="ctr" defTabSz="676656">
              <a:spcAft>
                <a:spcPts val="600"/>
              </a:spcAft>
            </a:pPr>
            <a:r>
              <a:rPr lang="en-US" sz="2800" dirty="0">
                <a:solidFill>
                  <a:srgbClr val="475569"/>
                </a:solidFill>
                <a:latin typeface="Calibri" pitchFamily="34" charset="0"/>
                <a:cs typeface="Calibri" pitchFamily="34" charset="-120"/>
              </a:rPr>
              <a:t>Discussion is encouraged.</a:t>
            </a:r>
          </a:p>
          <a:p>
            <a:pPr marL="0" indent="0">
              <a:buNone/>
            </a:pPr>
            <a:endParaRPr lang="en-US" sz="2200" dirty="0"/>
          </a:p>
        </p:txBody>
      </p:sp>
      <p:sp>
        <p:nvSpPr>
          <p:cNvPr id="13" name="Text 8">
            <a:extLst>
              <a:ext uri="{FF2B5EF4-FFF2-40B4-BE49-F238E27FC236}">
                <a16:creationId xmlns:a16="http://schemas.microsoft.com/office/drawing/2014/main" id="{A9A2545C-9E15-7E77-AD64-901D3641608A}"/>
              </a:ext>
              <a:ext uri="{C183D7F6-B498-43B3-948B-1728B52AA6E4}">
                <adec:decorative xmlns:adec="http://schemas.microsoft.com/office/drawing/2017/decorative" val="1"/>
              </a:ext>
            </a:extLst>
          </p:cNvPr>
          <p:cNvSpPr/>
          <p:nvPr/>
        </p:nvSpPr>
        <p:spPr>
          <a:xfrm>
            <a:off x="2194560" y="3977640"/>
            <a:ext cx="9144000" cy="457200"/>
          </a:xfrm>
          <a:prstGeom prst="rect">
            <a:avLst/>
          </a:prstGeom>
          <a:noFill/>
          <a:ln/>
        </p:spPr>
        <p:txBody>
          <a:bodyPr wrap="square" lIns="0" tIns="0" rIns="0" bIns="0" rtlCol="0" anchor="ctr"/>
          <a:lstStyle/>
          <a:p>
            <a:pPr marL="0" indent="0">
              <a:buNone/>
            </a:pPr>
            <a:endParaRPr lang="en-US" sz="2200" dirty="0"/>
          </a:p>
        </p:txBody>
      </p:sp>
      <p:pic>
        <p:nvPicPr>
          <p:cNvPr id="23" name="Picture 22">
            <a:extLst>
              <a:ext uri="{FF2B5EF4-FFF2-40B4-BE49-F238E27FC236}">
                <a16:creationId xmlns:a16="http://schemas.microsoft.com/office/drawing/2014/main" id="{412DA632-1C09-2B30-5306-E13D967758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72489" y="928883"/>
            <a:ext cx="2498104" cy="3377718"/>
          </a:xfrm>
          <a:prstGeom prst="rect">
            <a:avLst/>
          </a:prstGeom>
        </p:spPr>
      </p:pic>
      <p:sp>
        <p:nvSpPr>
          <p:cNvPr id="4" name="Text 13">
            <a:extLst>
              <a:ext uri="{FF2B5EF4-FFF2-40B4-BE49-F238E27FC236}">
                <a16:creationId xmlns:a16="http://schemas.microsoft.com/office/drawing/2014/main" id="{676CD382-4558-E49D-1AE9-D9B5C495FEFD}"/>
              </a:ext>
            </a:extLst>
          </p:cNvPr>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3" name="TextBox 2">
            <a:extLst>
              <a:ext uri="{FF2B5EF4-FFF2-40B4-BE49-F238E27FC236}">
                <a16:creationId xmlns:a16="http://schemas.microsoft.com/office/drawing/2014/main" id="{BCBD6D8E-9AFA-5C59-586D-96462C14CF7E}"/>
              </a:ext>
            </a:extLst>
          </p:cNvPr>
          <p:cNvSpPr txBox="1"/>
          <p:nvPr/>
        </p:nvSpPr>
        <p:spPr>
          <a:xfrm>
            <a:off x="4955136" y="2703719"/>
            <a:ext cx="5701436" cy="1323439"/>
          </a:xfrm>
          <a:prstGeom prst="rect">
            <a:avLst/>
          </a:prstGeom>
          <a:noFill/>
        </p:spPr>
        <p:txBody>
          <a:bodyPr wrap="square" rtlCol="0">
            <a:spAutoFit/>
          </a:bodyPr>
          <a:lstStyle/>
          <a:p>
            <a:r>
              <a:rPr lang="en-US" sz="2000" b="1" dirty="0">
                <a:latin typeface="Calibri" pitchFamily="34" charset="0"/>
                <a:cs typeface="Calibri" pitchFamily="34" charset="-120"/>
              </a:rPr>
              <a:t>Disclaimer</a:t>
            </a:r>
            <a:r>
              <a:rPr lang="en-US" sz="2000" dirty="0">
                <a:latin typeface="Calibri" pitchFamily="34" charset="0"/>
                <a:cs typeface="Calibri" pitchFamily="34" charset="-120"/>
              </a:rPr>
              <a:t>: I do a ton of threat modeling, BUT I am not an expert on MAESTRO yet. I am presenting to you because I am learning this myself and want to share it with you. </a:t>
            </a:r>
          </a:p>
        </p:txBody>
      </p:sp>
      <p:sp>
        <p:nvSpPr>
          <p:cNvPr id="24" name="TextBox 23"/>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2 / 43</a:t>
            </a:r>
          </a:p>
        </p:txBody>
      </p:sp>
    </p:spTree>
    <p:extLst>
      <p:ext uri="{BB962C8B-B14F-4D97-AF65-F5344CB8AC3E}">
        <p14:creationId xmlns:p14="http://schemas.microsoft.com/office/powerpoint/2010/main" val="53834115"/>
      </p:ext>
    </p:extLst>
  </p:cSld>
  <p:clrMapOvr>
    <a:masterClrMapping/>
  </p:clrMapOvr>
  <mc:AlternateContent xmlns:mc="http://schemas.openxmlformats.org/markup-compatibility/2006">
    <mc:Choice xmlns:p14="http://schemas.microsoft.com/office/powerpoint/2010/main" Requires="p14">
      <p:transition spd="slow" p14:dur="2000" advTm="38889"/>
    </mc:Choice>
    <mc:Fallback>
      <p:transition spd="slow" advTm="3888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1424A-3263-B763-452F-86A6F7ADBB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97312B1-5B2E-66EF-D3B5-3FC3438A8F1B}"/>
              </a:ext>
            </a:extLst>
          </p:cNvPr>
          <p:cNvSpPr/>
          <p:nvPr/>
        </p:nvSpPr>
        <p:spPr>
          <a:xfrm>
            <a:off x="640080" y="502920"/>
            <a:ext cx="10972800" cy="640080"/>
          </a:xfrm>
          <a:prstGeom prst="rect">
            <a:avLst/>
          </a:prstGeom>
          <a:noFill/>
          <a:ln/>
        </p:spPr>
        <p:txBody>
          <a:bodyPr wrap="square" lIns="0" tIns="0" rIns="0" bIns="0" rtlCol="0" anchor="ctr"/>
          <a:lstStyle/>
          <a:p>
            <a:pPr marL="0" indent="0">
              <a:buNone/>
            </a:pPr>
            <a:r>
              <a:rPr lang="en-US" sz="3400" b="1" dirty="0">
                <a:solidFill>
                  <a:srgbClr val="1E293B"/>
                </a:solidFill>
                <a:latin typeface="Georgia" pitchFamily="34" charset="0"/>
                <a:ea typeface="Georgia" pitchFamily="34" charset="-122"/>
                <a:cs typeface="Georgia" pitchFamily="34" charset="-120"/>
              </a:rPr>
              <a:t>Agenda</a:t>
            </a:r>
            <a:endParaRPr lang="en-US" sz="3400" dirty="0"/>
          </a:p>
        </p:txBody>
      </p:sp>
      <p:sp>
        <p:nvSpPr>
          <p:cNvPr id="3" name="Text 1">
            <a:extLst>
              <a:ext uri="{FF2B5EF4-FFF2-40B4-BE49-F238E27FC236}">
                <a16:creationId xmlns:a16="http://schemas.microsoft.com/office/drawing/2014/main" id="{13F6F12E-05A2-40CA-D397-920D37DDE277}"/>
              </a:ext>
            </a:extLst>
          </p:cNvPr>
          <p:cNvSpPr/>
          <p:nvPr/>
        </p:nvSpPr>
        <p:spPr>
          <a:xfrm>
            <a:off x="640080" y="1188720"/>
            <a:ext cx="10972800" cy="457200"/>
          </a:xfrm>
          <a:prstGeom prst="rect">
            <a:avLst/>
          </a:prstGeom>
          <a:noFill/>
          <a:ln/>
        </p:spPr>
        <p:txBody>
          <a:bodyPr wrap="square" lIns="0" tIns="0" rIns="0" bIns="0" rtlCol="0" anchor="ctr"/>
          <a:lstStyle/>
          <a:p>
            <a:pPr marL="0" indent="0">
              <a:buNone/>
            </a:pPr>
            <a:r>
              <a:rPr lang="en-US" i="1" dirty="0">
                <a:solidFill>
                  <a:srgbClr val="475569"/>
                </a:solidFill>
                <a:latin typeface="Calibri" pitchFamily="34" charset="0"/>
                <a:ea typeface="Calibri" pitchFamily="34" charset="-122"/>
                <a:cs typeface="Calibri" pitchFamily="34" charset="-120"/>
              </a:rPr>
              <a:t>Topics for Today</a:t>
            </a:r>
            <a:endParaRPr lang="en-US" dirty="0"/>
          </a:p>
        </p:txBody>
      </p:sp>
      <p:sp>
        <p:nvSpPr>
          <p:cNvPr id="4" name="Shape 2">
            <a:extLst>
              <a:ext uri="{FF2B5EF4-FFF2-40B4-BE49-F238E27FC236}">
                <a16:creationId xmlns:a16="http://schemas.microsoft.com/office/drawing/2014/main" id="{02D40024-03B3-5E92-9F7C-2E07E8D2050E}"/>
              </a:ext>
              <a:ext uri="{C183D7F6-B498-43B3-948B-1728B52AA6E4}">
                <adec:decorative xmlns:adec="http://schemas.microsoft.com/office/drawing/2017/decorative" val="1"/>
              </a:ext>
            </a:extLst>
          </p:cNvPr>
          <p:cNvSpPr/>
          <p:nvPr/>
        </p:nvSpPr>
        <p:spPr>
          <a:xfrm>
            <a:off x="822960" y="1783080"/>
            <a:ext cx="777240" cy="777240"/>
          </a:xfrm>
          <a:prstGeom prst="ellipse">
            <a:avLst/>
          </a:prstGeom>
          <a:solidFill>
            <a:srgbClr val="06B6D4"/>
          </a:solidFill>
          <a:ln/>
        </p:spPr>
        <p:txBody>
          <a:bodyPr/>
          <a:lstStyle/>
          <a:p>
            <a:endParaRPr lang="en-US" dirty="0"/>
          </a:p>
        </p:txBody>
      </p:sp>
      <p:sp>
        <p:nvSpPr>
          <p:cNvPr id="5" name="Text 3">
            <a:extLst>
              <a:ext uri="{FF2B5EF4-FFF2-40B4-BE49-F238E27FC236}">
                <a16:creationId xmlns:a16="http://schemas.microsoft.com/office/drawing/2014/main" id="{9E3E2043-3CB8-AA53-7397-98F17AB5C705}"/>
              </a:ext>
            </a:extLst>
          </p:cNvPr>
          <p:cNvSpPr/>
          <p:nvPr/>
        </p:nvSpPr>
        <p:spPr>
          <a:xfrm>
            <a:off x="822960" y="1965960"/>
            <a:ext cx="777240" cy="777240"/>
          </a:xfrm>
          <a:prstGeom prst="rect">
            <a:avLst/>
          </a:prstGeom>
          <a:noFill/>
          <a:ln/>
        </p:spPr>
        <p:txBody>
          <a:bodyPr wrap="square" lIns="0" tIns="0" rIns="0" bIns="0" rtlCol="0" anchor="ctr"/>
          <a:lstStyle/>
          <a:p>
            <a:pPr marL="0" indent="0" algn="ctr">
              <a:buNone/>
            </a:pPr>
            <a:endParaRPr lang="en-US" sz="3000" dirty="0"/>
          </a:p>
        </p:txBody>
      </p:sp>
      <p:sp>
        <p:nvSpPr>
          <p:cNvPr id="6" name="Text 4">
            <a:extLst>
              <a:ext uri="{FF2B5EF4-FFF2-40B4-BE49-F238E27FC236}">
                <a16:creationId xmlns:a16="http://schemas.microsoft.com/office/drawing/2014/main" id="{A65423BE-74E4-15C9-2614-693548CCF6B5}"/>
              </a:ext>
            </a:extLst>
          </p:cNvPr>
          <p:cNvSpPr/>
          <p:nvPr/>
        </p:nvSpPr>
        <p:spPr>
          <a:xfrm>
            <a:off x="1828799" y="2895970"/>
            <a:ext cx="85344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Threat Modeling Basics and STRIDE</a:t>
            </a:r>
            <a:endParaRPr lang="en-US" sz="2800" dirty="0"/>
          </a:p>
        </p:txBody>
      </p:sp>
      <p:sp>
        <p:nvSpPr>
          <p:cNvPr id="7" name="Text 5">
            <a:extLst>
              <a:ext uri="{FF2B5EF4-FFF2-40B4-BE49-F238E27FC236}">
                <a16:creationId xmlns:a16="http://schemas.microsoft.com/office/drawing/2014/main" id="{EC853A3B-D0FB-8450-DD63-4997FA275295}"/>
              </a:ext>
            </a:extLst>
          </p:cNvPr>
          <p:cNvSpPr/>
          <p:nvPr/>
        </p:nvSpPr>
        <p:spPr>
          <a:xfrm>
            <a:off x="1828800" y="2377440"/>
            <a:ext cx="9601200" cy="365760"/>
          </a:xfrm>
          <a:prstGeom prst="rect">
            <a:avLst/>
          </a:prstGeom>
          <a:noFill/>
          <a:ln/>
        </p:spPr>
        <p:txBody>
          <a:bodyPr wrap="square" lIns="0" tIns="0" rIns="0" bIns="0" rtlCol="0" anchor="t"/>
          <a:lstStyle/>
          <a:p>
            <a:pPr marL="0" indent="0">
              <a:buNone/>
            </a:pPr>
            <a:endParaRPr lang="en-US" sz="1600" dirty="0"/>
          </a:p>
        </p:txBody>
      </p:sp>
      <p:sp>
        <p:nvSpPr>
          <p:cNvPr id="8" name="Shape 6">
            <a:extLst>
              <a:ext uri="{FF2B5EF4-FFF2-40B4-BE49-F238E27FC236}">
                <a16:creationId xmlns:a16="http://schemas.microsoft.com/office/drawing/2014/main" id="{201890E2-330F-6278-3B72-FBFD7B9A6F2D}"/>
              </a:ext>
              <a:ext uri="{C183D7F6-B498-43B3-948B-1728B52AA6E4}">
                <adec:decorative xmlns:adec="http://schemas.microsoft.com/office/drawing/2017/decorative" val="1"/>
              </a:ext>
            </a:extLst>
          </p:cNvPr>
          <p:cNvSpPr/>
          <p:nvPr/>
        </p:nvSpPr>
        <p:spPr>
          <a:xfrm>
            <a:off x="822960" y="2733040"/>
            <a:ext cx="777240" cy="777240"/>
          </a:xfrm>
          <a:prstGeom prst="ellipse">
            <a:avLst/>
          </a:prstGeom>
          <a:solidFill>
            <a:srgbClr val="06B6D4"/>
          </a:solidFill>
          <a:ln/>
        </p:spPr>
        <p:txBody>
          <a:bodyPr/>
          <a:lstStyle/>
          <a:p>
            <a:endParaRPr lang="en-US"/>
          </a:p>
        </p:txBody>
      </p:sp>
      <p:sp>
        <p:nvSpPr>
          <p:cNvPr id="9" name="Text 7">
            <a:extLst>
              <a:ext uri="{FF2B5EF4-FFF2-40B4-BE49-F238E27FC236}">
                <a16:creationId xmlns:a16="http://schemas.microsoft.com/office/drawing/2014/main" id="{39996129-AAFF-0194-707D-151BB74E61F6}"/>
              </a:ext>
            </a:extLst>
          </p:cNvPr>
          <p:cNvSpPr/>
          <p:nvPr/>
        </p:nvSpPr>
        <p:spPr>
          <a:xfrm>
            <a:off x="822960" y="2926080"/>
            <a:ext cx="777240" cy="777240"/>
          </a:xfrm>
          <a:prstGeom prst="rect">
            <a:avLst/>
          </a:prstGeom>
          <a:noFill/>
          <a:ln/>
        </p:spPr>
        <p:txBody>
          <a:bodyPr wrap="square" lIns="0" tIns="0" rIns="0" bIns="0" rtlCol="0" anchor="ctr"/>
          <a:lstStyle/>
          <a:p>
            <a:pPr marL="0" indent="0" algn="ctr">
              <a:buNone/>
            </a:pPr>
            <a:endParaRPr lang="en-US" sz="3000" dirty="0"/>
          </a:p>
        </p:txBody>
      </p:sp>
      <p:sp>
        <p:nvSpPr>
          <p:cNvPr id="10" name="Text 8">
            <a:extLst>
              <a:ext uri="{FF2B5EF4-FFF2-40B4-BE49-F238E27FC236}">
                <a16:creationId xmlns:a16="http://schemas.microsoft.com/office/drawing/2014/main" id="{15A8C4DF-C92B-E107-0630-7A0A8BDBB942}"/>
              </a:ext>
            </a:extLst>
          </p:cNvPr>
          <p:cNvSpPr/>
          <p:nvPr/>
        </p:nvSpPr>
        <p:spPr>
          <a:xfrm>
            <a:off x="1828799" y="3769729"/>
            <a:ext cx="6869151"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How Agentic AI Breaks STRIDE</a:t>
            </a:r>
            <a:endParaRPr lang="en-US" sz="2800" dirty="0"/>
          </a:p>
        </p:txBody>
      </p:sp>
      <p:sp>
        <p:nvSpPr>
          <p:cNvPr id="12" name="Shape 10">
            <a:extLst>
              <a:ext uri="{FF2B5EF4-FFF2-40B4-BE49-F238E27FC236}">
                <a16:creationId xmlns:a16="http://schemas.microsoft.com/office/drawing/2014/main" id="{F2B61E4E-0CC6-2206-DC61-E312E1B36FA6}"/>
              </a:ext>
              <a:ext uri="{C183D7F6-B498-43B3-948B-1728B52AA6E4}">
                <adec:decorative xmlns:adec="http://schemas.microsoft.com/office/drawing/2017/decorative" val="1"/>
              </a:ext>
            </a:extLst>
          </p:cNvPr>
          <p:cNvSpPr/>
          <p:nvPr/>
        </p:nvSpPr>
        <p:spPr>
          <a:xfrm>
            <a:off x="822960" y="3642360"/>
            <a:ext cx="777240" cy="777240"/>
          </a:xfrm>
          <a:prstGeom prst="ellipse">
            <a:avLst/>
          </a:prstGeom>
          <a:solidFill>
            <a:srgbClr val="06B6D4"/>
          </a:solidFill>
          <a:ln/>
        </p:spPr>
        <p:txBody>
          <a:bodyPr/>
          <a:lstStyle/>
          <a:p>
            <a:endParaRPr lang="en-US"/>
          </a:p>
        </p:txBody>
      </p:sp>
      <p:sp>
        <p:nvSpPr>
          <p:cNvPr id="13" name="Text 11">
            <a:extLst>
              <a:ext uri="{FF2B5EF4-FFF2-40B4-BE49-F238E27FC236}">
                <a16:creationId xmlns:a16="http://schemas.microsoft.com/office/drawing/2014/main" id="{23BB1F9E-9308-E738-0D76-D507485C9B87}"/>
              </a:ext>
            </a:extLst>
          </p:cNvPr>
          <p:cNvSpPr/>
          <p:nvPr/>
        </p:nvSpPr>
        <p:spPr>
          <a:xfrm>
            <a:off x="822960" y="3609798"/>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3</a:t>
            </a:r>
            <a:endParaRPr lang="en-US" sz="3000" dirty="0"/>
          </a:p>
        </p:txBody>
      </p:sp>
      <p:sp>
        <p:nvSpPr>
          <p:cNvPr id="14" name="Text 12">
            <a:extLst>
              <a:ext uri="{FF2B5EF4-FFF2-40B4-BE49-F238E27FC236}">
                <a16:creationId xmlns:a16="http://schemas.microsoft.com/office/drawing/2014/main" id="{C92AFE9A-52D6-4C56-5CCB-1405A5792BF4}"/>
              </a:ext>
            </a:extLst>
          </p:cNvPr>
          <p:cNvSpPr/>
          <p:nvPr/>
        </p:nvSpPr>
        <p:spPr>
          <a:xfrm>
            <a:off x="1828799" y="4712069"/>
            <a:ext cx="6657278"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Introducing MAESTRO</a:t>
            </a:r>
            <a:endParaRPr lang="en-US" sz="2800" dirty="0"/>
          </a:p>
        </p:txBody>
      </p:sp>
      <p:sp>
        <p:nvSpPr>
          <p:cNvPr id="16" name="Shape 14">
            <a:extLst>
              <a:ext uri="{FF2B5EF4-FFF2-40B4-BE49-F238E27FC236}">
                <a16:creationId xmlns:a16="http://schemas.microsoft.com/office/drawing/2014/main" id="{CE95DEB8-D9AC-F4EF-ABED-882825C40F3A}"/>
              </a:ext>
              <a:ext uri="{C183D7F6-B498-43B3-948B-1728B52AA6E4}">
                <adec:decorative xmlns:adec="http://schemas.microsoft.com/office/drawing/2017/decorative" val="1"/>
              </a:ext>
            </a:extLst>
          </p:cNvPr>
          <p:cNvSpPr/>
          <p:nvPr/>
        </p:nvSpPr>
        <p:spPr>
          <a:xfrm>
            <a:off x="822960" y="4592320"/>
            <a:ext cx="777240" cy="777240"/>
          </a:xfrm>
          <a:prstGeom prst="ellipse">
            <a:avLst/>
          </a:prstGeom>
          <a:solidFill>
            <a:srgbClr val="06B6D4"/>
          </a:solidFill>
          <a:ln/>
        </p:spPr>
        <p:txBody>
          <a:bodyPr/>
          <a:lstStyle/>
          <a:p>
            <a:endParaRPr lang="en-US"/>
          </a:p>
        </p:txBody>
      </p:sp>
      <p:sp>
        <p:nvSpPr>
          <p:cNvPr id="17" name="Text 15">
            <a:extLst>
              <a:ext uri="{FF2B5EF4-FFF2-40B4-BE49-F238E27FC236}">
                <a16:creationId xmlns:a16="http://schemas.microsoft.com/office/drawing/2014/main" id="{57B46CFC-5F40-A280-7975-5D6F52F8C99A}"/>
              </a:ext>
            </a:extLst>
          </p:cNvPr>
          <p:cNvSpPr/>
          <p:nvPr/>
        </p:nvSpPr>
        <p:spPr>
          <a:xfrm>
            <a:off x="822960" y="451649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Georgia" panose="02040502050405020303" pitchFamily="18" charset="0"/>
              </a:rPr>
              <a:t>4</a:t>
            </a:r>
          </a:p>
        </p:txBody>
      </p:sp>
      <p:sp>
        <p:nvSpPr>
          <p:cNvPr id="18" name="Text 16">
            <a:extLst>
              <a:ext uri="{FF2B5EF4-FFF2-40B4-BE49-F238E27FC236}">
                <a16:creationId xmlns:a16="http://schemas.microsoft.com/office/drawing/2014/main" id="{DACE37C0-9A95-375F-08B0-2CD756591BFD}"/>
              </a:ext>
            </a:extLst>
          </p:cNvPr>
          <p:cNvSpPr/>
          <p:nvPr/>
        </p:nvSpPr>
        <p:spPr>
          <a:xfrm>
            <a:off x="1828799" y="5590910"/>
            <a:ext cx="5631366"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cs typeface="Calibri" pitchFamily="34" charset="-120"/>
              </a:rPr>
              <a:t>MAESTRO in Our Everyday</a:t>
            </a:r>
            <a:endParaRPr lang="en-US" sz="2800" dirty="0"/>
          </a:p>
        </p:txBody>
      </p:sp>
      <p:sp>
        <p:nvSpPr>
          <p:cNvPr id="24" name="Text 21">
            <a:extLst>
              <a:ext uri="{FF2B5EF4-FFF2-40B4-BE49-F238E27FC236}">
                <a16:creationId xmlns:a16="http://schemas.microsoft.com/office/drawing/2014/main" id="{D317E404-7D2E-9736-00BA-D76E2907A7B6}"/>
              </a:ext>
            </a:extLst>
          </p:cNvPr>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5" name="Text 11">
            <a:extLst>
              <a:ext uri="{FF2B5EF4-FFF2-40B4-BE49-F238E27FC236}">
                <a16:creationId xmlns:a16="http://schemas.microsoft.com/office/drawing/2014/main" id="{929A354B-1831-558B-E0F8-8AB0115FE69B}"/>
              </a:ext>
            </a:extLst>
          </p:cNvPr>
          <p:cNvSpPr/>
          <p:nvPr/>
        </p:nvSpPr>
        <p:spPr>
          <a:xfrm>
            <a:off x="822960" y="2678734"/>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2</a:t>
            </a:r>
            <a:endParaRPr lang="en-US" sz="3000" dirty="0"/>
          </a:p>
        </p:txBody>
      </p:sp>
      <p:sp>
        <p:nvSpPr>
          <p:cNvPr id="26" name="Text 11">
            <a:extLst>
              <a:ext uri="{FF2B5EF4-FFF2-40B4-BE49-F238E27FC236}">
                <a16:creationId xmlns:a16="http://schemas.microsoft.com/office/drawing/2014/main" id="{448A5C5E-7850-136D-95E1-BD3C7358268B}"/>
              </a:ext>
            </a:extLst>
          </p:cNvPr>
          <p:cNvSpPr/>
          <p:nvPr/>
        </p:nvSpPr>
        <p:spPr>
          <a:xfrm>
            <a:off x="822960" y="1734183"/>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1</a:t>
            </a:r>
            <a:endParaRPr lang="en-US" sz="3000" dirty="0"/>
          </a:p>
        </p:txBody>
      </p:sp>
      <p:sp>
        <p:nvSpPr>
          <p:cNvPr id="27" name="TextBox 26">
            <a:extLst>
              <a:ext uri="{FF2B5EF4-FFF2-40B4-BE49-F238E27FC236}">
                <a16:creationId xmlns:a16="http://schemas.microsoft.com/office/drawing/2014/main" id="{059FE682-12EB-B393-4DE4-343ED1CFBEF1}"/>
              </a:ext>
            </a:extLst>
          </p:cNvPr>
          <p:cNvSpPr txBox="1"/>
          <p:nvPr/>
        </p:nvSpPr>
        <p:spPr>
          <a:xfrm>
            <a:off x="7549376" y="1965960"/>
            <a:ext cx="4063504" cy="3657599"/>
          </a:xfrm>
          <a:prstGeom prst="rect">
            <a:avLst/>
          </a:prstGeom>
          <a:solidFill>
            <a:srgbClr val="F97066"/>
          </a:solidFill>
          <a:ln/>
        </p:spPr>
        <p:txBody>
          <a:bodyPr/>
          <a:lstStyle/>
          <a:p>
            <a:pPr algn="ctr"/>
            <a:endParaRPr lang="en-US" sz="2000" dirty="0"/>
          </a:p>
          <a:p>
            <a:pPr algn="ctr"/>
            <a:r>
              <a:rPr lang="en-US" sz="2000" dirty="0"/>
              <a:t>This talk is based on Ken Huang’s paper “Agentic AI Threat Modeling Framework: MAESTRO”  published by the Cloud Security Alliance in February 2025.</a:t>
            </a:r>
          </a:p>
          <a:p>
            <a:pPr algn="ctr"/>
            <a:endParaRPr lang="en-US" sz="2000" dirty="0"/>
          </a:p>
          <a:p>
            <a:pPr algn="ctr"/>
            <a:r>
              <a:rPr lang="en-US" sz="2000" dirty="0"/>
              <a:t>The paper is excellent. If you take one thing away today, it’s should be to go read the paper. </a:t>
            </a:r>
          </a:p>
        </p:txBody>
      </p:sp>
      <p:sp>
        <p:nvSpPr>
          <p:cNvPr id="11" name="Text 4">
            <a:extLst>
              <a:ext uri="{FF2B5EF4-FFF2-40B4-BE49-F238E27FC236}">
                <a16:creationId xmlns:a16="http://schemas.microsoft.com/office/drawing/2014/main" id="{449CD12C-29DE-F0B4-4345-600B2D5E9FF8}"/>
              </a:ext>
            </a:extLst>
          </p:cNvPr>
          <p:cNvSpPr/>
          <p:nvPr/>
        </p:nvSpPr>
        <p:spPr>
          <a:xfrm>
            <a:off x="1859280" y="1940561"/>
            <a:ext cx="8534400" cy="457200"/>
          </a:xfrm>
          <a:prstGeom prst="rect">
            <a:avLst/>
          </a:prstGeom>
          <a:noFill/>
          <a:ln/>
        </p:spPr>
        <p:txBody>
          <a:bodyPr wrap="square" lIns="0" tIns="0" rIns="0" bIns="0" rtlCol="0" anchor="ctr"/>
          <a:lstStyle/>
          <a:p>
            <a:pPr marL="0" indent="0">
              <a:buNone/>
            </a:pPr>
            <a:r>
              <a:rPr lang="en-US" sz="2800" b="1" dirty="0" err="1">
                <a:solidFill>
                  <a:srgbClr val="1E293B"/>
                </a:solidFill>
                <a:latin typeface="Calibri" pitchFamily="34" charset="0"/>
                <a:ea typeface="Calibri" pitchFamily="34" charset="-122"/>
                <a:cs typeface="Calibri" pitchFamily="34" charset="-120"/>
              </a:rPr>
              <a:t>EchoLeak</a:t>
            </a:r>
            <a:r>
              <a:rPr lang="en-US" sz="2800" b="1" dirty="0">
                <a:solidFill>
                  <a:srgbClr val="1E293B"/>
                </a:solidFill>
                <a:latin typeface="Calibri" pitchFamily="34" charset="0"/>
                <a:ea typeface="Calibri" pitchFamily="34" charset="-122"/>
                <a:cs typeface="Calibri" pitchFamily="34" charset="-120"/>
              </a:rPr>
              <a:t> Case Study</a:t>
            </a:r>
            <a:endParaRPr lang="en-US" sz="2800" dirty="0"/>
          </a:p>
        </p:txBody>
      </p:sp>
      <p:sp>
        <p:nvSpPr>
          <p:cNvPr id="15" name="Shape 14">
            <a:extLst>
              <a:ext uri="{FF2B5EF4-FFF2-40B4-BE49-F238E27FC236}">
                <a16:creationId xmlns:a16="http://schemas.microsoft.com/office/drawing/2014/main" id="{FAC788A7-31FA-3448-A8B9-039D233C60C3}"/>
              </a:ext>
              <a:ext uri="{C183D7F6-B498-43B3-948B-1728B52AA6E4}">
                <adec:decorative xmlns:adec="http://schemas.microsoft.com/office/drawing/2017/decorative" val="1"/>
              </a:ext>
            </a:extLst>
          </p:cNvPr>
          <p:cNvSpPr/>
          <p:nvPr/>
        </p:nvSpPr>
        <p:spPr>
          <a:xfrm>
            <a:off x="812800" y="5506720"/>
            <a:ext cx="777240" cy="777240"/>
          </a:xfrm>
          <a:prstGeom prst="ellipse">
            <a:avLst/>
          </a:prstGeom>
          <a:solidFill>
            <a:srgbClr val="06B6D4"/>
          </a:solidFill>
          <a:ln/>
        </p:spPr>
        <p:txBody>
          <a:bodyPr/>
          <a:lstStyle/>
          <a:p>
            <a:endParaRPr lang="en-US"/>
          </a:p>
        </p:txBody>
      </p:sp>
      <p:sp>
        <p:nvSpPr>
          <p:cNvPr id="19" name="Text 15">
            <a:extLst>
              <a:ext uri="{FF2B5EF4-FFF2-40B4-BE49-F238E27FC236}">
                <a16:creationId xmlns:a16="http://schemas.microsoft.com/office/drawing/2014/main" id="{E3B7E9A9-AC1F-DD5D-152E-E43BEA6E682A}"/>
              </a:ext>
            </a:extLst>
          </p:cNvPr>
          <p:cNvSpPr/>
          <p:nvPr/>
        </p:nvSpPr>
        <p:spPr>
          <a:xfrm>
            <a:off x="812800" y="543089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Georgia" panose="02040502050405020303" pitchFamily="18" charset="0"/>
              </a:rPr>
              <a:t>5</a:t>
            </a:r>
          </a:p>
        </p:txBody>
      </p:sp>
      <p:sp>
        <p:nvSpPr>
          <p:cNvPr id="28" name="TextBox 27"/>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3 / 43</a:t>
            </a:r>
          </a:p>
        </p:txBody>
      </p:sp>
    </p:spTree>
    <p:extLst>
      <p:ext uri="{BB962C8B-B14F-4D97-AF65-F5344CB8AC3E}">
        <p14:creationId xmlns:p14="http://schemas.microsoft.com/office/powerpoint/2010/main" val="1277832239"/>
      </p:ext>
    </p:extLst>
  </p:cSld>
  <p:clrMapOvr>
    <a:masterClrMapping/>
  </p:clrMapOvr>
  <mc:AlternateContent xmlns:mc="http://schemas.openxmlformats.org/markup-compatibility/2006">
    <mc:Choice xmlns:p14="http://schemas.microsoft.com/office/powerpoint/2010/main" Requires="p14">
      <p:transition spd="slow" p14:dur="2000" advTm="26860"/>
    </mc:Choice>
    <mc:Fallback>
      <p:transition spd="slow" advTm="2686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94763-46E6-A479-83CF-BABD2045C95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8C357A0-A563-7E96-A216-C3BB7A702077}"/>
              </a:ext>
            </a:extLst>
          </p:cNvPr>
          <p:cNvSpPr/>
          <p:nvPr/>
        </p:nvSpPr>
        <p:spPr>
          <a:xfrm>
            <a:off x="640080" y="1188720"/>
            <a:ext cx="10972800" cy="457200"/>
          </a:xfrm>
          <a:prstGeom prst="rect">
            <a:avLst/>
          </a:prstGeom>
          <a:noFill/>
          <a:ln/>
        </p:spPr>
        <p:txBody>
          <a:bodyPr wrap="square" lIns="0" tIns="0" rIns="0" bIns="0" rtlCol="0" anchor="ctr"/>
          <a:lstStyle/>
          <a:p>
            <a:pPr marL="0" indent="0">
              <a:buNone/>
            </a:pPr>
            <a:endParaRPr lang="en-US" dirty="0"/>
          </a:p>
        </p:txBody>
      </p:sp>
      <p:sp>
        <p:nvSpPr>
          <p:cNvPr id="4" name="Shape 2">
            <a:extLst>
              <a:ext uri="{FF2B5EF4-FFF2-40B4-BE49-F238E27FC236}">
                <a16:creationId xmlns:a16="http://schemas.microsoft.com/office/drawing/2014/main" id="{0418B4A5-FD90-CB07-382E-555D54A2DC69}"/>
              </a:ext>
              <a:ext uri="{C183D7F6-B498-43B3-948B-1728B52AA6E4}">
                <adec:decorative xmlns:adec="http://schemas.microsoft.com/office/drawing/2017/decorative" val="1"/>
              </a:ext>
            </a:extLst>
          </p:cNvPr>
          <p:cNvSpPr/>
          <p:nvPr/>
        </p:nvSpPr>
        <p:spPr>
          <a:xfrm>
            <a:off x="822960" y="513080"/>
            <a:ext cx="777240" cy="777240"/>
          </a:xfrm>
          <a:prstGeom prst="ellipse">
            <a:avLst/>
          </a:prstGeom>
          <a:solidFill>
            <a:srgbClr val="06B6D4"/>
          </a:solidFill>
          <a:ln/>
        </p:spPr>
        <p:txBody>
          <a:bodyPr/>
          <a:lstStyle/>
          <a:p>
            <a:endParaRPr lang="en-US" dirty="0"/>
          </a:p>
        </p:txBody>
      </p:sp>
      <p:sp>
        <p:nvSpPr>
          <p:cNvPr id="5" name="Text 3">
            <a:extLst>
              <a:ext uri="{FF2B5EF4-FFF2-40B4-BE49-F238E27FC236}">
                <a16:creationId xmlns:a16="http://schemas.microsoft.com/office/drawing/2014/main" id="{58838B6C-49A5-E527-8DA2-9E9CBEC0E897}"/>
              </a:ext>
            </a:extLst>
          </p:cNvPr>
          <p:cNvSpPr/>
          <p:nvPr/>
        </p:nvSpPr>
        <p:spPr>
          <a:xfrm>
            <a:off x="822960" y="1965960"/>
            <a:ext cx="777240" cy="777240"/>
          </a:xfrm>
          <a:prstGeom prst="rect">
            <a:avLst/>
          </a:prstGeom>
          <a:noFill/>
          <a:ln/>
        </p:spPr>
        <p:txBody>
          <a:bodyPr wrap="square" lIns="0" tIns="0" rIns="0" bIns="0" rtlCol="0" anchor="ctr"/>
          <a:lstStyle/>
          <a:p>
            <a:pPr marL="0" indent="0" algn="ctr">
              <a:buNone/>
            </a:pPr>
            <a:endParaRPr lang="en-US" sz="3000" dirty="0"/>
          </a:p>
        </p:txBody>
      </p:sp>
      <p:sp>
        <p:nvSpPr>
          <p:cNvPr id="7" name="Text 5">
            <a:extLst>
              <a:ext uri="{FF2B5EF4-FFF2-40B4-BE49-F238E27FC236}">
                <a16:creationId xmlns:a16="http://schemas.microsoft.com/office/drawing/2014/main" id="{6DA4D50A-6BA0-8D0F-94A5-5E5869C9F3E2}"/>
              </a:ext>
            </a:extLst>
          </p:cNvPr>
          <p:cNvSpPr/>
          <p:nvPr/>
        </p:nvSpPr>
        <p:spPr>
          <a:xfrm>
            <a:off x="1828800" y="2377440"/>
            <a:ext cx="9601200" cy="365760"/>
          </a:xfrm>
          <a:prstGeom prst="rect">
            <a:avLst/>
          </a:prstGeom>
          <a:noFill/>
          <a:ln/>
        </p:spPr>
        <p:txBody>
          <a:bodyPr wrap="square" lIns="0" tIns="0" rIns="0" bIns="0" rtlCol="0" anchor="t"/>
          <a:lstStyle/>
          <a:p>
            <a:pPr marL="0" indent="0">
              <a:buNone/>
            </a:pPr>
            <a:endParaRPr lang="en-US" sz="1600" dirty="0"/>
          </a:p>
        </p:txBody>
      </p:sp>
      <p:sp>
        <p:nvSpPr>
          <p:cNvPr id="9" name="Text 7">
            <a:extLst>
              <a:ext uri="{FF2B5EF4-FFF2-40B4-BE49-F238E27FC236}">
                <a16:creationId xmlns:a16="http://schemas.microsoft.com/office/drawing/2014/main" id="{6A515FE3-797D-D87E-F2E8-4996D18880A3}"/>
              </a:ext>
            </a:extLst>
          </p:cNvPr>
          <p:cNvSpPr/>
          <p:nvPr/>
        </p:nvSpPr>
        <p:spPr>
          <a:xfrm>
            <a:off x="822960" y="2926080"/>
            <a:ext cx="777240" cy="777240"/>
          </a:xfrm>
          <a:prstGeom prst="rect">
            <a:avLst/>
          </a:prstGeom>
          <a:noFill/>
          <a:ln/>
        </p:spPr>
        <p:txBody>
          <a:bodyPr wrap="square" lIns="0" tIns="0" rIns="0" bIns="0" rtlCol="0" anchor="ctr"/>
          <a:lstStyle/>
          <a:p>
            <a:pPr marL="0" indent="0" algn="ctr">
              <a:buNone/>
            </a:pPr>
            <a:endParaRPr lang="en-US" sz="3000" dirty="0"/>
          </a:p>
        </p:txBody>
      </p:sp>
      <p:sp>
        <p:nvSpPr>
          <p:cNvPr id="17" name="Text 15">
            <a:extLst>
              <a:ext uri="{FF2B5EF4-FFF2-40B4-BE49-F238E27FC236}">
                <a16:creationId xmlns:a16="http://schemas.microsoft.com/office/drawing/2014/main" id="{E2B0EFBB-0939-353C-757A-C8D1E382ACDA}"/>
              </a:ext>
            </a:extLst>
          </p:cNvPr>
          <p:cNvSpPr/>
          <p:nvPr/>
        </p:nvSpPr>
        <p:spPr>
          <a:xfrm>
            <a:off x="822960" y="4516490"/>
            <a:ext cx="777240" cy="777240"/>
          </a:xfrm>
          <a:prstGeom prst="rect">
            <a:avLst/>
          </a:prstGeom>
          <a:noFill/>
          <a:ln/>
        </p:spPr>
        <p:txBody>
          <a:bodyPr wrap="square" lIns="0" tIns="0" rIns="0" bIns="0" rtlCol="0" anchor="ctr"/>
          <a:lstStyle/>
          <a:p>
            <a:pPr marL="0" indent="0" algn="ctr">
              <a:buNone/>
            </a:pPr>
            <a:endParaRPr lang="en-US" sz="3000" b="1" dirty="0">
              <a:solidFill>
                <a:schemeClr val="bg1"/>
              </a:solidFill>
              <a:latin typeface="Georgia" panose="02040502050405020303" pitchFamily="18" charset="0"/>
            </a:endParaRPr>
          </a:p>
        </p:txBody>
      </p:sp>
      <p:sp>
        <p:nvSpPr>
          <p:cNvPr id="24" name="Text 21">
            <a:extLst>
              <a:ext uri="{FF2B5EF4-FFF2-40B4-BE49-F238E27FC236}">
                <a16:creationId xmlns:a16="http://schemas.microsoft.com/office/drawing/2014/main" id="{53A36EAE-C7B8-157F-433B-1DD96500B511}"/>
              </a:ext>
            </a:extLst>
          </p:cNvPr>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5" name="Text 11">
            <a:extLst>
              <a:ext uri="{FF2B5EF4-FFF2-40B4-BE49-F238E27FC236}">
                <a16:creationId xmlns:a16="http://schemas.microsoft.com/office/drawing/2014/main" id="{4E470B80-2AC8-6529-BAC6-40B2D3C7D9AE}"/>
              </a:ext>
            </a:extLst>
          </p:cNvPr>
          <p:cNvSpPr/>
          <p:nvPr/>
        </p:nvSpPr>
        <p:spPr>
          <a:xfrm>
            <a:off x="822960" y="2678734"/>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2</a:t>
            </a:r>
            <a:endParaRPr lang="en-US" sz="3000" dirty="0"/>
          </a:p>
        </p:txBody>
      </p:sp>
      <p:sp>
        <p:nvSpPr>
          <p:cNvPr id="26" name="Text 11">
            <a:extLst>
              <a:ext uri="{FF2B5EF4-FFF2-40B4-BE49-F238E27FC236}">
                <a16:creationId xmlns:a16="http://schemas.microsoft.com/office/drawing/2014/main" id="{477ABEEC-BE1D-C15C-4BB0-5F3299FB9A96}"/>
              </a:ext>
            </a:extLst>
          </p:cNvPr>
          <p:cNvSpPr/>
          <p:nvPr/>
        </p:nvSpPr>
        <p:spPr>
          <a:xfrm>
            <a:off x="822960" y="464183"/>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1</a:t>
            </a:r>
            <a:endParaRPr lang="en-US" sz="3000" dirty="0"/>
          </a:p>
        </p:txBody>
      </p:sp>
      <p:sp>
        <p:nvSpPr>
          <p:cNvPr id="11" name="Text 4">
            <a:extLst>
              <a:ext uri="{FF2B5EF4-FFF2-40B4-BE49-F238E27FC236}">
                <a16:creationId xmlns:a16="http://schemas.microsoft.com/office/drawing/2014/main" id="{975D55A5-BE16-30A4-5CB2-5D93748087A0}"/>
              </a:ext>
            </a:extLst>
          </p:cNvPr>
          <p:cNvSpPr/>
          <p:nvPr/>
        </p:nvSpPr>
        <p:spPr>
          <a:xfrm>
            <a:off x="1859280" y="630707"/>
            <a:ext cx="8534400" cy="457200"/>
          </a:xfrm>
          <a:prstGeom prst="rect">
            <a:avLst/>
          </a:prstGeom>
          <a:noFill/>
          <a:ln/>
        </p:spPr>
        <p:txBody>
          <a:bodyPr wrap="square" lIns="0" tIns="0" rIns="0" bIns="0" rtlCol="0" anchor="ctr"/>
          <a:lstStyle/>
          <a:p>
            <a:pPr marL="0" indent="0">
              <a:buNone/>
            </a:pPr>
            <a:r>
              <a:rPr lang="en-US" sz="3600" b="1" dirty="0" err="1">
                <a:solidFill>
                  <a:srgbClr val="1E293B"/>
                </a:solidFill>
                <a:latin typeface="Calibri" pitchFamily="34" charset="0"/>
                <a:ea typeface="Calibri" pitchFamily="34" charset="-122"/>
                <a:cs typeface="Calibri" pitchFamily="34" charset="-120"/>
              </a:rPr>
              <a:t>EchoLeak</a:t>
            </a:r>
            <a:r>
              <a:rPr lang="en-US" sz="3600" b="1" dirty="0">
                <a:solidFill>
                  <a:srgbClr val="1E293B"/>
                </a:solidFill>
                <a:latin typeface="Calibri" pitchFamily="34" charset="0"/>
                <a:ea typeface="Calibri" pitchFamily="34" charset="-122"/>
                <a:cs typeface="Calibri" pitchFamily="34" charset="-120"/>
              </a:rPr>
              <a:t> Case Study</a:t>
            </a:r>
            <a:endParaRPr lang="en-US" sz="3600" dirty="0"/>
          </a:p>
        </p:txBody>
      </p:sp>
      <p:sp>
        <p:nvSpPr>
          <p:cNvPr id="19" name="Text 15">
            <a:extLst>
              <a:ext uri="{FF2B5EF4-FFF2-40B4-BE49-F238E27FC236}">
                <a16:creationId xmlns:a16="http://schemas.microsoft.com/office/drawing/2014/main" id="{DBB4D4F9-670D-AC0C-D2F4-9790C90C7CD4}"/>
              </a:ext>
            </a:extLst>
          </p:cNvPr>
          <p:cNvSpPr/>
          <p:nvPr/>
        </p:nvSpPr>
        <p:spPr>
          <a:xfrm>
            <a:off x="812800" y="543089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Georgia" panose="02040502050405020303" pitchFamily="18" charset="0"/>
              </a:rPr>
              <a:t>5</a:t>
            </a:r>
          </a:p>
        </p:txBody>
      </p:sp>
      <p:pic>
        <p:nvPicPr>
          <p:cNvPr id="21" name="Picture 20" descr="Why Copilot could be a bigger security threat than ChatGPT">
            <a:extLst>
              <a:ext uri="{FF2B5EF4-FFF2-40B4-BE49-F238E27FC236}">
                <a16:creationId xmlns:a16="http://schemas.microsoft.com/office/drawing/2014/main" id="{C7818530-9636-61DB-54D6-F22642CDE340}"/>
              </a:ext>
            </a:extLst>
          </p:cNvPr>
          <p:cNvPicPr>
            <a:picLocks noChangeAspect="1"/>
          </p:cNvPicPr>
          <p:nvPr/>
        </p:nvPicPr>
        <p:blipFill>
          <a:blip r:embed="rId3"/>
          <a:stretch>
            <a:fillRect/>
          </a:stretch>
        </p:blipFill>
        <p:spPr>
          <a:xfrm>
            <a:off x="2085340" y="1449395"/>
            <a:ext cx="8021320" cy="4507849"/>
          </a:xfrm>
          <a:prstGeom prst="rect">
            <a:avLst/>
          </a:prstGeom>
        </p:spPr>
      </p:pic>
      <p:sp>
        <p:nvSpPr>
          <p:cNvPr id="27" name="TextBox 26"/>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4 / 43</a:t>
            </a:r>
          </a:p>
        </p:txBody>
      </p:sp>
    </p:spTree>
    <p:extLst>
      <p:ext uri="{BB962C8B-B14F-4D97-AF65-F5344CB8AC3E}">
        <p14:creationId xmlns:p14="http://schemas.microsoft.com/office/powerpoint/2010/main" val="12259752"/>
      </p:ext>
    </p:extLst>
  </p:cSld>
  <p:clrMapOvr>
    <a:masterClrMapping/>
  </p:clrMapOvr>
  <mc:AlternateContent xmlns:mc="http://schemas.openxmlformats.org/markup-compatibility/2006">
    <mc:Choice xmlns:p14="http://schemas.microsoft.com/office/powerpoint/2010/main" Requires="p14">
      <p:transition spd="slow" p14:dur="2000" advTm="10412"/>
    </mc:Choice>
    <mc:Fallback>
      <p:transition spd="slow" advTm="1041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4" name="Text 2"/>
          <p:cNvSpPr/>
          <p:nvPr/>
        </p:nvSpPr>
        <p:spPr>
          <a:xfrm>
            <a:off x="731520" y="263393"/>
            <a:ext cx="11155680" cy="934471"/>
          </a:xfrm>
          <a:prstGeom prst="rect">
            <a:avLst/>
          </a:prstGeom>
          <a:noFill/>
          <a:ln/>
        </p:spPr>
        <p:txBody>
          <a:bodyPr wrap="square" lIns="0" tIns="0" rIns="0" bIns="0" rtlCol="0" anchor="ctr"/>
          <a:lstStyle/>
          <a:p>
            <a:pPr marL="0" indent="0">
              <a:buNone/>
            </a:pPr>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 </a:t>
            </a:r>
          </a:p>
          <a:p>
            <a:r>
              <a:rPr lang="en-US" sz="3000" b="1" dirty="0">
                <a:solidFill>
                  <a:srgbClr val="1A1A2E"/>
                </a:solidFill>
                <a:latin typeface="Georgia" pitchFamily="34" charset="0"/>
              </a:rPr>
              <a:t>Prompt Injection Meets AI Exfiltration</a:t>
            </a:r>
          </a:p>
        </p:txBody>
      </p:sp>
      <p:sp>
        <p:nvSpPr>
          <p:cNvPr id="5" name="Text 3"/>
          <p:cNvSpPr/>
          <p:nvPr/>
        </p:nvSpPr>
        <p:spPr>
          <a:xfrm>
            <a:off x="731520" y="1275080"/>
            <a:ext cx="10698480" cy="502920"/>
          </a:xfrm>
          <a:prstGeom prst="rect">
            <a:avLst/>
          </a:prstGeom>
          <a:noFill/>
          <a:ln/>
        </p:spPr>
        <p:txBody>
          <a:bodyPr wrap="square" lIns="0" tIns="0" rIns="0" bIns="0" rtlCol="0" anchor="ctr"/>
          <a:lstStyle/>
          <a:p>
            <a:pPr marL="0" indent="0">
              <a:buNone/>
            </a:pPr>
            <a:r>
              <a:rPr lang="en-US" i="1" dirty="0">
                <a:solidFill>
                  <a:srgbClr val="5C5C6E"/>
                </a:solidFill>
                <a:latin typeface="Calibri" pitchFamily="34" charset="0"/>
                <a:ea typeface="Calibri" pitchFamily="34" charset="-122"/>
                <a:cs typeface="Calibri" pitchFamily="34" charset="-120"/>
              </a:rPr>
              <a:t>Microsoft 365 Copilot was tricked into leaking corporate data by a single email the user never had to open.</a:t>
            </a:r>
            <a:endParaRPr lang="en-US"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Text 5"/>
          <p:cNvSpPr/>
          <p:nvPr/>
        </p:nvSpPr>
        <p:spPr>
          <a:xfrm>
            <a:off x="731520" y="2149955"/>
            <a:ext cx="54864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THE STORY</a:t>
            </a:r>
            <a:endParaRPr lang="en-US" sz="1100" dirty="0"/>
          </a:p>
        </p:txBody>
      </p:sp>
      <p:sp>
        <p:nvSpPr>
          <p:cNvPr id="8" name="Text 6"/>
          <p:cNvSpPr/>
          <p:nvPr/>
        </p:nvSpPr>
        <p:spPr>
          <a:xfrm>
            <a:off x="708660" y="2420485"/>
            <a:ext cx="6583680" cy="3218688"/>
          </a:xfrm>
          <a:prstGeom prst="rect">
            <a:avLst/>
          </a:prstGeom>
          <a:noFill/>
          <a:ln/>
        </p:spPr>
        <p:txBody>
          <a:bodyPr wrap="square" lIns="0" tIns="0" rIns="0" bIns="0" rtlCol="0" anchor="ctr"/>
          <a:lstStyle/>
          <a:p>
            <a:pPr marL="0" indent="0">
              <a:spcAft>
                <a:spcPts val="400"/>
              </a:spcAft>
              <a:buNone/>
            </a:pPr>
            <a:r>
              <a:rPr lang="en-US" sz="1400" dirty="0">
                <a:solidFill>
                  <a:srgbClr val="1A1A2E"/>
                </a:solidFill>
                <a:latin typeface="Calibri" pitchFamily="34" charset="0"/>
                <a:ea typeface="Calibri" pitchFamily="34" charset="-122"/>
                <a:cs typeface="Calibri" pitchFamily="34" charset="-120"/>
              </a:rPr>
              <a:t>Microsoft 365 Copilot lives inside Outlook, SharePoint, Word, Power Point and Teams. When you ask it a question, it quietly reads through your emails and files to build an answer — with all of </a:t>
            </a:r>
            <a:r>
              <a:rPr lang="en-US" sz="1400" b="1" dirty="0">
                <a:solidFill>
                  <a:srgbClr val="1A1A2E"/>
                </a:solidFill>
                <a:latin typeface="Calibri" pitchFamily="34" charset="0"/>
                <a:ea typeface="Calibri" pitchFamily="34" charset="-122"/>
                <a:cs typeface="Calibri" pitchFamily="34" charset="-120"/>
              </a:rPr>
              <a:t>your</a:t>
            </a:r>
            <a:r>
              <a:rPr lang="en-US" sz="1400" dirty="0">
                <a:solidFill>
                  <a:srgbClr val="1A1A2E"/>
                </a:solidFill>
                <a:latin typeface="Calibri" pitchFamily="34" charset="0"/>
                <a:ea typeface="Calibri" pitchFamily="34" charset="-122"/>
                <a:cs typeface="Calibri" pitchFamily="34" charset="-120"/>
              </a:rPr>
              <a:t> access privileges.</a:t>
            </a:r>
            <a:endParaRPr lang="en-US" sz="1400" dirty="0"/>
          </a:p>
          <a:p>
            <a:pPr marL="0" indent="0">
              <a:spcAft>
                <a:spcPts val="400"/>
              </a:spcAft>
              <a:buNone/>
            </a:pPr>
            <a:endParaRPr lang="en-US" sz="1400" dirty="0"/>
          </a:p>
          <a:p>
            <a:pPr marL="0" indent="0">
              <a:spcAft>
                <a:spcPts val="400"/>
              </a:spcAft>
              <a:buNone/>
            </a:pPr>
            <a:r>
              <a:rPr lang="en-US" sz="1400" b="1" dirty="0">
                <a:solidFill>
                  <a:srgbClr val="1A1A2E"/>
                </a:solidFill>
                <a:latin typeface="Calibri" pitchFamily="34" charset="0"/>
                <a:ea typeface="Calibri" pitchFamily="34" charset="-122"/>
                <a:cs typeface="Calibri" pitchFamily="34" charset="-120"/>
              </a:rPr>
              <a:t>Researchers at Aim Labs found that an attacker could exploit that helpfulness.</a:t>
            </a:r>
            <a:endParaRPr lang="en-US" sz="1400" dirty="0"/>
          </a:p>
          <a:p>
            <a:pPr marL="0" indent="0">
              <a:spcAft>
                <a:spcPts val="400"/>
              </a:spcAft>
              <a:buNone/>
            </a:pPr>
            <a:endParaRPr lang="en-US" sz="1400" dirty="0"/>
          </a:p>
          <a:p>
            <a:pPr marL="0" indent="0">
              <a:spcAft>
                <a:spcPts val="400"/>
              </a:spcAft>
              <a:buNone/>
            </a:pPr>
            <a:r>
              <a:rPr lang="en-US" sz="1400" dirty="0">
                <a:solidFill>
                  <a:srgbClr val="1A1A2E"/>
                </a:solidFill>
                <a:latin typeface="Calibri" pitchFamily="34" charset="0"/>
                <a:ea typeface="Calibri" pitchFamily="34" charset="-122"/>
                <a:cs typeface="Calibri" pitchFamily="34" charset="-120"/>
              </a:rPr>
              <a:t>Send the victim a normal-looking email containing hidden instructions for the AI. The user never clicks anything. But the next time they ask Copilot a routine work question, Copilot pulls that email into context — along with sensitive internal documents — and dutifully follows the hidden orders, smuggling the stolen data out through a disguised image link.</a:t>
            </a:r>
            <a:endParaRPr lang="en-US" sz="1400" dirty="0"/>
          </a:p>
          <a:p>
            <a:pPr marL="0" indent="0">
              <a:spcAft>
                <a:spcPts val="400"/>
              </a:spcAft>
              <a:buNone/>
            </a:pPr>
            <a:endParaRPr lang="en-US" sz="1400" dirty="0"/>
          </a:p>
          <a:p>
            <a:pPr marL="0" indent="0">
              <a:spcAft>
                <a:spcPts val="400"/>
              </a:spcAft>
              <a:buNone/>
            </a:pPr>
            <a:r>
              <a:rPr lang="en-US" sz="1400" i="1" dirty="0">
                <a:solidFill>
                  <a:srgbClr val="8B1A2B"/>
                </a:solidFill>
                <a:latin typeface="Calibri" pitchFamily="34" charset="0"/>
                <a:ea typeface="Calibri" pitchFamily="34" charset="-122"/>
                <a:cs typeface="Calibri" pitchFamily="34" charset="-120"/>
              </a:rPr>
              <a:t>Microsoft rated it critical (CVSS 9.3) and patched it before any customer was known to be hit — but it was exploitable for months.</a:t>
            </a:r>
            <a:endParaRPr lang="en-US" sz="1400" dirty="0"/>
          </a:p>
        </p:txBody>
      </p:sp>
      <p:sp>
        <p:nvSpPr>
          <p:cNvPr id="9" name="Text 7"/>
          <p:cNvSpPr/>
          <p:nvPr/>
        </p:nvSpPr>
        <p:spPr>
          <a:xfrm>
            <a:off x="7680960" y="2103120"/>
            <a:ext cx="402336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THE THREAT</a:t>
            </a:r>
            <a:endParaRPr lang="en-US" sz="1100" dirty="0"/>
          </a:p>
        </p:txBody>
      </p:sp>
      <p:sp>
        <p:nvSpPr>
          <p:cNvPr id="10" name="Shape 8"/>
          <p:cNvSpPr/>
          <p:nvPr/>
        </p:nvSpPr>
        <p:spPr>
          <a:xfrm>
            <a:off x="7680960" y="2423160"/>
            <a:ext cx="4023360" cy="7772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pic>
        <p:nvPicPr>
          <p:cNvPr id="11" name="Image 0" descr="preencoded.png"/>
          <p:cNvPicPr>
            <a:picLocks noChangeAspect="1"/>
          </p:cNvPicPr>
          <p:nvPr/>
        </p:nvPicPr>
        <p:blipFill>
          <a:blip r:embed="rId3"/>
          <a:stretch>
            <a:fillRect/>
          </a:stretch>
        </p:blipFill>
        <p:spPr>
          <a:xfrm>
            <a:off x="7909560" y="2624328"/>
            <a:ext cx="365760" cy="365760"/>
          </a:xfrm>
          <a:prstGeom prst="rect">
            <a:avLst/>
          </a:prstGeom>
        </p:spPr>
      </p:pic>
      <p:sp>
        <p:nvSpPr>
          <p:cNvPr id="12" name="Text 9"/>
          <p:cNvSpPr/>
          <p:nvPr/>
        </p:nvSpPr>
        <p:spPr>
          <a:xfrm>
            <a:off x="8458200" y="2468880"/>
            <a:ext cx="3108960" cy="457200"/>
          </a:xfrm>
          <a:prstGeom prst="rect">
            <a:avLst/>
          </a:prstGeom>
          <a:noFill/>
          <a:ln/>
        </p:spPr>
        <p:txBody>
          <a:bodyPr wrap="square" lIns="0" tIns="0" rIns="0" bIns="0" rtlCol="0" anchor="ctr"/>
          <a:lstStyle/>
          <a:p>
            <a:pPr marL="0" indent="0">
              <a:buNone/>
            </a:pPr>
            <a:r>
              <a:rPr lang="en-US" sz="2600" b="1" dirty="0">
                <a:solidFill>
                  <a:srgbClr val="1A1A2E"/>
                </a:solidFill>
                <a:latin typeface="Georgia" pitchFamily="34" charset="0"/>
                <a:ea typeface="Georgia" pitchFamily="34" charset="-122"/>
                <a:cs typeface="Georgia" pitchFamily="34" charset="-120"/>
              </a:rPr>
              <a:t>0</a:t>
            </a:r>
            <a:endParaRPr lang="en-US" sz="2600" dirty="0"/>
          </a:p>
        </p:txBody>
      </p:sp>
      <p:sp>
        <p:nvSpPr>
          <p:cNvPr id="13" name="Text 10"/>
          <p:cNvSpPr/>
          <p:nvPr/>
        </p:nvSpPr>
        <p:spPr>
          <a:xfrm>
            <a:off x="8458200" y="2862072"/>
            <a:ext cx="3108960" cy="292608"/>
          </a:xfrm>
          <a:prstGeom prst="rect">
            <a:avLst/>
          </a:prstGeom>
          <a:noFill/>
          <a:ln/>
        </p:spPr>
        <p:txBody>
          <a:bodyPr wrap="square" lIns="0" tIns="0" rIns="0" bIns="0" rtlCol="0" anchor="t"/>
          <a:lstStyle/>
          <a:p>
            <a:pPr marL="0" indent="0">
              <a:buNone/>
            </a:pPr>
            <a:r>
              <a:rPr lang="en-US" sz="1100" dirty="0">
                <a:solidFill>
                  <a:srgbClr val="5C5C6E"/>
                </a:solidFill>
                <a:latin typeface="Calibri" pitchFamily="34" charset="0"/>
                <a:ea typeface="Calibri" pitchFamily="34" charset="-122"/>
                <a:cs typeface="Calibri" pitchFamily="34" charset="-120"/>
              </a:rPr>
              <a:t>Clicks required from the user</a:t>
            </a:r>
            <a:endParaRPr lang="en-US" sz="1100" dirty="0"/>
          </a:p>
        </p:txBody>
      </p:sp>
      <p:sp>
        <p:nvSpPr>
          <p:cNvPr id="14" name="Shape 11"/>
          <p:cNvSpPr/>
          <p:nvPr/>
        </p:nvSpPr>
        <p:spPr>
          <a:xfrm>
            <a:off x="7680960" y="3328416"/>
            <a:ext cx="4023360" cy="7772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pic>
        <p:nvPicPr>
          <p:cNvPr id="15" name="Image 1" descr="preencoded.png"/>
          <p:cNvPicPr>
            <a:picLocks noChangeAspect="1"/>
          </p:cNvPicPr>
          <p:nvPr/>
        </p:nvPicPr>
        <p:blipFill>
          <a:blip r:embed="rId4"/>
          <a:stretch>
            <a:fillRect/>
          </a:stretch>
        </p:blipFill>
        <p:spPr>
          <a:xfrm>
            <a:off x="7909560" y="3529584"/>
            <a:ext cx="365760" cy="365760"/>
          </a:xfrm>
          <a:prstGeom prst="rect">
            <a:avLst/>
          </a:prstGeom>
        </p:spPr>
      </p:pic>
      <p:sp>
        <p:nvSpPr>
          <p:cNvPr id="16" name="Text 12"/>
          <p:cNvSpPr/>
          <p:nvPr/>
        </p:nvSpPr>
        <p:spPr>
          <a:xfrm>
            <a:off x="8458200" y="3374136"/>
            <a:ext cx="3108960" cy="457200"/>
          </a:xfrm>
          <a:prstGeom prst="rect">
            <a:avLst/>
          </a:prstGeom>
          <a:noFill/>
          <a:ln/>
        </p:spPr>
        <p:txBody>
          <a:bodyPr wrap="square" lIns="0" tIns="0" rIns="0" bIns="0" rtlCol="0" anchor="ctr"/>
          <a:lstStyle/>
          <a:p>
            <a:pPr marL="0" indent="0">
              <a:buNone/>
            </a:pPr>
            <a:r>
              <a:rPr lang="en-US" sz="1600" b="1" dirty="0">
                <a:solidFill>
                  <a:srgbClr val="1A1A2E"/>
                </a:solidFill>
                <a:latin typeface="Georgia" pitchFamily="34" charset="0"/>
                <a:ea typeface="Georgia" pitchFamily="34" charset="-122"/>
                <a:cs typeface="Georgia" pitchFamily="34" charset="-120"/>
              </a:rPr>
              <a:t>M365 Copilot</a:t>
            </a:r>
            <a:endParaRPr lang="en-US" sz="1600" dirty="0"/>
          </a:p>
        </p:txBody>
      </p:sp>
      <p:sp>
        <p:nvSpPr>
          <p:cNvPr id="17" name="Text 13"/>
          <p:cNvSpPr/>
          <p:nvPr/>
        </p:nvSpPr>
        <p:spPr>
          <a:xfrm>
            <a:off x="8458200" y="3767328"/>
            <a:ext cx="3108960" cy="292608"/>
          </a:xfrm>
          <a:prstGeom prst="rect">
            <a:avLst/>
          </a:prstGeom>
          <a:noFill/>
          <a:ln/>
        </p:spPr>
        <p:txBody>
          <a:bodyPr wrap="square" lIns="0" tIns="0" rIns="0" bIns="0" rtlCol="0" anchor="t"/>
          <a:lstStyle/>
          <a:p>
            <a:pPr marL="0" indent="0">
              <a:buNone/>
            </a:pPr>
            <a:r>
              <a:rPr lang="en-US" sz="1100" dirty="0">
                <a:solidFill>
                  <a:srgbClr val="5C5C6E"/>
                </a:solidFill>
                <a:latin typeface="Calibri" pitchFamily="34" charset="0"/>
                <a:ea typeface="Calibri" pitchFamily="34" charset="-122"/>
                <a:cs typeface="Calibri" pitchFamily="34" charset="-120"/>
              </a:rPr>
              <a:t>AI agent compromised</a:t>
            </a:r>
            <a:endParaRPr lang="en-US" sz="1100" dirty="0"/>
          </a:p>
        </p:txBody>
      </p:sp>
      <p:sp>
        <p:nvSpPr>
          <p:cNvPr id="18" name="Shape 14"/>
          <p:cNvSpPr/>
          <p:nvPr/>
        </p:nvSpPr>
        <p:spPr>
          <a:xfrm>
            <a:off x="7680960" y="4233672"/>
            <a:ext cx="4023360" cy="7772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pic>
        <p:nvPicPr>
          <p:cNvPr id="19" name="Image 2" descr="preencoded.png"/>
          <p:cNvPicPr>
            <a:picLocks noChangeAspect="1"/>
          </p:cNvPicPr>
          <p:nvPr/>
        </p:nvPicPr>
        <p:blipFill>
          <a:blip r:embed="rId5"/>
          <a:stretch>
            <a:fillRect/>
          </a:stretch>
        </p:blipFill>
        <p:spPr>
          <a:xfrm>
            <a:off x="7909560" y="4434840"/>
            <a:ext cx="365760" cy="365760"/>
          </a:xfrm>
          <a:prstGeom prst="rect">
            <a:avLst/>
          </a:prstGeom>
        </p:spPr>
      </p:pic>
      <p:sp>
        <p:nvSpPr>
          <p:cNvPr id="20" name="Text 15"/>
          <p:cNvSpPr/>
          <p:nvPr/>
        </p:nvSpPr>
        <p:spPr>
          <a:xfrm>
            <a:off x="8458200" y="4279392"/>
            <a:ext cx="3108960" cy="457200"/>
          </a:xfrm>
          <a:prstGeom prst="rect">
            <a:avLst/>
          </a:prstGeom>
          <a:noFill/>
          <a:ln/>
        </p:spPr>
        <p:txBody>
          <a:bodyPr wrap="square" lIns="0" tIns="0" rIns="0" bIns="0" rtlCol="0" anchor="ctr"/>
          <a:lstStyle/>
          <a:p>
            <a:pPr marL="0" indent="0">
              <a:buNone/>
            </a:pPr>
            <a:r>
              <a:rPr lang="en-US" sz="2000" b="1" dirty="0">
                <a:solidFill>
                  <a:srgbClr val="1A1A2E"/>
                </a:solidFill>
                <a:latin typeface="Georgia" pitchFamily="34" charset="0"/>
                <a:ea typeface="Georgia" pitchFamily="34" charset="-122"/>
                <a:cs typeface="Georgia" pitchFamily="34" charset="-120"/>
              </a:rPr>
              <a:t>Image URL</a:t>
            </a:r>
            <a:endParaRPr lang="en-US" sz="2000" dirty="0"/>
          </a:p>
        </p:txBody>
      </p:sp>
      <p:sp>
        <p:nvSpPr>
          <p:cNvPr id="21" name="Text 16"/>
          <p:cNvSpPr/>
          <p:nvPr/>
        </p:nvSpPr>
        <p:spPr>
          <a:xfrm>
            <a:off x="8458200" y="4672584"/>
            <a:ext cx="3108960" cy="292608"/>
          </a:xfrm>
          <a:prstGeom prst="rect">
            <a:avLst/>
          </a:prstGeom>
          <a:noFill/>
          <a:ln/>
        </p:spPr>
        <p:txBody>
          <a:bodyPr wrap="square" lIns="0" tIns="0" rIns="0" bIns="0" rtlCol="0" anchor="t"/>
          <a:lstStyle/>
          <a:p>
            <a:pPr marL="0" indent="0">
              <a:buNone/>
            </a:pPr>
            <a:r>
              <a:rPr lang="en-US" sz="1100" dirty="0">
                <a:solidFill>
                  <a:srgbClr val="5C5C6E"/>
                </a:solidFill>
                <a:latin typeface="Calibri" pitchFamily="34" charset="0"/>
                <a:ea typeface="Calibri" pitchFamily="34" charset="-122"/>
                <a:cs typeface="Calibri" pitchFamily="34" charset="-120"/>
              </a:rPr>
              <a:t>Exfiltration channel</a:t>
            </a:r>
            <a:endParaRPr lang="en-US" sz="1100" dirty="0"/>
          </a:p>
        </p:txBody>
      </p:sp>
      <p:sp>
        <p:nvSpPr>
          <p:cNvPr id="22" name="Shape 17"/>
          <p:cNvSpPr/>
          <p:nvPr/>
        </p:nvSpPr>
        <p:spPr>
          <a:xfrm>
            <a:off x="7680960" y="5138928"/>
            <a:ext cx="4023360" cy="7772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pic>
        <p:nvPicPr>
          <p:cNvPr id="23" name="Image 3" descr="preencoded.png"/>
          <p:cNvPicPr>
            <a:picLocks noChangeAspect="1"/>
          </p:cNvPicPr>
          <p:nvPr/>
        </p:nvPicPr>
        <p:blipFill>
          <a:blip r:embed="rId6"/>
          <a:stretch>
            <a:fillRect/>
          </a:stretch>
        </p:blipFill>
        <p:spPr>
          <a:xfrm>
            <a:off x="7909560" y="5340096"/>
            <a:ext cx="365760" cy="365760"/>
          </a:xfrm>
          <a:prstGeom prst="rect">
            <a:avLst/>
          </a:prstGeom>
        </p:spPr>
      </p:pic>
      <p:sp>
        <p:nvSpPr>
          <p:cNvPr id="24" name="Text 18"/>
          <p:cNvSpPr/>
          <p:nvPr/>
        </p:nvSpPr>
        <p:spPr>
          <a:xfrm>
            <a:off x="8458200" y="5184648"/>
            <a:ext cx="3108960" cy="457200"/>
          </a:xfrm>
          <a:prstGeom prst="rect">
            <a:avLst/>
          </a:prstGeom>
          <a:noFill/>
          <a:ln/>
        </p:spPr>
        <p:txBody>
          <a:bodyPr wrap="square" lIns="0" tIns="0" rIns="0" bIns="0" rtlCol="0" anchor="ctr"/>
          <a:lstStyle/>
          <a:p>
            <a:pPr marL="0" indent="0">
              <a:buNone/>
            </a:pPr>
            <a:r>
              <a:rPr lang="en-US" sz="1600" b="1" dirty="0">
                <a:solidFill>
                  <a:srgbClr val="1A1A2E"/>
                </a:solidFill>
                <a:latin typeface="Georgia" pitchFamily="34" charset="0"/>
                <a:ea typeface="Georgia" pitchFamily="34" charset="-122"/>
                <a:cs typeface="Georgia" pitchFamily="34" charset="-120"/>
              </a:rPr>
              <a:t>9.3 / Critical</a:t>
            </a:r>
            <a:endParaRPr lang="en-US" sz="1600" dirty="0"/>
          </a:p>
        </p:txBody>
      </p:sp>
      <p:sp>
        <p:nvSpPr>
          <p:cNvPr id="25" name="Text 19"/>
          <p:cNvSpPr/>
          <p:nvPr/>
        </p:nvSpPr>
        <p:spPr>
          <a:xfrm>
            <a:off x="8458200" y="5577840"/>
            <a:ext cx="3108960" cy="292608"/>
          </a:xfrm>
          <a:prstGeom prst="rect">
            <a:avLst/>
          </a:prstGeom>
          <a:noFill/>
          <a:ln/>
        </p:spPr>
        <p:txBody>
          <a:bodyPr wrap="square" lIns="0" tIns="0" rIns="0" bIns="0" rtlCol="0" anchor="t"/>
          <a:lstStyle/>
          <a:p>
            <a:pPr marL="0" indent="0">
              <a:buNone/>
            </a:pPr>
            <a:r>
              <a:rPr lang="en-US" sz="1100" dirty="0">
                <a:solidFill>
                  <a:srgbClr val="5C5C6E"/>
                </a:solidFill>
                <a:latin typeface="Calibri" pitchFamily="34" charset="0"/>
                <a:ea typeface="Calibri" pitchFamily="34" charset="-122"/>
                <a:cs typeface="Calibri" pitchFamily="34" charset="-120"/>
              </a:rPr>
              <a:t>Microsoft severity rating</a:t>
            </a:r>
            <a:endParaRPr lang="en-US" sz="1100" dirty="0"/>
          </a:p>
        </p:txBody>
      </p:sp>
      <p:sp>
        <p:nvSpPr>
          <p:cNvPr id="26" name="Shape 20"/>
          <p:cNvSpPr/>
          <p:nvPr/>
        </p:nvSpPr>
        <p:spPr>
          <a:xfrm>
            <a:off x="731520" y="6223000"/>
            <a:ext cx="10698480" cy="457200"/>
          </a:xfrm>
          <a:prstGeom prst="rect">
            <a:avLst/>
          </a:prstGeom>
          <a:solidFill>
            <a:srgbClr val="1A1A2E"/>
          </a:solidFill>
          <a:ln w="12700">
            <a:solidFill>
              <a:srgbClr val="1A1A2E"/>
            </a:solidFill>
            <a:prstDash val="solid"/>
          </a:ln>
        </p:spPr>
        <p:txBody>
          <a:bodyPr/>
          <a:lstStyle/>
          <a:p>
            <a:endParaRPr lang="en-US"/>
          </a:p>
        </p:txBody>
      </p:sp>
      <p:sp>
        <p:nvSpPr>
          <p:cNvPr id="27" name="Text 21"/>
          <p:cNvSpPr/>
          <p:nvPr/>
        </p:nvSpPr>
        <p:spPr>
          <a:xfrm>
            <a:off x="914400" y="6212840"/>
            <a:ext cx="103327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lesson:  </a:t>
            </a:r>
            <a:r>
              <a:rPr lang="en-US" sz="1400" dirty="0">
                <a:solidFill>
                  <a:srgbClr val="FFFFFF"/>
                </a:solidFill>
                <a:latin typeface="Calibri" pitchFamily="34" charset="0"/>
                <a:ea typeface="Calibri" pitchFamily="34" charset="-122"/>
                <a:cs typeface="Calibri" pitchFamily="34" charset="-120"/>
              </a:rPr>
              <a:t>When an AI reads your inbox, every email becomes a potential instruction. The target isn't the user anymore — it's the agent.</a:t>
            </a:r>
            <a:endParaRPr lang="en-US" sz="1400" dirty="0"/>
          </a:p>
        </p:txBody>
      </p:sp>
      <p:sp>
        <p:nvSpPr>
          <p:cNvPr id="28" name="Text 22"/>
          <p:cNvSpPr/>
          <p:nvPr/>
        </p:nvSpPr>
        <p:spPr>
          <a:xfrm>
            <a:off x="708660" y="5639173"/>
            <a:ext cx="10751820" cy="533027"/>
          </a:xfrm>
          <a:prstGeom prst="rect">
            <a:avLst/>
          </a:prstGeom>
          <a:noFill/>
          <a:ln/>
        </p:spPr>
        <p:txBody>
          <a:bodyPr wrap="square" lIns="0" tIns="0" rIns="0" bIns="0" rtlCol="0" anchor="ctr"/>
          <a:lstStyle/>
          <a:p>
            <a:pPr marL="0" indent="0">
              <a:buNone/>
            </a:pPr>
            <a:r>
              <a:rPr lang="en-US" sz="1400" i="1" dirty="0">
                <a:latin typeface="Calibri" pitchFamily="34" charset="0"/>
                <a:ea typeface="Calibri" pitchFamily="34" charset="-122"/>
                <a:cs typeface="Calibri" pitchFamily="34" charset="-120"/>
              </a:rPr>
              <a:t>Source: Aim Labs disclosure (June 2025); </a:t>
            </a:r>
            <a:r>
              <a:rPr lang="en-US" sz="1400" b="1" i="1" dirty="0">
                <a:latin typeface="Calibri" pitchFamily="34" charset="0"/>
                <a:ea typeface="Calibri" pitchFamily="34" charset="-122"/>
                <a:cs typeface="Calibri" pitchFamily="34" charset="-120"/>
              </a:rPr>
              <a:t>Microsoft CVE-2025-32711 </a:t>
            </a:r>
            <a:r>
              <a:rPr lang="en-US" sz="1400" i="1" dirty="0">
                <a:latin typeface="Calibri" pitchFamily="34" charset="0"/>
                <a:ea typeface="Calibri" pitchFamily="34" charset="-122"/>
                <a:cs typeface="Calibri" pitchFamily="34" charset="-120"/>
              </a:rPr>
              <a:t>advisory.</a:t>
            </a:r>
          </a:p>
        </p:txBody>
      </p:sp>
      <p:sp>
        <p:nvSpPr>
          <p:cNvPr id="29" name="TextBox 28"/>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5 / 43</a:t>
            </a:r>
          </a:p>
        </p:txBody>
      </p:sp>
    </p:spTree>
  </p:cSld>
  <p:clrMapOvr>
    <a:masterClrMapping/>
  </p:clrMapOvr>
  <mc:AlternateContent xmlns:mc="http://schemas.openxmlformats.org/markup-compatibility/2006">
    <mc:Choice xmlns:p14="http://schemas.microsoft.com/office/powerpoint/2010/main" Requires="p14">
      <p:transition spd="slow" p14:dur="2000" advTm="96728"/>
    </mc:Choice>
    <mc:Fallback>
      <p:transition spd="slow" advTm="9672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3703EA-FCEF-36A4-73A3-5926B6E9EF62}"/>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4280C170-7605-529A-F96A-0ADC88D4BC8A}"/>
              </a:ext>
              <a:ext uri="{C183D7F6-B498-43B3-948B-1728B52AA6E4}">
                <adec:decorative xmlns:adec="http://schemas.microsoft.com/office/drawing/2017/decorative" val="1"/>
              </a:ext>
            </a:extLst>
          </p:cNvPr>
          <p:cNvSpPr/>
          <p:nvPr/>
        </p:nvSpPr>
        <p:spPr>
          <a:xfrm>
            <a:off x="640080" y="1444752"/>
            <a:ext cx="3657600" cy="2212848"/>
          </a:xfrm>
          <a:prstGeom prst="rect">
            <a:avLst/>
          </a:prstGeom>
          <a:solidFill>
            <a:srgbClr val="F8FAFC"/>
          </a:solidFill>
          <a:ln w="12700">
            <a:solidFill>
              <a:srgbClr val="E2E8F0"/>
            </a:solidFill>
            <a:prstDash val="solid"/>
          </a:ln>
        </p:spPr>
        <p:txBody>
          <a:bodyPr/>
          <a:lstStyle/>
          <a:p>
            <a:r>
              <a:rPr lang="en-US" dirty="0"/>
              <a:t>The Setup</a:t>
            </a:r>
          </a:p>
        </p:txBody>
      </p:sp>
      <p:sp>
        <p:nvSpPr>
          <p:cNvPr id="9" name="Shape 7">
            <a:extLst>
              <a:ext uri="{FF2B5EF4-FFF2-40B4-BE49-F238E27FC236}">
                <a16:creationId xmlns:a16="http://schemas.microsoft.com/office/drawing/2014/main" id="{86CCC731-1278-33A5-5C9A-F9FBA2E2961B}"/>
              </a:ext>
              <a:ext uri="{C183D7F6-B498-43B3-948B-1728B52AA6E4}">
                <adec:decorative xmlns:adec="http://schemas.microsoft.com/office/drawing/2017/decorative" val="1"/>
              </a:ext>
            </a:extLst>
          </p:cNvPr>
          <p:cNvSpPr/>
          <p:nvPr/>
        </p:nvSpPr>
        <p:spPr>
          <a:xfrm>
            <a:off x="4434840" y="1444752"/>
            <a:ext cx="3657600" cy="2212848"/>
          </a:xfrm>
          <a:prstGeom prst="rect">
            <a:avLst/>
          </a:prstGeom>
          <a:solidFill>
            <a:srgbClr val="F8FAFC"/>
          </a:solidFill>
          <a:ln w="12700">
            <a:solidFill>
              <a:srgbClr val="E2E8F0"/>
            </a:solidFill>
            <a:prstDash val="solid"/>
          </a:ln>
        </p:spPr>
        <p:txBody>
          <a:bodyPr/>
          <a:lstStyle/>
          <a:p>
            <a:pPr>
              <a:spcAft>
                <a:spcPts val="400"/>
              </a:spcAft>
            </a:pPr>
            <a:r>
              <a:rPr lang="en-US" dirty="0">
                <a:solidFill>
                  <a:srgbClr val="1A1A2E"/>
                </a:solidFill>
                <a:latin typeface="Calibri" pitchFamily="34" charset="0"/>
                <a:cs typeface="Calibri" pitchFamily="34" charset="-120"/>
              </a:rPr>
              <a:t>The Bypass</a:t>
            </a:r>
          </a:p>
        </p:txBody>
      </p:sp>
      <p:sp>
        <p:nvSpPr>
          <p:cNvPr id="11" name="Text 9">
            <a:extLst>
              <a:ext uri="{FF2B5EF4-FFF2-40B4-BE49-F238E27FC236}">
                <a16:creationId xmlns:a16="http://schemas.microsoft.com/office/drawing/2014/main" id="{18C3774D-97CA-8E10-9875-6DB5311C2A64}"/>
              </a:ext>
            </a:extLst>
          </p:cNvPr>
          <p:cNvSpPr/>
          <p:nvPr/>
        </p:nvSpPr>
        <p:spPr>
          <a:xfrm>
            <a:off x="4709160" y="1874520"/>
            <a:ext cx="914400" cy="914400"/>
          </a:xfrm>
          <a:prstGeom prst="rect">
            <a:avLst/>
          </a:prstGeom>
          <a:noFill/>
          <a:ln/>
        </p:spPr>
        <p:txBody>
          <a:bodyPr wrap="square" lIns="0" tIns="0" rIns="0" bIns="0" rtlCol="0" anchor="ctr"/>
          <a:lstStyle/>
          <a:p>
            <a:pPr marL="0" indent="0" algn="ctr">
              <a:buNone/>
            </a:pPr>
            <a:endParaRPr lang="en-US" sz="3800" dirty="0"/>
          </a:p>
        </p:txBody>
      </p:sp>
      <p:sp>
        <p:nvSpPr>
          <p:cNvPr id="14" name="Shape 12">
            <a:extLst>
              <a:ext uri="{FF2B5EF4-FFF2-40B4-BE49-F238E27FC236}">
                <a16:creationId xmlns:a16="http://schemas.microsoft.com/office/drawing/2014/main" id="{57F8FDD9-6820-955F-1924-3FF138D53BB1}"/>
              </a:ext>
              <a:ext uri="{C183D7F6-B498-43B3-948B-1728B52AA6E4}">
                <adec:decorative xmlns:adec="http://schemas.microsoft.com/office/drawing/2017/decorative" val="1"/>
              </a:ext>
            </a:extLst>
          </p:cNvPr>
          <p:cNvSpPr/>
          <p:nvPr/>
        </p:nvSpPr>
        <p:spPr>
          <a:xfrm>
            <a:off x="8229600" y="1444752"/>
            <a:ext cx="3657600" cy="2212848"/>
          </a:xfrm>
          <a:prstGeom prst="rect">
            <a:avLst/>
          </a:prstGeom>
          <a:solidFill>
            <a:srgbClr val="F8FAFC"/>
          </a:solidFill>
          <a:ln w="12700">
            <a:solidFill>
              <a:srgbClr val="E2E8F0"/>
            </a:solidFill>
            <a:prstDash val="solid"/>
          </a:ln>
        </p:spPr>
        <p:txBody>
          <a:bodyPr/>
          <a:lstStyle/>
          <a:p>
            <a:r>
              <a:rPr lang="en-US" dirty="0"/>
              <a:t>The Exfil</a:t>
            </a:r>
          </a:p>
        </p:txBody>
      </p:sp>
      <p:sp>
        <p:nvSpPr>
          <p:cNvPr id="16" name="Text 14">
            <a:extLst>
              <a:ext uri="{FF2B5EF4-FFF2-40B4-BE49-F238E27FC236}">
                <a16:creationId xmlns:a16="http://schemas.microsoft.com/office/drawing/2014/main" id="{B26A4E7E-53EC-15AF-83B5-FFA56A5F55F0}"/>
              </a:ext>
            </a:extLst>
          </p:cNvPr>
          <p:cNvSpPr/>
          <p:nvPr/>
        </p:nvSpPr>
        <p:spPr>
          <a:xfrm>
            <a:off x="8503920" y="1792224"/>
            <a:ext cx="914400" cy="914400"/>
          </a:xfrm>
          <a:prstGeom prst="rect">
            <a:avLst/>
          </a:prstGeom>
          <a:noFill/>
          <a:ln/>
        </p:spPr>
        <p:txBody>
          <a:bodyPr wrap="square" lIns="0" tIns="0" rIns="0" bIns="0" rtlCol="0" anchor="ctr"/>
          <a:lstStyle/>
          <a:p>
            <a:pPr marL="0" indent="0" algn="ctr">
              <a:buNone/>
            </a:pPr>
            <a:endParaRPr lang="en-US" sz="3800" dirty="0"/>
          </a:p>
        </p:txBody>
      </p:sp>
      <p:sp>
        <p:nvSpPr>
          <p:cNvPr id="19" name="Shape 17">
            <a:extLst>
              <a:ext uri="{FF2B5EF4-FFF2-40B4-BE49-F238E27FC236}">
                <a16:creationId xmlns:a16="http://schemas.microsoft.com/office/drawing/2014/main" id="{E73EACF2-6691-E019-C53F-E6410BBC3D0C}"/>
              </a:ext>
              <a:ext uri="{C183D7F6-B498-43B3-948B-1728B52AA6E4}">
                <adec:decorative xmlns:adec="http://schemas.microsoft.com/office/drawing/2017/decorative" val="1"/>
              </a:ext>
            </a:extLst>
          </p:cNvPr>
          <p:cNvSpPr/>
          <p:nvPr/>
        </p:nvSpPr>
        <p:spPr>
          <a:xfrm>
            <a:off x="640080" y="3995928"/>
            <a:ext cx="3657600" cy="2212848"/>
          </a:xfrm>
          <a:prstGeom prst="rect">
            <a:avLst/>
          </a:prstGeom>
          <a:solidFill>
            <a:srgbClr val="F8FAFC"/>
          </a:solidFill>
          <a:ln w="12700">
            <a:solidFill>
              <a:srgbClr val="E2E8F0"/>
            </a:solidFill>
            <a:prstDash val="solid"/>
          </a:ln>
        </p:spPr>
        <p:txBody>
          <a:bodyPr/>
          <a:lstStyle/>
          <a:p>
            <a:pPr>
              <a:spcAft>
                <a:spcPts val="400"/>
              </a:spcAft>
            </a:pPr>
            <a:r>
              <a:rPr lang="en-US" dirty="0"/>
              <a:t>Zero User Action</a:t>
            </a:r>
          </a:p>
        </p:txBody>
      </p:sp>
      <p:sp>
        <p:nvSpPr>
          <p:cNvPr id="24" name="Shape 22">
            <a:extLst>
              <a:ext uri="{FF2B5EF4-FFF2-40B4-BE49-F238E27FC236}">
                <a16:creationId xmlns:a16="http://schemas.microsoft.com/office/drawing/2014/main" id="{AA4D1D25-A96C-804F-AF03-56DA859D0043}"/>
              </a:ext>
              <a:ext uri="{C183D7F6-B498-43B3-948B-1728B52AA6E4}">
                <adec:decorative xmlns:adec="http://schemas.microsoft.com/office/drawing/2017/decorative" val="1"/>
              </a:ext>
            </a:extLst>
          </p:cNvPr>
          <p:cNvSpPr/>
          <p:nvPr/>
        </p:nvSpPr>
        <p:spPr>
          <a:xfrm>
            <a:off x="4434840" y="3995928"/>
            <a:ext cx="3657600" cy="2212848"/>
          </a:xfrm>
          <a:prstGeom prst="rect">
            <a:avLst/>
          </a:prstGeom>
          <a:solidFill>
            <a:srgbClr val="F8FAFC"/>
          </a:solidFill>
          <a:ln w="12700">
            <a:solidFill>
              <a:srgbClr val="E2E8F0"/>
            </a:solidFill>
            <a:prstDash val="solid"/>
          </a:ln>
        </p:spPr>
        <p:txBody>
          <a:bodyPr/>
          <a:lstStyle/>
          <a:p>
            <a:r>
              <a:rPr lang="en-US" dirty="0"/>
              <a:t>Pure Text payload</a:t>
            </a:r>
          </a:p>
        </p:txBody>
      </p:sp>
      <p:sp>
        <p:nvSpPr>
          <p:cNvPr id="29" name="Shape 27">
            <a:extLst>
              <a:ext uri="{FF2B5EF4-FFF2-40B4-BE49-F238E27FC236}">
                <a16:creationId xmlns:a16="http://schemas.microsoft.com/office/drawing/2014/main" id="{3B9F555E-BD1D-47A9-7C79-7F64DE00786D}"/>
              </a:ext>
              <a:ext uri="{C183D7F6-B498-43B3-948B-1728B52AA6E4}">
                <adec:decorative xmlns:adec="http://schemas.microsoft.com/office/drawing/2017/decorative" val="1"/>
              </a:ext>
            </a:extLst>
          </p:cNvPr>
          <p:cNvSpPr/>
          <p:nvPr/>
        </p:nvSpPr>
        <p:spPr>
          <a:xfrm>
            <a:off x="8229600" y="3995928"/>
            <a:ext cx="3657600" cy="2212848"/>
          </a:xfrm>
          <a:prstGeom prst="rect">
            <a:avLst/>
          </a:prstGeom>
          <a:solidFill>
            <a:srgbClr val="F8FAFC"/>
          </a:solidFill>
          <a:ln w="12700">
            <a:solidFill>
              <a:srgbClr val="E2E8F0"/>
            </a:solidFill>
            <a:prstDash val="solid"/>
          </a:ln>
        </p:spPr>
        <p:txBody>
          <a:bodyPr/>
          <a:lstStyle/>
          <a:p>
            <a:pPr>
              <a:spcAft>
                <a:spcPts val="400"/>
              </a:spcAft>
            </a:pPr>
            <a:r>
              <a:rPr lang="en-US" dirty="0"/>
              <a:t>Invisible</a:t>
            </a:r>
          </a:p>
        </p:txBody>
      </p:sp>
      <p:sp>
        <p:nvSpPr>
          <p:cNvPr id="35" name="Text 33">
            <a:extLst>
              <a:ext uri="{FF2B5EF4-FFF2-40B4-BE49-F238E27FC236}">
                <a16:creationId xmlns:a16="http://schemas.microsoft.com/office/drawing/2014/main" id="{618292F9-89D2-2A79-6C38-D661D7152136}"/>
              </a:ext>
            </a:extLst>
          </p:cNvPr>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36" name="TextBox 35">
            <a:extLst>
              <a:ext uri="{FF2B5EF4-FFF2-40B4-BE49-F238E27FC236}">
                <a16:creationId xmlns:a16="http://schemas.microsoft.com/office/drawing/2014/main" id="{16443132-38F7-B100-5331-CD81DCE55549}"/>
              </a:ext>
            </a:extLst>
          </p:cNvPr>
          <p:cNvSpPr txBox="1"/>
          <p:nvPr/>
        </p:nvSpPr>
        <p:spPr>
          <a:xfrm>
            <a:off x="457200" y="6492240"/>
            <a:ext cx="304571" cy="153888"/>
          </a:xfrm>
          <a:prstGeom prst="rect">
            <a:avLst/>
          </a:prstGeom>
          <a:noFill/>
        </p:spPr>
        <p:txBody>
          <a:bodyPr wrap="none" lIns="0" tIns="0" rIns="0" bIns="0">
            <a:spAutoFit/>
          </a:bodyPr>
          <a:lstStyle/>
          <a:p>
            <a:pPr algn="l"/>
            <a:r>
              <a:rPr sz="1000" i="1" dirty="0">
                <a:solidFill>
                  <a:srgbClr val="94A3B8"/>
                </a:solidFill>
                <a:latin typeface="Calibri"/>
              </a:rPr>
              <a:t> </a:t>
            </a:r>
            <a:r>
              <a:rPr lang="en-US" sz="1000" i="1" dirty="0">
                <a:solidFill>
                  <a:srgbClr val="94A3B8"/>
                </a:solidFill>
                <a:latin typeface="Calibri"/>
              </a:rPr>
              <a:t>6</a:t>
            </a:r>
            <a:r>
              <a:rPr sz="1000" i="1" dirty="0">
                <a:solidFill>
                  <a:srgbClr val="94A3B8"/>
                </a:solidFill>
                <a:latin typeface="Calibri"/>
              </a:rPr>
              <a:t>/ 43</a:t>
            </a:r>
          </a:p>
        </p:txBody>
      </p:sp>
      <p:sp>
        <p:nvSpPr>
          <p:cNvPr id="3" name="Shape 0">
            <a:extLst>
              <a:ext uri="{FF2B5EF4-FFF2-40B4-BE49-F238E27FC236}">
                <a16:creationId xmlns:a16="http://schemas.microsoft.com/office/drawing/2014/main" id="{A99D1A8B-B379-48B0-BC7B-9310F643A4F4}"/>
              </a:ext>
            </a:extLst>
          </p:cNvPr>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34" name="Text 2">
            <a:extLst>
              <a:ext uri="{FF2B5EF4-FFF2-40B4-BE49-F238E27FC236}">
                <a16:creationId xmlns:a16="http://schemas.microsoft.com/office/drawing/2014/main" id="{4552AF09-27A8-4FA4-2849-0970F8EAECC5}"/>
              </a:ext>
            </a:extLst>
          </p:cNvPr>
          <p:cNvSpPr/>
          <p:nvPr/>
        </p:nvSpPr>
        <p:spPr>
          <a:xfrm>
            <a:off x="731520" y="218564"/>
            <a:ext cx="11155680" cy="934471"/>
          </a:xfrm>
          <a:prstGeom prst="rect">
            <a:avLst/>
          </a:prstGeom>
          <a:noFill/>
          <a:ln/>
        </p:spPr>
        <p:txBody>
          <a:bodyPr wrap="square" lIns="0" tIns="0" rIns="0" bIns="0" rtlCol="0" anchor="ctr"/>
          <a:lstStyle/>
          <a:p>
            <a:pPr marL="0" indent="0">
              <a:buNone/>
            </a:pPr>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 </a:t>
            </a:r>
          </a:p>
          <a:p>
            <a:r>
              <a:rPr lang="en-US" sz="3000" b="1" dirty="0">
                <a:solidFill>
                  <a:srgbClr val="1A1A2E"/>
                </a:solidFill>
                <a:latin typeface="Georgia" pitchFamily="34" charset="0"/>
              </a:rPr>
              <a:t>Prompt Injection Meets AI Exfiltration</a:t>
            </a:r>
          </a:p>
        </p:txBody>
      </p:sp>
      <p:sp>
        <p:nvSpPr>
          <p:cNvPr id="37" name="Shape 4">
            <a:extLst>
              <a:ext uri="{FF2B5EF4-FFF2-40B4-BE49-F238E27FC236}">
                <a16:creationId xmlns:a16="http://schemas.microsoft.com/office/drawing/2014/main" id="{23A2C458-718B-8A21-D02C-F5C5B4F5B8C3}"/>
              </a:ext>
            </a:extLst>
          </p:cNvPr>
          <p:cNvSpPr/>
          <p:nvPr/>
        </p:nvSpPr>
        <p:spPr>
          <a:xfrm>
            <a:off x="746760" y="1236472"/>
            <a:ext cx="10698480" cy="0"/>
          </a:xfrm>
          <a:prstGeom prst="line">
            <a:avLst/>
          </a:prstGeom>
          <a:noFill/>
          <a:ln w="12700">
            <a:solidFill>
              <a:srgbClr val="8B1A2B"/>
            </a:solidFill>
            <a:prstDash val="solid"/>
          </a:ln>
        </p:spPr>
        <p:txBody>
          <a:bodyPr/>
          <a:lstStyle/>
          <a:p>
            <a:endParaRPr lang="en-US"/>
          </a:p>
        </p:txBody>
      </p:sp>
      <p:sp>
        <p:nvSpPr>
          <p:cNvPr id="39" name="TextBox 38">
            <a:extLst>
              <a:ext uri="{FF2B5EF4-FFF2-40B4-BE49-F238E27FC236}">
                <a16:creationId xmlns:a16="http://schemas.microsoft.com/office/drawing/2014/main" id="{F9B9BC6F-C818-29D9-13C2-B1D66502350F}"/>
              </a:ext>
            </a:extLst>
          </p:cNvPr>
          <p:cNvSpPr txBox="1"/>
          <p:nvPr/>
        </p:nvSpPr>
        <p:spPr>
          <a:xfrm>
            <a:off x="576072" y="6310375"/>
            <a:ext cx="11247120" cy="369332"/>
          </a:xfrm>
          <a:prstGeom prst="rect">
            <a:avLst/>
          </a:prstGeom>
          <a:noFill/>
        </p:spPr>
        <p:txBody>
          <a:bodyPr wrap="square">
            <a:spAutoFit/>
          </a:bodyPr>
          <a:lstStyle/>
          <a:p>
            <a:pPr algn="ctr"/>
            <a:r>
              <a:rPr lang="en-US" sz="1800" dirty="0"/>
              <a:t>Source: https://</a:t>
            </a:r>
            <a:r>
              <a:rPr lang="en-US" sz="1800" dirty="0" err="1"/>
              <a:t>www.hackthebox.com</a:t>
            </a:r>
            <a:r>
              <a:rPr lang="en-US" sz="1800" dirty="0"/>
              <a:t>/blog/cve-2025-32711-echoleak-copilot-vulnerability</a:t>
            </a:r>
          </a:p>
        </p:txBody>
      </p:sp>
      <p:sp>
        <p:nvSpPr>
          <p:cNvPr id="42" name="Text 7">
            <a:extLst>
              <a:ext uri="{FF2B5EF4-FFF2-40B4-BE49-F238E27FC236}">
                <a16:creationId xmlns:a16="http://schemas.microsoft.com/office/drawing/2014/main" id="{780B67D1-930E-CCB2-B160-B5DAEFA2CF29}"/>
              </a:ext>
            </a:extLst>
          </p:cNvPr>
          <p:cNvSpPr/>
          <p:nvPr/>
        </p:nvSpPr>
        <p:spPr>
          <a:xfrm>
            <a:off x="850392" y="2123687"/>
            <a:ext cx="2980944" cy="1051560"/>
          </a:xfrm>
          <a:prstGeom prst="rect">
            <a:avLst/>
          </a:prstGeom>
          <a:noFill/>
          <a:ln/>
        </p:spPr>
        <p:txBody>
          <a:bodyPr wrap="square" lIns="0" tIns="0" rIns="0" bIns="0" rtlCol="0" anchor="t"/>
          <a:lstStyle/>
          <a:p>
            <a:pPr marL="0" indent="0" algn="l">
              <a:buNone/>
            </a:pPr>
            <a:r>
              <a:rPr lang="en-US" dirty="0">
                <a:solidFill>
                  <a:srgbClr val="712B13"/>
                </a:solidFill>
                <a:latin typeface="Calibri" pitchFamily="34" charset="0"/>
                <a:ea typeface="Calibri" pitchFamily="34" charset="-122"/>
                <a:cs typeface="Calibri" pitchFamily="34" charset="-120"/>
              </a:rPr>
              <a:t>AI reads everything, including hidden text, speaker notes, and metadata</a:t>
            </a:r>
            <a:endParaRPr lang="en-US" dirty="0"/>
          </a:p>
        </p:txBody>
      </p:sp>
      <p:sp>
        <p:nvSpPr>
          <p:cNvPr id="43" name="Text 9">
            <a:extLst>
              <a:ext uri="{FF2B5EF4-FFF2-40B4-BE49-F238E27FC236}">
                <a16:creationId xmlns:a16="http://schemas.microsoft.com/office/drawing/2014/main" id="{10E49AAF-72D7-04FD-5D8F-60ABA04AAC47}"/>
              </a:ext>
            </a:extLst>
          </p:cNvPr>
          <p:cNvSpPr/>
          <p:nvPr/>
        </p:nvSpPr>
        <p:spPr>
          <a:xfrm>
            <a:off x="4709160" y="2123687"/>
            <a:ext cx="2980944" cy="1051560"/>
          </a:xfrm>
          <a:prstGeom prst="rect">
            <a:avLst/>
          </a:prstGeom>
          <a:noFill/>
          <a:ln/>
        </p:spPr>
        <p:txBody>
          <a:bodyPr wrap="square" lIns="0" tIns="0" rIns="0" bIns="0" rtlCol="0" anchor="t"/>
          <a:lstStyle/>
          <a:p>
            <a:pPr marL="0" indent="0" algn="l">
              <a:buNone/>
            </a:pPr>
            <a:r>
              <a:rPr lang="en-US" dirty="0">
                <a:solidFill>
                  <a:srgbClr val="712B13"/>
                </a:solidFill>
                <a:latin typeface="Calibri" pitchFamily="34" charset="0"/>
                <a:ea typeface="Calibri" pitchFamily="34" charset="-122"/>
                <a:cs typeface="Calibri" pitchFamily="34" charset="-120"/>
              </a:rPr>
              <a:t>Crafted prompts slip past Cross-Prompt Injection Attack classifiers (XPIA)</a:t>
            </a:r>
            <a:endParaRPr lang="en-US" dirty="0">
              <a:solidFill>
                <a:srgbClr val="712B13"/>
              </a:solidFill>
            </a:endParaRPr>
          </a:p>
        </p:txBody>
      </p:sp>
      <p:sp>
        <p:nvSpPr>
          <p:cNvPr id="44" name="Text 11">
            <a:extLst>
              <a:ext uri="{FF2B5EF4-FFF2-40B4-BE49-F238E27FC236}">
                <a16:creationId xmlns:a16="http://schemas.microsoft.com/office/drawing/2014/main" id="{FDB1E3E8-B778-4AF1-5E9B-D60350A9C24A}"/>
              </a:ext>
            </a:extLst>
          </p:cNvPr>
          <p:cNvSpPr/>
          <p:nvPr/>
        </p:nvSpPr>
        <p:spPr>
          <a:xfrm>
            <a:off x="8503920" y="2130552"/>
            <a:ext cx="2980944" cy="1051560"/>
          </a:xfrm>
          <a:prstGeom prst="rect">
            <a:avLst/>
          </a:prstGeom>
          <a:noFill/>
          <a:ln/>
        </p:spPr>
        <p:txBody>
          <a:bodyPr wrap="square" lIns="0" tIns="0" rIns="0" bIns="0" rtlCol="0" anchor="t"/>
          <a:lstStyle/>
          <a:p>
            <a:pPr marL="0" indent="0" algn="l">
              <a:buNone/>
            </a:pPr>
            <a:r>
              <a:rPr lang="en-US" dirty="0">
                <a:solidFill>
                  <a:srgbClr val="712B13"/>
                </a:solidFill>
                <a:latin typeface="Calibri" pitchFamily="34" charset="0"/>
                <a:ea typeface="Calibri" pitchFamily="34" charset="-122"/>
                <a:cs typeface="Calibri" pitchFamily="34" charset="-120"/>
              </a:rPr>
              <a:t>Stolen data hidden in an image URL; loading the image silently leaks it</a:t>
            </a:r>
            <a:endParaRPr lang="en-US" dirty="0">
              <a:solidFill>
                <a:srgbClr val="712B13"/>
              </a:solidFill>
            </a:endParaRPr>
          </a:p>
        </p:txBody>
      </p:sp>
      <p:sp>
        <p:nvSpPr>
          <p:cNvPr id="45" name="Text 19">
            <a:extLst>
              <a:ext uri="{FF2B5EF4-FFF2-40B4-BE49-F238E27FC236}">
                <a16:creationId xmlns:a16="http://schemas.microsoft.com/office/drawing/2014/main" id="{BDB90A5B-91CA-886E-0500-BAD4B84007ED}"/>
              </a:ext>
            </a:extLst>
          </p:cNvPr>
          <p:cNvSpPr/>
          <p:nvPr/>
        </p:nvSpPr>
        <p:spPr>
          <a:xfrm>
            <a:off x="850392" y="4640580"/>
            <a:ext cx="2980944" cy="868680"/>
          </a:xfrm>
          <a:prstGeom prst="rect">
            <a:avLst/>
          </a:prstGeom>
          <a:noFill/>
          <a:ln/>
        </p:spPr>
        <p:txBody>
          <a:bodyPr wrap="square" lIns="0" tIns="0" rIns="0" bIns="0" rtlCol="0" anchor="t"/>
          <a:lstStyle/>
          <a:p>
            <a:pPr marL="0" indent="0" algn="l">
              <a:buNone/>
            </a:pPr>
            <a:r>
              <a:rPr lang="en-US" dirty="0">
                <a:solidFill>
                  <a:srgbClr val="712B13"/>
                </a:solidFill>
                <a:latin typeface="Calibri" pitchFamily="34" charset="0"/>
                <a:ea typeface="Calibri" pitchFamily="34" charset="-122"/>
                <a:cs typeface="Calibri" pitchFamily="34" charset="-120"/>
              </a:rPr>
              <a:t>Beyond opening the file. </a:t>
            </a:r>
          </a:p>
          <a:p>
            <a:pPr marL="0" indent="0" algn="l">
              <a:buNone/>
            </a:pPr>
            <a:r>
              <a:rPr lang="en-US" dirty="0">
                <a:solidFill>
                  <a:srgbClr val="712B13"/>
                </a:solidFill>
                <a:latin typeface="Calibri" pitchFamily="34" charset="0"/>
                <a:ea typeface="Calibri" pitchFamily="34" charset="-122"/>
                <a:cs typeface="Calibri" pitchFamily="34" charset="-120"/>
              </a:rPr>
              <a:t>No phishing, clicking, or downloading</a:t>
            </a:r>
            <a:endParaRPr lang="en-US" dirty="0">
              <a:solidFill>
                <a:srgbClr val="712B13"/>
              </a:solidFill>
            </a:endParaRPr>
          </a:p>
        </p:txBody>
      </p:sp>
      <p:sp>
        <p:nvSpPr>
          <p:cNvPr id="47" name="Text 21">
            <a:extLst>
              <a:ext uri="{FF2B5EF4-FFF2-40B4-BE49-F238E27FC236}">
                <a16:creationId xmlns:a16="http://schemas.microsoft.com/office/drawing/2014/main" id="{5162F78F-F584-A1D8-2BEE-6BE8A7539E8A}"/>
              </a:ext>
            </a:extLst>
          </p:cNvPr>
          <p:cNvSpPr/>
          <p:nvPr/>
        </p:nvSpPr>
        <p:spPr>
          <a:xfrm>
            <a:off x="4709160" y="4640580"/>
            <a:ext cx="2980944" cy="868680"/>
          </a:xfrm>
          <a:prstGeom prst="rect">
            <a:avLst/>
          </a:prstGeom>
          <a:noFill/>
          <a:ln/>
        </p:spPr>
        <p:txBody>
          <a:bodyPr wrap="square" lIns="0" tIns="0" rIns="0" bIns="0" rtlCol="0" anchor="t"/>
          <a:lstStyle/>
          <a:p>
            <a:pPr marL="0" indent="0" algn="l">
              <a:buNone/>
            </a:pPr>
            <a:r>
              <a:rPr lang="en-US" dirty="0">
                <a:solidFill>
                  <a:srgbClr val="712B13"/>
                </a:solidFill>
                <a:latin typeface="Calibri" pitchFamily="34" charset="0"/>
                <a:ea typeface="Calibri" pitchFamily="34" charset="-122"/>
                <a:cs typeface="Calibri" pitchFamily="34" charset="-120"/>
              </a:rPr>
              <a:t>No code, no malware. Just words embedded in a normal business document</a:t>
            </a:r>
            <a:endParaRPr lang="en-US" dirty="0">
              <a:solidFill>
                <a:srgbClr val="712B13"/>
              </a:solidFill>
            </a:endParaRPr>
          </a:p>
        </p:txBody>
      </p:sp>
      <p:sp>
        <p:nvSpPr>
          <p:cNvPr id="48" name="Text 23">
            <a:extLst>
              <a:ext uri="{FF2B5EF4-FFF2-40B4-BE49-F238E27FC236}">
                <a16:creationId xmlns:a16="http://schemas.microsoft.com/office/drawing/2014/main" id="{E97EB9E6-E561-E9A4-332C-C3E7C505FC8A}"/>
              </a:ext>
            </a:extLst>
          </p:cNvPr>
          <p:cNvSpPr/>
          <p:nvPr/>
        </p:nvSpPr>
        <p:spPr>
          <a:xfrm>
            <a:off x="8503920" y="4640580"/>
            <a:ext cx="2980944" cy="868680"/>
          </a:xfrm>
          <a:prstGeom prst="rect">
            <a:avLst/>
          </a:prstGeom>
          <a:noFill/>
          <a:ln/>
        </p:spPr>
        <p:txBody>
          <a:bodyPr wrap="square" lIns="0" tIns="0" rIns="0" bIns="0" rtlCol="0" anchor="t"/>
          <a:lstStyle/>
          <a:p>
            <a:pPr marL="0" indent="0" algn="l">
              <a:buNone/>
            </a:pPr>
            <a:r>
              <a:rPr lang="en-US" dirty="0">
                <a:solidFill>
                  <a:srgbClr val="712B13"/>
                </a:solidFill>
                <a:latin typeface="Calibri" pitchFamily="34" charset="0"/>
                <a:ea typeface="Calibri" pitchFamily="34" charset="-122"/>
                <a:cs typeface="Calibri" pitchFamily="34" charset="-120"/>
              </a:rPr>
              <a:t>No logs, no alerts, no malware signatures to detect</a:t>
            </a:r>
            <a:endParaRPr lang="en-US" dirty="0">
              <a:solidFill>
                <a:srgbClr val="712B13"/>
              </a:solidFill>
            </a:endParaRPr>
          </a:p>
        </p:txBody>
      </p:sp>
      <p:sp>
        <p:nvSpPr>
          <p:cNvPr id="49" name="Shape 4">
            <a:extLst>
              <a:ext uri="{FF2B5EF4-FFF2-40B4-BE49-F238E27FC236}">
                <a16:creationId xmlns:a16="http://schemas.microsoft.com/office/drawing/2014/main" id="{02855242-DEF7-6E49-DAE9-2797B3439161}"/>
              </a:ext>
            </a:extLst>
          </p:cNvPr>
          <p:cNvSpPr/>
          <p:nvPr/>
        </p:nvSpPr>
        <p:spPr>
          <a:xfrm>
            <a:off x="850392" y="3839464"/>
            <a:ext cx="10698480" cy="0"/>
          </a:xfrm>
          <a:prstGeom prst="line">
            <a:avLst/>
          </a:prstGeom>
          <a:noFill/>
          <a:ln w="12700">
            <a:solidFill>
              <a:srgbClr val="8B1A2B"/>
            </a:solidFill>
            <a:prstDash val="solid"/>
          </a:ln>
        </p:spPr>
        <p:txBody>
          <a:bodyPr/>
          <a:lstStyle/>
          <a:p>
            <a:endParaRPr lang="en-US"/>
          </a:p>
        </p:txBody>
      </p:sp>
    </p:spTree>
    <p:extLst>
      <p:ext uri="{BB962C8B-B14F-4D97-AF65-F5344CB8AC3E}">
        <p14:creationId xmlns:p14="http://schemas.microsoft.com/office/powerpoint/2010/main" val="3251928947"/>
      </p:ext>
    </p:extLst>
  </p:cSld>
  <p:clrMapOvr>
    <a:masterClrMapping/>
  </p:clrMapOvr>
  <mc:AlternateContent xmlns:mc="http://schemas.openxmlformats.org/markup-compatibility/2006">
    <mc:Choice xmlns:p14="http://schemas.microsoft.com/office/powerpoint/2010/main" Requires="p14">
      <p:transition spd="slow" p14:dur="2000" advTm="96536"/>
    </mc:Choice>
    <mc:Fallback>
      <p:transition spd="slow" advTm="9653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19408-1C76-0C7D-A8B1-46C9C0A721E5}"/>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8FFBBCE-ED09-9DF5-1765-9E47CCD7D35E}"/>
              </a:ext>
            </a:extLst>
          </p:cNvPr>
          <p:cNvSpPr/>
          <p:nvPr/>
        </p:nvSpPr>
        <p:spPr>
          <a:xfrm>
            <a:off x="640080" y="1188720"/>
            <a:ext cx="10972800" cy="457200"/>
          </a:xfrm>
          <a:prstGeom prst="rect">
            <a:avLst/>
          </a:prstGeom>
          <a:noFill/>
          <a:ln/>
        </p:spPr>
        <p:txBody>
          <a:bodyPr wrap="square" lIns="0" tIns="0" rIns="0" bIns="0" rtlCol="0" anchor="ctr"/>
          <a:lstStyle/>
          <a:p>
            <a:pPr marL="0" indent="0">
              <a:buNone/>
            </a:pPr>
            <a:endParaRPr lang="en-US" dirty="0"/>
          </a:p>
        </p:txBody>
      </p:sp>
      <p:sp>
        <p:nvSpPr>
          <p:cNvPr id="4" name="Shape 2">
            <a:extLst>
              <a:ext uri="{FF2B5EF4-FFF2-40B4-BE49-F238E27FC236}">
                <a16:creationId xmlns:a16="http://schemas.microsoft.com/office/drawing/2014/main" id="{60B89E91-3CC7-16DE-1047-716D91E88AD7}"/>
              </a:ext>
              <a:ext uri="{C183D7F6-B498-43B3-948B-1728B52AA6E4}">
                <adec:decorative xmlns:adec="http://schemas.microsoft.com/office/drawing/2017/decorative" val="1"/>
              </a:ext>
            </a:extLst>
          </p:cNvPr>
          <p:cNvSpPr/>
          <p:nvPr/>
        </p:nvSpPr>
        <p:spPr>
          <a:xfrm>
            <a:off x="822960" y="513080"/>
            <a:ext cx="777240" cy="777240"/>
          </a:xfrm>
          <a:prstGeom prst="ellipse">
            <a:avLst/>
          </a:prstGeom>
          <a:solidFill>
            <a:srgbClr val="06B6D4"/>
          </a:solidFill>
          <a:ln/>
        </p:spPr>
        <p:txBody>
          <a:bodyPr/>
          <a:lstStyle/>
          <a:p>
            <a:endParaRPr lang="en-US" dirty="0"/>
          </a:p>
        </p:txBody>
      </p:sp>
      <p:sp>
        <p:nvSpPr>
          <p:cNvPr id="5" name="Text 3">
            <a:extLst>
              <a:ext uri="{FF2B5EF4-FFF2-40B4-BE49-F238E27FC236}">
                <a16:creationId xmlns:a16="http://schemas.microsoft.com/office/drawing/2014/main" id="{6F258EBD-9B74-D62E-367D-37E5D1A6BAC1}"/>
              </a:ext>
            </a:extLst>
          </p:cNvPr>
          <p:cNvSpPr/>
          <p:nvPr/>
        </p:nvSpPr>
        <p:spPr>
          <a:xfrm>
            <a:off x="822960" y="1965960"/>
            <a:ext cx="777240" cy="777240"/>
          </a:xfrm>
          <a:prstGeom prst="rect">
            <a:avLst/>
          </a:prstGeom>
          <a:noFill/>
          <a:ln/>
        </p:spPr>
        <p:txBody>
          <a:bodyPr wrap="square" lIns="0" tIns="0" rIns="0" bIns="0" rtlCol="0" anchor="ctr"/>
          <a:lstStyle/>
          <a:p>
            <a:pPr marL="0" indent="0" algn="ctr">
              <a:buNone/>
            </a:pPr>
            <a:endParaRPr lang="en-US" sz="3000" dirty="0"/>
          </a:p>
        </p:txBody>
      </p:sp>
      <p:sp>
        <p:nvSpPr>
          <p:cNvPr id="7" name="Text 5">
            <a:extLst>
              <a:ext uri="{FF2B5EF4-FFF2-40B4-BE49-F238E27FC236}">
                <a16:creationId xmlns:a16="http://schemas.microsoft.com/office/drawing/2014/main" id="{6A310C5E-05B9-7A02-11B3-5400AA0BC3D8}"/>
              </a:ext>
            </a:extLst>
          </p:cNvPr>
          <p:cNvSpPr/>
          <p:nvPr/>
        </p:nvSpPr>
        <p:spPr>
          <a:xfrm>
            <a:off x="1828800" y="2377440"/>
            <a:ext cx="9601200" cy="365760"/>
          </a:xfrm>
          <a:prstGeom prst="rect">
            <a:avLst/>
          </a:prstGeom>
          <a:noFill/>
          <a:ln/>
        </p:spPr>
        <p:txBody>
          <a:bodyPr wrap="square" lIns="0" tIns="0" rIns="0" bIns="0" rtlCol="0" anchor="t"/>
          <a:lstStyle/>
          <a:p>
            <a:pPr marL="0" indent="0">
              <a:buNone/>
            </a:pPr>
            <a:endParaRPr lang="en-US" sz="1600" dirty="0"/>
          </a:p>
        </p:txBody>
      </p:sp>
      <p:sp>
        <p:nvSpPr>
          <p:cNvPr id="9" name="Text 7">
            <a:extLst>
              <a:ext uri="{FF2B5EF4-FFF2-40B4-BE49-F238E27FC236}">
                <a16:creationId xmlns:a16="http://schemas.microsoft.com/office/drawing/2014/main" id="{8CCA7DF4-492A-C585-0D28-E3C7543FEB9A}"/>
              </a:ext>
            </a:extLst>
          </p:cNvPr>
          <p:cNvSpPr/>
          <p:nvPr/>
        </p:nvSpPr>
        <p:spPr>
          <a:xfrm>
            <a:off x="822960" y="2926080"/>
            <a:ext cx="777240" cy="777240"/>
          </a:xfrm>
          <a:prstGeom prst="rect">
            <a:avLst/>
          </a:prstGeom>
          <a:noFill/>
          <a:ln/>
        </p:spPr>
        <p:txBody>
          <a:bodyPr wrap="square" lIns="0" tIns="0" rIns="0" bIns="0" rtlCol="0" anchor="ctr"/>
          <a:lstStyle/>
          <a:p>
            <a:pPr marL="0" indent="0" algn="ctr">
              <a:buNone/>
            </a:pPr>
            <a:endParaRPr lang="en-US" sz="3000" dirty="0"/>
          </a:p>
        </p:txBody>
      </p:sp>
      <p:sp>
        <p:nvSpPr>
          <p:cNvPr id="17" name="Text 15">
            <a:extLst>
              <a:ext uri="{FF2B5EF4-FFF2-40B4-BE49-F238E27FC236}">
                <a16:creationId xmlns:a16="http://schemas.microsoft.com/office/drawing/2014/main" id="{F2BC6AF1-DD94-18EA-B82C-A53EE04B1853}"/>
              </a:ext>
            </a:extLst>
          </p:cNvPr>
          <p:cNvSpPr/>
          <p:nvPr/>
        </p:nvSpPr>
        <p:spPr>
          <a:xfrm>
            <a:off x="822960" y="4516490"/>
            <a:ext cx="777240" cy="777240"/>
          </a:xfrm>
          <a:prstGeom prst="rect">
            <a:avLst/>
          </a:prstGeom>
          <a:noFill/>
          <a:ln/>
        </p:spPr>
        <p:txBody>
          <a:bodyPr wrap="square" lIns="0" tIns="0" rIns="0" bIns="0" rtlCol="0" anchor="ctr"/>
          <a:lstStyle/>
          <a:p>
            <a:pPr marL="0" indent="0" algn="ctr">
              <a:buNone/>
            </a:pPr>
            <a:endParaRPr lang="en-US" sz="3000" b="1" dirty="0">
              <a:solidFill>
                <a:schemeClr val="bg1"/>
              </a:solidFill>
              <a:latin typeface="Georgia" panose="02040502050405020303" pitchFamily="18" charset="0"/>
            </a:endParaRPr>
          </a:p>
        </p:txBody>
      </p:sp>
      <p:sp>
        <p:nvSpPr>
          <p:cNvPr id="24" name="Text 21">
            <a:extLst>
              <a:ext uri="{FF2B5EF4-FFF2-40B4-BE49-F238E27FC236}">
                <a16:creationId xmlns:a16="http://schemas.microsoft.com/office/drawing/2014/main" id="{EEF43086-6F4A-117C-7D15-7507987616A2}"/>
              </a:ext>
            </a:extLst>
          </p:cNvPr>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5" name="Text 11">
            <a:extLst>
              <a:ext uri="{FF2B5EF4-FFF2-40B4-BE49-F238E27FC236}">
                <a16:creationId xmlns:a16="http://schemas.microsoft.com/office/drawing/2014/main" id="{A3920AAF-DA7C-3230-A157-C4383D6C2DAF}"/>
              </a:ext>
            </a:extLst>
          </p:cNvPr>
          <p:cNvSpPr/>
          <p:nvPr/>
        </p:nvSpPr>
        <p:spPr>
          <a:xfrm>
            <a:off x="822960" y="2678734"/>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2</a:t>
            </a:r>
            <a:endParaRPr lang="en-US" sz="3000" dirty="0"/>
          </a:p>
        </p:txBody>
      </p:sp>
      <p:sp>
        <p:nvSpPr>
          <p:cNvPr id="26" name="Text 11">
            <a:extLst>
              <a:ext uri="{FF2B5EF4-FFF2-40B4-BE49-F238E27FC236}">
                <a16:creationId xmlns:a16="http://schemas.microsoft.com/office/drawing/2014/main" id="{2F9B5254-E4B8-F9A3-A482-65645C424645}"/>
              </a:ext>
            </a:extLst>
          </p:cNvPr>
          <p:cNvSpPr/>
          <p:nvPr/>
        </p:nvSpPr>
        <p:spPr>
          <a:xfrm>
            <a:off x="822960" y="464183"/>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2</a:t>
            </a:r>
            <a:endParaRPr lang="en-US" sz="3000" dirty="0"/>
          </a:p>
        </p:txBody>
      </p:sp>
      <p:sp>
        <p:nvSpPr>
          <p:cNvPr id="11" name="Text 4">
            <a:extLst>
              <a:ext uri="{FF2B5EF4-FFF2-40B4-BE49-F238E27FC236}">
                <a16:creationId xmlns:a16="http://schemas.microsoft.com/office/drawing/2014/main" id="{CC44956B-40EA-29B7-C6B9-EEEB4F74F2D6}"/>
              </a:ext>
            </a:extLst>
          </p:cNvPr>
          <p:cNvSpPr/>
          <p:nvPr/>
        </p:nvSpPr>
        <p:spPr>
          <a:xfrm>
            <a:off x="1859280" y="630707"/>
            <a:ext cx="8534400" cy="457200"/>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Threat Modeling Basics and STRIDE</a:t>
            </a:r>
            <a:endParaRPr lang="en-US" sz="3600" dirty="0"/>
          </a:p>
        </p:txBody>
      </p:sp>
      <p:sp>
        <p:nvSpPr>
          <p:cNvPr id="19" name="Text 15">
            <a:extLst>
              <a:ext uri="{FF2B5EF4-FFF2-40B4-BE49-F238E27FC236}">
                <a16:creationId xmlns:a16="http://schemas.microsoft.com/office/drawing/2014/main" id="{1CF9D113-A884-DAB0-4CE1-250132B81513}"/>
              </a:ext>
            </a:extLst>
          </p:cNvPr>
          <p:cNvSpPr/>
          <p:nvPr/>
        </p:nvSpPr>
        <p:spPr>
          <a:xfrm>
            <a:off x="812800" y="543089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Georgia" panose="02040502050405020303" pitchFamily="18" charset="0"/>
              </a:rPr>
              <a:t>5</a:t>
            </a:r>
          </a:p>
        </p:txBody>
      </p:sp>
      <p:pic>
        <p:nvPicPr>
          <p:cNvPr id="2" name="Picture 1" descr="Maybe we should've threat modeled that… Ever had one of those moments? Join  the Devici Threat Model Challenge and sharpen your threat modeling skills  with @edgeroute in a fun, interactive game. Are">
            <a:extLst>
              <a:ext uri="{FF2B5EF4-FFF2-40B4-BE49-F238E27FC236}">
                <a16:creationId xmlns:a16="http://schemas.microsoft.com/office/drawing/2014/main" id="{05B13F5A-E91F-BEE0-4512-D7554531F24F}"/>
              </a:ext>
            </a:extLst>
          </p:cNvPr>
          <p:cNvPicPr>
            <a:picLocks noChangeAspect="1"/>
          </p:cNvPicPr>
          <p:nvPr/>
        </p:nvPicPr>
        <p:blipFill>
          <a:blip r:embed="rId3"/>
          <a:stretch>
            <a:fillRect/>
          </a:stretch>
        </p:blipFill>
        <p:spPr>
          <a:xfrm>
            <a:off x="3554730" y="1305077"/>
            <a:ext cx="5143500" cy="5143500"/>
          </a:xfrm>
          <a:prstGeom prst="rect">
            <a:avLst/>
          </a:prstGeom>
        </p:spPr>
      </p:pic>
      <p:sp>
        <p:nvSpPr>
          <p:cNvPr id="27" name="TextBox 26"/>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7 / 43</a:t>
            </a:r>
          </a:p>
        </p:txBody>
      </p:sp>
    </p:spTree>
    <p:extLst>
      <p:ext uri="{BB962C8B-B14F-4D97-AF65-F5344CB8AC3E}">
        <p14:creationId xmlns:p14="http://schemas.microsoft.com/office/powerpoint/2010/main" val="2911823531"/>
      </p:ext>
    </p:extLst>
  </p:cSld>
  <p:clrMapOvr>
    <a:masterClrMapping/>
  </p:clrMapOvr>
  <mc:AlternateContent xmlns:mc="http://schemas.openxmlformats.org/markup-compatibility/2006">
    <mc:Choice xmlns:p14="http://schemas.microsoft.com/office/powerpoint/2010/main" Requires="p14">
      <p:transition spd="slow" p14:dur="2000" advTm="1957"/>
    </mc:Choice>
    <mc:Fallback>
      <p:transition spd="slow" advTm="195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lIns="0" tIns="0" rIns="0" bIns="0" rtlCol="0" anchor="ctr"/>
          <a:lstStyle/>
          <a:p>
            <a:pPr marL="0" indent="0">
              <a:buNone/>
            </a:pPr>
            <a:r>
              <a:rPr lang="en-US" sz="3600" b="1" dirty="0">
                <a:solidFill>
                  <a:srgbClr val="1E293B"/>
                </a:solidFill>
                <a:latin typeface="Georgia" pitchFamily="34" charset="0"/>
                <a:ea typeface="Georgia" pitchFamily="34" charset="-122"/>
                <a:cs typeface="Georgia" pitchFamily="34" charset="-120"/>
              </a:rPr>
              <a:t>Threat Modeling 101</a:t>
            </a:r>
            <a:endParaRPr lang="en-US" sz="3600" dirty="0"/>
          </a:p>
        </p:txBody>
      </p:sp>
      <p:sp>
        <p:nvSpPr>
          <p:cNvPr id="4" name="Shape 2">
            <a:extLst>
              <a:ext uri="{C183D7F6-B498-43B3-948B-1728B52AA6E4}">
                <adec:decorative xmlns:adec="http://schemas.microsoft.com/office/drawing/2017/decorative" val="1"/>
              </a:ext>
            </a:extLst>
          </p:cNvPr>
          <p:cNvSpPr/>
          <p:nvPr/>
        </p:nvSpPr>
        <p:spPr>
          <a:xfrm>
            <a:off x="640080" y="1382756"/>
            <a:ext cx="5440680" cy="2194560"/>
          </a:xfrm>
          <a:prstGeom prst="rect">
            <a:avLst/>
          </a:prstGeom>
          <a:solidFill>
            <a:srgbClr val="F8FAFC"/>
          </a:solidFill>
          <a:ln w="12700">
            <a:solidFill>
              <a:srgbClr val="E2E8F0"/>
            </a:solidFill>
            <a:prstDash val="solid"/>
          </a:ln>
        </p:spPr>
        <p:txBody>
          <a:bodyPr/>
          <a:lstStyle/>
          <a:p>
            <a:endParaRPr lang="en-US"/>
          </a:p>
        </p:txBody>
      </p:sp>
      <p:sp>
        <p:nvSpPr>
          <p:cNvPr id="5" name="Text 3"/>
          <p:cNvSpPr/>
          <p:nvPr/>
        </p:nvSpPr>
        <p:spPr>
          <a:xfrm>
            <a:off x="868680" y="1565636"/>
            <a:ext cx="914400" cy="1280160"/>
          </a:xfrm>
          <a:prstGeom prst="rect">
            <a:avLst/>
          </a:prstGeom>
          <a:noFill/>
          <a:ln/>
        </p:spPr>
        <p:txBody>
          <a:bodyPr wrap="square" lIns="0" tIns="0" rIns="0" bIns="0" rtlCol="0" anchor="ctr"/>
          <a:lstStyle/>
          <a:p>
            <a:pPr marL="0" indent="0">
              <a:buNone/>
            </a:pPr>
            <a:r>
              <a:rPr lang="en-US" sz="6400" b="1" dirty="0">
                <a:solidFill>
                  <a:srgbClr val="06B6D4"/>
                </a:solidFill>
                <a:latin typeface="Georgia" pitchFamily="34" charset="0"/>
                <a:ea typeface="Georgia" pitchFamily="34" charset="-122"/>
                <a:cs typeface="Georgia" pitchFamily="34" charset="-120"/>
              </a:rPr>
              <a:t>1</a:t>
            </a:r>
            <a:endParaRPr lang="en-US" sz="6400" dirty="0"/>
          </a:p>
        </p:txBody>
      </p:sp>
      <p:sp>
        <p:nvSpPr>
          <p:cNvPr id="6" name="Text 4"/>
          <p:cNvSpPr/>
          <p:nvPr/>
        </p:nvSpPr>
        <p:spPr>
          <a:xfrm>
            <a:off x="1920240" y="1748516"/>
            <a:ext cx="3977640" cy="5486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What are we building?</a:t>
            </a:r>
            <a:endParaRPr lang="en-US" sz="2000" dirty="0"/>
          </a:p>
        </p:txBody>
      </p:sp>
      <p:sp>
        <p:nvSpPr>
          <p:cNvPr id="7" name="Text 5"/>
          <p:cNvSpPr/>
          <p:nvPr/>
        </p:nvSpPr>
        <p:spPr>
          <a:xfrm>
            <a:off x="1920240" y="2342876"/>
            <a:ext cx="3977640" cy="109728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Describe the system honestly. Diagram it. Be specific about data, trust, and authority.</a:t>
            </a:r>
            <a:endParaRPr lang="en-US" sz="1300" dirty="0"/>
          </a:p>
        </p:txBody>
      </p:sp>
      <p:sp>
        <p:nvSpPr>
          <p:cNvPr id="8" name="Shape 6">
            <a:extLst>
              <a:ext uri="{C183D7F6-B498-43B3-948B-1728B52AA6E4}">
                <adec:decorative xmlns:adec="http://schemas.microsoft.com/office/drawing/2017/decorative" val="1"/>
              </a:ext>
            </a:extLst>
          </p:cNvPr>
          <p:cNvSpPr/>
          <p:nvPr/>
        </p:nvSpPr>
        <p:spPr>
          <a:xfrm>
            <a:off x="6446520" y="1382756"/>
            <a:ext cx="5440680" cy="2194560"/>
          </a:xfrm>
          <a:prstGeom prst="rect">
            <a:avLst/>
          </a:prstGeom>
          <a:solidFill>
            <a:srgbClr val="F8FAFC"/>
          </a:solidFill>
          <a:ln w="12700">
            <a:solidFill>
              <a:srgbClr val="E2E8F0"/>
            </a:solidFill>
            <a:prstDash val="solid"/>
          </a:ln>
        </p:spPr>
        <p:txBody>
          <a:bodyPr/>
          <a:lstStyle/>
          <a:p>
            <a:endParaRPr lang="en-US"/>
          </a:p>
        </p:txBody>
      </p:sp>
      <p:sp>
        <p:nvSpPr>
          <p:cNvPr id="9" name="Text 7"/>
          <p:cNvSpPr/>
          <p:nvPr/>
        </p:nvSpPr>
        <p:spPr>
          <a:xfrm>
            <a:off x="6675120" y="1565636"/>
            <a:ext cx="914400" cy="1280160"/>
          </a:xfrm>
          <a:prstGeom prst="rect">
            <a:avLst/>
          </a:prstGeom>
          <a:noFill/>
          <a:ln/>
        </p:spPr>
        <p:txBody>
          <a:bodyPr wrap="square" lIns="0" tIns="0" rIns="0" bIns="0" rtlCol="0" anchor="ctr"/>
          <a:lstStyle/>
          <a:p>
            <a:pPr marL="0" indent="0">
              <a:buNone/>
            </a:pPr>
            <a:r>
              <a:rPr lang="en-US" sz="6400" b="1" dirty="0">
                <a:solidFill>
                  <a:srgbClr val="06B6D4"/>
                </a:solidFill>
                <a:latin typeface="Georgia" pitchFamily="34" charset="0"/>
                <a:ea typeface="Georgia" pitchFamily="34" charset="-122"/>
                <a:cs typeface="Georgia" pitchFamily="34" charset="-120"/>
              </a:rPr>
              <a:t>2</a:t>
            </a:r>
            <a:endParaRPr lang="en-US" sz="6400" dirty="0"/>
          </a:p>
        </p:txBody>
      </p:sp>
      <p:sp>
        <p:nvSpPr>
          <p:cNvPr id="10" name="Text 8"/>
          <p:cNvSpPr/>
          <p:nvPr/>
        </p:nvSpPr>
        <p:spPr>
          <a:xfrm>
            <a:off x="7726680" y="1748516"/>
            <a:ext cx="3977640" cy="5486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What can go wrong?</a:t>
            </a:r>
            <a:endParaRPr lang="en-US" sz="2000" dirty="0"/>
          </a:p>
        </p:txBody>
      </p:sp>
      <p:sp>
        <p:nvSpPr>
          <p:cNvPr id="11" name="Text 9"/>
          <p:cNvSpPr/>
          <p:nvPr/>
        </p:nvSpPr>
        <p:spPr>
          <a:xfrm>
            <a:off x="7726680" y="2342876"/>
            <a:ext cx="3977640" cy="109728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This is where frameworks live: STRIDE, PASTA, LINDDUN, MAESTRO. They’re prompts to make sure you don’t miss things.</a:t>
            </a:r>
            <a:endParaRPr lang="en-US" sz="1300" dirty="0"/>
          </a:p>
        </p:txBody>
      </p:sp>
      <p:sp>
        <p:nvSpPr>
          <p:cNvPr id="12" name="Shape 10">
            <a:extLst>
              <a:ext uri="{C183D7F6-B498-43B3-948B-1728B52AA6E4}">
                <adec:decorative xmlns:adec="http://schemas.microsoft.com/office/drawing/2017/decorative" val="1"/>
              </a:ext>
            </a:extLst>
          </p:cNvPr>
          <p:cNvSpPr/>
          <p:nvPr/>
        </p:nvSpPr>
        <p:spPr>
          <a:xfrm>
            <a:off x="640080" y="3851636"/>
            <a:ext cx="5440680" cy="2194560"/>
          </a:xfrm>
          <a:prstGeom prst="rect">
            <a:avLst/>
          </a:prstGeom>
          <a:solidFill>
            <a:srgbClr val="F8FAFC"/>
          </a:solidFill>
          <a:ln w="12700">
            <a:solidFill>
              <a:srgbClr val="E2E8F0"/>
            </a:solidFill>
            <a:prstDash val="solid"/>
          </a:ln>
        </p:spPr>
        <p:txBody>
          <a:bodyPr/>
          <a:lstStyle/>
          <a:p>
            <a:endParaRPr lang="en-US"/>
          </a:p>
        </p:txBody>
      </p:sp>
      <p:sp>
        <p:nvSpPr>
          <p:cNvPr id="13" name="Text 11"/>
          <p:cNvSpPr/>
          <p:nvPr/>
        </p:nvSpPr>
        <p:spPr>
          <a:xfrm>
            <a:off x="868680" y="4034516"/>
            <a:ext cx="914400" cy="1280160"/>
          </a:xfrm>
          <a:prstGeom prst="rect">
            <a:avLst/>
          </a:prstGeom>
          <a:noFill/>
          <a:ln/>
        </p:spPr>
        <p:txBody>
          <a:bodyPr wrap="square" lIns="0" tIns="0" rIns="0" bIns="0" rtlCol="0" anchor="ctr"/>
          <a:lstStyle/>
          <a:p>
            <a:pPr marL="0" indent="0">
              <a:buNone/>
            </a:pPr>
            <a:r>
              <a:rPr lang="en-US" sz="6400" b="1" dirty="0">
                <a:solidFill>
                  <a:srgbClr val="06B6D4"/>
                </a:solidFill>
                <a:latin typeface="Georgia" pitchFamily="34" charset="0"/>
                <a:ea typeface="Georgia" pitchFamily="34" charset="-122"/>
                <a:cs typeface="Georgia" pitchFamily="34" charset="-120"/>
              </a:rPr>
              <a:t>3</a:t>
            </a:r>
            <a:endParaRPr lang="en-US" sz="6400" dirty="0"/>
          </a:p>
        </p:txBody>
      </p:sp>
      <p:sp>
        <p:nvSpPr>
          <p:cNvPr id="14" name="Text 12"/>
          <p:cNvSpPr/>
          <p:nvPr/>
        </p:nvSpPr>
        <p:spPr>
          <a:xfrm>
            <a:off x="1920240" y="4217396"/>
            <a:ext cx="3977640" cy="5486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What are we doing about it?</a:t>
            </a:r>
            <a:endParaRPr lang="en-US" sz="2000" dirty="0"/>
          </a:p>
        </p:txBody>
      </p:sp>
      <p:sp>
        <p:nvSpPr>
          <p:cNvPr id="15" name="Text 13"/>
          <p:cNvSpPr/>
          <p:nvPr/>
        </p:nvSpPr>
        <p:spPr>
          <a:xfrm>
            <a:off x="1920240" y="4811756"/>
            <a:ext cx="3977640" cy="109728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Mitigations. Defense in depth. Compensating controls when you can’t fully fix something.</a:t>
            </a:r>
            <a:endParaRPr lang="en-US" sz="1300" dirty="0"/>
          </a:p>
        </p:txBody>
      </p:sp>
      <p:sp>
        <p:nvSpPr>
          <p:cNvPr id="16" name="Shape 14">
            <a:extLst>
              <a:ext uri="{C183D7F6-B498-43B3-948B-1728B52AA6E4}">
                <adec:decorative xmlns:adec="http://schemas.microsoft.com/office/drawing/2017/decorative" val="1"/>
              </a:ext>
            </a:extLst>
          </p:cNvPr>
          <p:cNvSpPr/>
          <p:nvPr/>
        </p:nvSpPr>
        <p:spPr>
          <a:xfrm>
            <a:off x="6446520" y="3851636"/>
            <a:ext cx="5440680" cy="2194560"/>
          </a:xfrm>
          <a:prstGeom prst="rect">
            <a:avLst/>
          </a:prstGeom>
          <a:solidFill>
            <a:srgbClr val="F8FAFC"/>
          </a:solidFill>
          <a:ln w="12700">
            <a:solidFill>
              <a:srgbClr val="E2E8F0"/>
            </a:solidFill>
            <a:prstDash val="solid"/>
          </a:ln>
        </p:spPr>
        <p:txBody>
          <a:bodyPr/>
          <a:lstStyle/>
          <a:p>
            <a:endParaRPr lang="en-US"/>
          </a:p>
        </p:txBody>
      </p:sp>
      <p:sp>
        <p:nvSpPr>
          <p:cNvPr id="17" name="Text 15"/>
          <p:cNvSpPr/>
          <p:nvPr/>
        </p:nvSpPr>
        <p:spPr>
          <a:xfrm>
            <a:off x="6675120" y="4034516"/>
            <a:ext cx="914400" cy="1280160"/>
          </a:xfrm>
          <a:prstGeom prst="rect">
            <a:avLst/>
          </a:prstGeom>
          <a:noFill/>
          <a:ln/>
        </p:spPr>
        <p:txBody>
          <a:bodyPr wrap="square" lIns="0" tIns="0" rIns="0" bIns="0" rtlCol="0" anchor="ctr"/>
          <a:lstStyle/>
          <a:p>
            <a:pPr marL="0" indent="0">
              <a:buNone/>
            </a:pPr>
            <a:r>
              <a:rPr lang="en-US" sz="6400" b="1" dirty="0">
                <a:solidFill>
                  <a:srgbClr val="06B6D4"/>
                </a:solidFill>
                <a:latin typeface="Georgia" pitchFamily="34" charset="0"/>
                <a:ea typeface="Georgia" pitchFamily="34" charset="-122"/>
                <a:cs typeface="Georgia" pitchFamily="34" charset="-120"/>
              </a:rPr>
              <a:t>4</a:t>
            </a:r>
            <a:endParaRPr lang="en-US" sz="6400" dirty="0"/>
          </a:p>
        </p:txBody>
      </p:sp>
      <p:sp>
        <p:nvSpPr>
          <p:cNvPr id="18" name="Text 16"/>
          <p:cNvSpPr/>
          <p:nvPr/>
        </p:nvSpPr>
        <p:spPr>
          <a:xfrm>
            <a:off x="7726680" y="4217396"/>
            <a:ext cx="3977640" cy="54864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Did we do a good job?</a:t>
            </a:r>
            <a:endParaRPr lang="en-US" sz="2000" dirty="0"/>
          </a:p>
        </p:txBody>
      </p:sp>
      <p:sp>
        <p:nvSpPr>
          <p:cNvPr id="19" name="Text 17"/>
          <p:cNvSpPr/>
          <p:nvPr/>
        </p:nvSpPr>
        <p:spPr>
          <a:xfrm>
            <a:off x="7726680" y="4811756"/>
            <a:ext cx="3977640" cy="109728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Validate. Test. Re-threat-model  on a cadence. Living document and a deliverable.</a:t>
            </a:r>
            <a:endParaRPr lang="en-US" sz="1300" dirty="0"/>
          </a:p>
        </p:txBody>
      </p:sp>
      <p:sp>
        <p:nvSpPr>
          <p:cNvPr id="20" name="Text 18"/>
          <p:cNvSpPr/>
          <p:nvPr/>
        </p:nvSpPr>
        <p:spPr>
          <a:xfrm>
            <a:off x="487680" y="6126480"/>
            <a:ext cx="10972800" cy="365760"/>
          </a:xfrm>
          <a:prstGeom prst="rect">
            <a:avLst/>
          </a:prstGeom>
          <a:noFill/>
          <a:ln/>
        </p:spPr>
        <p:txBody>
          <a:bodyPr wrap="square" rtlCol="0" anchor="ctr"/>
          <a:lstStyle/>
          <a:p>
            <a:pPr marL="0" indent="0" algn="ctr">
              <a:buNone/>
            </a:pPr>
            <a:r>
              <a:rPr lang="en-US" sz="2000" b="1" i="1" dirty="0">
                <a:solidFill>
                  <a:srgbClr val="F97066"/>
                </a:solidFill>
                <a:latin typeface="Calibri" pitchFamily="34" charset="0"/>
                <a:ea typeface="Calibri" pitchFamily="34" charset="-122"/>
                <a:cs typeface="Calibri" pitchFamily="34" charset="-120"/>
              </a:rPr>
              <a:t>Mistake #1: treat it as a check box.   Mistake #2: use a framework that doesn’t fit your system.</a:t>
            </a:r>
            <a:endParaRPr lang="en-US" sz="2000" b="1" dirty="0"/>
          </a:p>
        </p:txBody>
      </p:sp>
      <p:sp>
        <p:nvSpPr>
          <p:cNvPr id="22" name="Text 20"/>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3" name="TextBox 22"/>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8 / 43</a:t>
            </a:r>
          </a:p>
        </p:txBody>
      </p:sp>
    </p:spTree>
  </p:cSld>
  <p:clrMapOvr>
    <a:masterClrMapping/>
  </p:clrMapOvr>
  <mc:AlternateContent xmlns:mc="http://schemas.openxmlformats.org/markup-compatibility/2006">
    <mc:Choice xmlns:p14="http://schemas.microsoft.com/office/powerpoint/2010/main" Requires="p14">
      <p:transition spd="slow" p14:dur="2000" advTm="8436"/>
    </mc:Choice>
    <mc:Fallback>
      <p:transition spd="slow" advTm="843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731520"/>
          </a:xfrm>
          <a:prstGeom prst="rect">
            <a:avLst/>
          </a:prstGeom>
          <a:noFill/>
          <a:ln/>
        </p:spPr>
        <p:txBody>
          <a:bodyPr wrap="square" lIns="0" tIns="0" rIns="0" bIns="0" rtlCol="0" anchor="ctr"/>
          <a:lstStyle/>
          <a:p>
            <a:pPr marL="0" indent="0">
              <a:buNone/>
            </a:pPr>
            <a:r>
              <a:rPr lang="en-US" sz="4400" b="1" dirty="0">
                <a:solidFill>
                  <a:srgbClr val="1E293B"/>
                </a:solidFill>
                <a:latin typeface="Georgia" pitchFamily="34" charset="0"/>
                <a:ea typeface="Georgia" pitchFamily="34" charset="-122"/>
                <a:cs typeface="Georgia" pitchFamily="34" charset="-120"/>
              </a:rPr>
              <a:t>STRIDE</a:t>
            </a:r>
            <a:endParaRPr lang="en-US" sz="4400" dirty="0"/>
          </a:p>
        </p:txBody>
      </p:sp>
      <p:sp>
        <p:nvSpPr>
          <p:cNvPr id="3" name="Text 1"/>
          <p:cNvSpPr/>
          <p:nvPr/>
        </p:nvSpPr>
        <p:spPr>
          <a:xfrm>
            <a:off x="640080" y="1280160"/>
            <a:ext cx="10972800" cy="365760"/>
          </a:xfrm>
          <a:prstGeom prst="rect">
            <a:avLst/>
          </a:prstGeom>
          <a:noFill/>
          <a:ln/>
        </p:spPr>
        <p:txBody>
          <a:bodyPr wrap="square" lIns="0" tIns="0" rIns="0" bIns="0" rtlCol="0" anchor="ctr"/>
          <a:lstStyle/>
          <a:p>
            <a:pPr marL="0" indent="0">
              <a:buNone/>
            </a:pPr>
            <a:r>
              <a:rPr lang="en-US" i="1" dirty="0">
                <a:solidFill>
                  <a:srgbClr val="475569"/>
                </a:solidFill>
                <a:latin typeface="Calibri" pitchFamily="34" charset="0"/>
                <a:ea typeface="Calibri" pitchFamily="34" charset="-122"/>
                <a:cs typeface="Calibri" pitchFamily="34" charset="-120"/>
              </a:rPr>
              <a:t>Microsoft, 1999. Older than some engineers in this room.</a:t>
            </a:r>
            <a:endParaRPr lang="en-US" dirty="0"/>
          </a:p>
        </p:txBody>
      </p:sp>
      <p:sp>
        <p:nvSpPr>
          <p:cNvPr id="4" name="Shape 2">
            <a:extLst>
              <a:ext uri="{C183D7F6-B498-43B3-948B-1728B52AA6E4}">
                <adec:decorative xmlns:adec="http://schemas.microsoft.com/office/drawing/2017/decorative" val="1"/>
              </a:ext>
            </a:extLst>
          </p:cNvPr>
          <p:cNvSpPr/>
          <p:nvPr/>
        </p:nvSpPr>
        <p:spPr>
          <a:xfrm>
            <a:off x="502920" y="1828800"/>
            <a:ext cx="1783080" cy="4114800"/>
          </a:xfrm>
          <a:prstGeom prst="rect">
            <a:avLst/>
          </a:prstGeom>
          <a:solidFill>
            <a:srgbClr val="F8FAFC"/>
          </a:solidFill>
          <a:ln w="12700">
            <a:solidFill>
              <a:srgbClr val="E2E8F0"/>
            </a:solidFill>
            <a:prstDash val="solid"/>
          </a:ln>
        </p:spPr>
        <p:txBody>
          <a:bodyPr/>
          <a:lstStyle/>
          <a:p>
            <a:endParaRPr lang="en-US"/>
          </a:p>
        </p:txBody>
      </p:sp>
      <p:sp>
        <p:nvSpPr>
          <p:cNvPr id="5" name="Shape 3">
            <a:extLst>
              <a:ext uri="{C183D7F6-B498-43B3-948B-1728B52AA6E4}">
                <adec:decorative xmlns:adec="http://schemas.microsoft.com/office/drawing/2017/decorative" val="1"/>
              </a:ext>
            </a:extLst>
          </p:cNvPr>
          <p:cNvSpPr/>
          <p:nvPr/>
        </p:nvSpPr>
        <p:spPr>
          <a:xfrm>
            <a:off x="502920" y="1828800"/>
            <a:ext cx="1783080" cy="109728"/>
          </a:xfrm>
          <a:prstGeom prst="rect">
            <a:avLst/>
          </a:prstGeom>
          <a:solidFill>
            <a:srgbClr val="06B6D4"/>
          </a:solidFill>
          <a:ln/>
        </p:spPr>
        <p:txBody>
          <a:bodyPr/>
          <a:lstStyle/>
          <a:p>
            <a:endParaRPr lang="en-US"/>
          </a:p>
        </p:txBody>
      </p:sp>
      <p:sp>
        <p:nvSpPr>
          <p:cNvPr id="6" name="Text 4"/>
          <p:cNvSpPr/>
          <p:nvPr/>
        </p:nvSpPr>
        <p:spPr>
          <a:xfrm>
            <a:off x="502920" y="2057400"/>
            <a:ext cx="1783080" cy="1371600"/>
          </a:xfrm>
          <a:prstGeom prst="rect">
            <a:avLst/>
          </a:prstGeom>
          <a:noFill/>
          <a:ln/>
        </p:spPr>
        <p:txBody>
          <a:bodyPr wrap="square" lIns="0" tIns="0" rIns="0" bIns="0" rtlCol="0" anchor="ctr"/>
          <a:lstStyle/>
          <a:p>
            <a:pPr marL="0" indent="0" algn="ctr">
              <a:buNone/>
            </a:pPr>
            <a:r>
              <a:rPr lang="en-US" sz="9200" b="1" dirty="0">
                <a:solidFill>
                  <a:srgbClr val="06B6D4"/>
                </a:solidFill>
                <a:latin typeface="Georgia" pitchFamily="34" charset="0"/>
                <a:ea typeface="Georgia" pitchFamily="34" charset="-122"/>
                <a:cs typeface="Georgia" pitchFamily="34" charset="-120"/>
              </a:rPr>
              <a:t>S</a:t>
            </a:r>
            <a:endParaRPr lang="en-US" sz="9200" dirty="0"/>
          </a:p>
        </p:txBody>
      </p:sp>
      <p:sp>
        <p:nvSpPr>
          <p:cNvPr id="7" name="Text 5"/>
          <p:cNvSpPr/>
          <p:nvPr/>
        </p:nvSpPr>
        <p:spPr>
          <a:xfrm>
            <a:off x="548640" y="3520440"/>
            <a:ext cx="1691640" cy="640080"/>
          </a:xfrm>
          <a:prstGeom prst="rect">
            <a:avLst/>
          </a:prstGeom>
          <a:noFill/>
          <a:ln/>
        </p:spPr>
        <p:txBody>
          <a:bodyPr wrap="square" lIns="0" tIns="0" rIns="0" bIns="0" rtlCol="0" anchor="t"/>
          <a:lstStyle/>
          <a:p>
            <a:pPr marL="0" indent="0" algn="ctr">
              <a:buNone/>
            </a:pPr>
            <a:r>
              <a:rPr lang="en-US" b="1" dirty="0">
                <a:solidFill>
                  <a:srgbClr val="1E293B"/>
                </a:solidFill>
                <a:latin typeface="Calibri" pitchFamily="34" charset="0"/>
                <a:ea typeface="Calibri" pitchFamily="34" charset="-122"/>
                <a:cs typeface="Calibri" pitchFamily="34" charset="-120"/>
              </a:rPr>
              <a:t>Spoofing</a:t>
            </a:r>
            <a:endParaRPr lang="en-US" dirty="0"/>
          </a:p>
        </p:txBody>
      </p:sp>
      <p:sp>
        <p:nvSpPr>
          <p:cNvPr id="8" name="Text 6"/>
          <p:cNvSpPr/>
          <p:nvPr/>
        </p:nvSpPr>
        <p:spPr>
          <a:xfrm>
            <a:off x="594360" y="4160520"/>
            <a:ext cx="1600200" cy="1097280"/>
          </a:xfrm>
          <a:prstGeom prst="rect">
            <a:avLst/>
          </a:prstGeom>
          <a:noFill/>
          <a:ln/>
        </p:spPr>
        <p:txBody>
          <a:bodyPr wrap="square" lIns="0" tIns="0" rIns="0" bIns="0" rtlCol="0" anchor="t"/>
          <a:lstStyle/>
          <a:p>
            <a:pPr marL="0" indent="0" algn="ctr">
              <a:buNone/>
            </a:pPr>
            <a:r>
              <a:rPr lang="en-US" dirty="0">
                <a:solidFill>
                  <a:srgbClr val="475569"/>
                </a:solidFill>
                <a:latin typeface="Calibri" pitchFamily="34" charset="0"/>
                <a:ea typeface="Calibri" pitchFamily="34" charset="-122"/>
                <a:cs typeface="Calibri" pitchFamily="34" charset="-120"/>
              </a:rPr>
              <a:t>Pretending to be someone you’re not</a:t>
            </a:r>
            <a:endParaRPr lang="en-US" dirty="0"/>
          </a:p>
        </p:txBody>
      </p:sp>
      <p:sp>
        <p:nvSpPr>
          <p:cNvPr id="9" name="Text 7"/>
          <p:cNvSpPr/>
          <p:nvPr/>
        </p:nvSpPr>
        <p:spPr>
          <a:xfrm>
            <a:off x="594360" y="5257800"/>
            <a:ext cx="1600200" cy="228600"/>
          </a:xfrm>
          <a:prstGeom prst="rect">
            <a:avLst/>
          </a:prstGeom>
          <a:noFill/>
          <a:ln/>
        </p:spPr>
        <p:txBody>
          <a:bodyPr wrap="square" lIns="0" tIns="0" rIns="0" bIns="0" rtlCol="0" anchor="ctr"/>
          <a:lstStyle/>
          <a:p>
            <a:pPr marL="0" indent="0" algn="ctr">
              <a:buNone/>
            </a:pPr>
            <a:r>
              <a:rPr lang="en-US" sz="1600" i="1" dirty="0">
                <a:solidFill>
                  <a:srgbClr val="94A3B8"/>
                </a:solidFill>
                <a:latin typeface="Calibri" pitchFamily="34" charset="0"/>
                <a:ea typeface="Calibri" pitchFamily="34" charset="-122"/>
                <a:cs typeface="Calibri" pitchFamily="34" charset="-120"/>
              </a:rPr>
              <a:t>violates</a:t>
            </a:r>
            <a:endParaRPr lang="en-US" sz="1600" dirty="0"/>
          </a:p>
        </p:txBody>
      </p:sp>
      <p:sp>
        <p:nvSpPr>
          <p:cNvPr id="10" name="Text 8"/>
          <p:cNvSpPr/>
          <p:nvPr/>
        </p:nvSpPr>
        <p:spPr>
          <a:xfrm>
            <a:off x="594360" y="5486400"/>
            <a:ext cx="1600200" cy="365760"/>
          </a:xfrm>
          <a:prstGeom prst="rect">
            <a:avLst/>
          </a:prstGeom>
          <a:noFill/>
          <a:ln/>
        </p:spPr>
        <p:txBody>
          <a:bodyPr wrap="square" lIns="0" tIns="0" rIns="0" bIns="0" rtlCol="0" anchor="ctr"/>
          <a:lstStyle/>
          <a:p>
            <a:pPr marL="0" indent="0" algn="ctr">
              <a:buNone/>
            </a:pPr>
            <a:r>
              <a:rPr lang="en-US" b="1" dirty="0">
                <a:solidFill>
                  <a:srgbClr val="F97066"/>
                </a:solidFill>
                <a:latin typeface="Calibri" pitchFamily="34" charset="0"/>
                <a:ea typeface="Calibri" pitchFamily="34" charset="-122"/>
                <a:cs typeface="Calibri" pitchFamily="34" charset="-120"/>
              </a:rPr>
              <a:t>Authentication</a:t>
            </a:r>
            <a:endParaRPr lang="en-US" dirty="0"/>
          </a:p>
        </p:txBody>
      </p:sp>
      <p:sp>
        <p:nvSpPr>
          <p:cNvPr id="11" name="Shape 9">
            <a:extLst>
              <a:ext uri="{C183D7F6-B498-43B3-948B-1728B52AA6E4}">
                <adec:decorative xmlns:adec="http://schemas.microsoft.com/office/drawing/2017/decorative" val="1"/>
              </a:ext>
            </a:extLst>
          </p:cNvPr>
          <p:cNvSpPr/>
          <p:nvPr/>
        </p:nvSpPr>
        <p:spPr>
          <a:xfrm>
            <a:off x="2377440" y="1828800"/>
            <a:ext cx="1783080" cy="4114800"/>
          </a:xfrm>
          <a:prstGeom prst="rect">
            <a:avLst/>
          </a:prstGeom>
          <a:solidFill>
            <a:srgbClr val="F8FAFC"/>
          </a:solidFill>
          <a:ln w="12700">
            <a:solidFill>
              <a:srgbClr val="E2E8F0"/>
            </a:solidFill>
            <a:prstDash val="solid"/>
          </a:ln>
        </p:spPr>
        <p:txBody>
          <a:bodyPr/>
          <a:lstStyle/>
          <a:p>
            <a:endParaRPr lang="en-US"/>
          </a:p>
        </p:txBody>
      </p:sp>
      <p:sp>
        <p:nvSpPr>
          <p:cNvPr id="12" name="Shape 10">
            <a:extLst>
              <a:ext uri="{C183D7F6-B498-43B3-948B-1728B52AA6E4}">
                <adec:decorative xmlns:adec="http://schemas.microsoft.com/office/drawing/2017/decorative" val="1"/>
              </a:ext>
            </a:extLst>
          </p:cNvPr>
          <p:cNvSpPr/>
          <p:nvPr/>
        </p:nvSpPr>
        <p:spPr>
          <a:xfrm>
            <a:off x="2377440" y="1828800"/>
            <a:ext cx="1783080" cy="109728"/>
          </a:xfrm>
          <a:prstGeom prst="rect">
            <a:avLst/>
          </a:prstGeom>
          <a:solidFill>
            <a:srgbClr val="06B6D4"/>
          </a:solidFill>
          <a:ln/>
        </p:spPr>
        <p:txBody>
          <a:bodyPr/>
          <a:lstStyle/>
          <a:p>
            <a:endParaRPr lang="en-US"/>
          </a:p>
        </p:txBody>
      </p:sp>
      <p:sp>
        <p:nvSpPr>
          <p:cNvPr id="13" name="Text 11"/>
          <p:cNvSpPr/>
          <p:nvPr/>
        </p:nvSpPr>
        <p:spPr>
          <a:xfrm>
            <a:off x="2377440" y="2057400"/>
            <a:ext cx="1783080" cy="1371600"/>
          </a:xfrm>
          <a:prstGeom prst="rect">
            <a:avLst/>
          </a:prstGeom>
          <a:noFill/>
          <a:ln/>
        </p:spPr>
        <p:txBody>
          <a:bodyPr wrap="square" lIns="0" tIns="0" rIns="0" bIns="0" rtlCol="0" anchor="ctr"/>
          <a:lstStyle/>
          <a:p>
            <a:pPr marL="0" indent="0" algn="ctr">
              <a:buNone/>
            </a:pPr>
            <a:r>
              <a:rPr lang="en-US" sz="9200" b="1" dirty="0">
                <a:solidFill>
                  <a:srgbClr val="06B6D4"/>
                </a:solidFill>
                <a:latin typeface="Georgia" pitchFamily="34" charset="0"/>
                <a:ea typeface="Georgia" pitchFamily="34" charset="-122"/>
                <a:cs typeface="Georgia" pitchFamily="34" charset="-120"/>
              </a:rPr>
              <a:t>T</a:t>
            </a:r>
            <a:endParaRPr lang="en-US" sz="9200" dirty="0"/>
          </a:p>
        </p:txBody>
      </p:sp>
      <p:sp>
        <p:nvSpPr>
          <p:cNvPr id="14" name="Text 12"/>
          <p:cNvSpPr/>
          <p:nvPr/>
        </p:nvSpPr>
        <p:spPr>
          <a:xfrm>
            <a:off x="2423160" y="3520440"/>
            <a:ext cx="1691640" cy="640080"/>
          </a:xfrm>
          <a:prstGeom prst="rect">
            <a:avLst/>
          </a:prstGeom>
          <a:noFill/>
          <a:ln/>
        </p:spPr>
        <p:txBody>
          <a:bodyPr wrap="square" lIns="0" tIns="0" rIns="0" bIns="0" rtlCol="0" anchor="t"/>
          <a:lstStyle/>
          <a:p>
            <a:pPr marL="0" indent="0" algn="ctr">
              <a:buNone/>
            </a:pPr>
            <a:r>
              <a:rPr lang="en-US" b="1" dirty="0">
                <a:solidFill>
                  <a:srgbClr val="1E293B"/>
                </a:solidFill>
                <a:latin typeface="Calibri" pitchFamily="34" charset="0"/>
                <a:ea typeface="Calibri" pitchFamily="34" charset="-122"/>
                <a:cs typeface="Calibri" pitchFamily="34" charset="-120"/>
              </a:rPr>
              <a:t>Tampering</a:t>
            </a:r>
            <a:endParaRPr lang="en-US" dirty="0"/>
          </a:p>
        </p:txBody>
      </p:sp>
      <p:sp>
        <p:nvSpPr>
          <p:cNvPr id="15" name="Text 13"/>
          <p:cNvSpPr/>
          <p:nvPr/>
        </p:nvSpPr>
        <p:spPr>
          <a:xfrm>
            <a:off x="2468880" y="4160520"/>
            <a:ext cx="1600200" cy="1097280"/>
          </a:xfrm>
          <a:prstGeom prst="rect">
            <a:avLst/>
          </a:prstGeom>
          <a:noFill/>
          <a:ln/>
        </p:spPr>
        <p:txBody>
          <a:bodyPr wrap="square" lIns="0" tIns="0" rIns="0" bIns="0" rtlCol="0" anchor="t"/>
          <a:lstStyle/>
          <a:p>
            <a:pPr marL="0" indent="0" algn="ctr">
              <a:buNone/>
            </a:pPr>
            <a:r>
              <a:rPr lang="en-US" dirty="0">
                <a:solidFill>
                  <a:srgbClr val="475569"/>
                </a:solidFill>
                <a:latin typeface="Calibri" pitchFamily="34" charset="0"/>
                <a:ea typeface="Calibri" pitchFamily="34" charset="-122"/>
                <a:cs typeface="Calibri" pitchFamily="34" charset="-120"/>
              </a:rPr>
              <a:t>Modifying data you shouldn’t</a:t>
            </a:r>
            <a:endParaRPr lang="en-US" dirty="0"/>
          </a:p>
        </p:txBody>
      </p:sp>
      <p:sp>
        <p:nvSpPr>
          <p:cNvPr id="16" name="Text 14"/>
          <p:cNvSpPr/>
          <p:nvPr/>
        </p:nvSpPr>
        <p:spPr>
          <a:xfrm>
            <a:off x="2468880" y="5257800"/>
            <a:ext cx="1600200" cy="228600"/>
          </a:xfrm>
          <a:prstGeom prst="rect">
            <a:avLst/>
          </a:prstGeom>
          <a:noFill/>
          <a:ln/>
        </p:spPr>
        <p:txBody>
          <a:bodyPr wrap="square" lIns="0" tIns="0" rIns="0" bIns="0" rtlCol="0" anchor="ctr"/>
          <a:lstStyle/>
          <a:p>
            <a:pPr marL="0" indent="0" algn="ctr">
              <a:buNone/>
            </a:pPr>
            <a:r>
              <a:rPr lang="en-US" sz="1600" i="1" dirty="0">
                <a:solidFill>
                  <a:srgbClr val="94A3B8"/>
                </a:solidFill>
                <a:latin typeface="Calibri" pitchFamily="34" charset="0"/>
                <a:ea typeface="Calibri" pitchFamily="34" charset="-122"/>
                <a:cs typeface="Calibri" pitchFamily="34" charset="-120"/>
              </a:rPr>
              <a:t>violates</a:t>
            </a:r>
            <a:endParaRPr lang="en-US" sz="1600" dirty="0"/>
          </a:p>
        </p:txBody>
      </p:sp>
      <p:sp>
        <p:nvSpPr>
          <p:cNvPr id="17" name="Text 15"/>
          <p:cNvSpPr/>
          <p:nvPr/>
        </p:nvSpPr>
        <p:spPr>
          <a:xfrm>
            <a:off x="2468880" y="5486400"/>
            <a:ext cx="1600200" cy="365760"/>
          </a:xfrm>
          <a:prstGeom prst="rect">
            <a:avLst/>
          </a:prstGeom>
          <a:noFill/>
          <a:ln/>
        </p:spPr>
        <p:txBody>
          <a:bodyPr wrap="square" lIns="0" tIns="0" rIns="0" bIns="0" rtlCol="0" anchor="ctr"/>
          <a:lstStyle/>
          <a:p>
            <a:pPr marL="0" indent="0" algn="ctr">
              <a:buNone/>
            </a:pPr>
            <a:r>
              <a:rPr lang="en-US" b="1" dirty="0">
                <a:solidFill>
                  <a:srgbClr val="F97066"/>
                </a:solidFill>
                <a:latin typeface="Calibri" pitchFamily="34" charset="0"/>
                <a:ea typeface="Calibri" pitchFamily="34" charset="-122"/>
                <a:cs typeface="Calibri" pitchFamily="34" charset="-120"/>
              </a:rPr>
              <a:t>Integrity</a:t>
            </a:r>
            <a:endParaRPr lang="en-US" dirty="0"/>
          </a:p>
        </p:txBody>
      </p:sp>
      <p:sp>
        <p:nvSpPr>
          <p:cNvPr id="18" name="Shape 16">
            <a:extLst>
              <a:ext uri="{C183D7F6-B498-43B3-948B-1728B52AA6E4}">
                <adec:decorative xmlns:adec="http://schemas.microsoft.com/office/drawing/2017/decorative" val="1"/>
              </a:ext>
            </a:extLst>
          </p:cNvPr>
          <p:cNvSpPr/>
          <p:nvPr/>
        </p:nvSpPr>
        <p:spPr>
          <a:xfrm>
            <a:off x="4251960" y="1828800"/>
            <a:ext cx="1783080" cy="4114800"/>
          </a:xfrm>
          <a:prstGeom prst="rect">
            <a:avLst/>
          </a:prstGeom>
          <a:solidFill>
            <a:srgbClr val="F8FAFC"/>
          </a:solidFill>
          <a:ln w="12700">
            <a:solidFill>
              <a:srgbClr val="E2E8F0"/>
            </a:solidFill>
            <a:prstDash val="solid"/>
          </a:ln>
        </p:spPr>
        <p:txBody>
          <a:bodyPr/>
          <a:lstStyle/>
          <a:p>
            <a:endParaRPr lang="en-US"/>
          </a:p>
        </p:txBody>
      </p:sp>
      <p:sp>
        <p:nvSpPr>
          <p:cNvPr id="19" name="Shape 17">
            <a:extLst>
              <a:ext uri="{C183D7F6-B498-43B3-948B-1728B52AA6E4}">
                <adec:decorative xmlns:adec="http://schemas.microsoft.com/office/drawing/2017/decorative" val="1"/>
              </a:ext>
            </a:extLst>
          </p:cNvPr>
          <p:cNvSpPr/>
          <p:nvPr/>
        </p:nvSpPr>
        <p:spPr>
          <a:xfrm>
            <a:off x="4251960" y="1828800"/>
            <a:ext cx="1783080" cy="109728"/>
          </a:xfrm>
          <a:prstGeom prst="rect">
            <a:avLst/>
          </a:prstGeom>
          <a:solidFill>
            <a:srgbClr val="06B6D4"/>
          </a:solidFill>
          <a:ln/>
        </p:spPr>
        <p:txBody>
          <a:bodyPr/>
          <a:lstStyle/>
          <a:p>
            <a:endParaRPr lang="en-US"/>
          </a:p>
        </p:txBody>
      </p:sp>
      <p:sp>
        <p:nvSpPr>
          <p:cNvPr id="20" name="Text 18"/>
          <p:cNvSpPr/>
          <p:nvPr/>
        </p:nvSpPr>
        <p:spPr>
          <a:xfrm>
            <a:off x="4251960" y="2057400"/>
            <a:ext cx="1783080" cy="1371600"/>
          </a:xfrm>
          <a:prstGeom prst="rect">
            <a:avLst/>
          </a:prstGeom>
          <a:noFill/>
          <a:ln/>
        </p:spPr>
        <p:txBody>
          <a:bodyPr wrap="square" lIns="0" tIns="0" rIns="0" bIns="0" rtlCol="0" anchor="ctr"/>
          <a:lstStyle/>
          <a:p>
            <a:pPr marL="0" indent="0" algn="ctr">
              <a:buNone/>
            </a:pPr>
            <a:r>
              <a:rPr lang="en-US" sz="9200" b="1" dirty="0">
                <a:solidFill>
                  <a:srgbClr val="06B6D4"/>
                </a:solidFill>
                <a:latin typeface="Georgia" pitchFamily="34" charset="0"/>
                <a:ea typeface="Georgia" pitchFamily="34" charset="-122"/>
                <a:cs typeface="Georgia" pitchFamily="34" charset="-120"/>
              </a:rPr>
              <a:t>R</a:t>
            </a:r>
            <a:endParaRPr lang="en-US" sz="9200" dirty="0"/>
          </a:p>
        </p:txBody>
      </p:sp>
      <p:sp>
        <p:nvSpPr>
          <p:cNvPr id="21" name="Text 19"/>
          <p:cNvSpPr/>
          <p:nvPr/>
        </p:nvSpPr>
        <p:spPr>
          <a:xfrm>
            <a:off x="4297680" y="3520440"/>
            <a:ext cx="1691640" cy="640080"/>
          </a:xfrm>
          <a:prstGeom prst="rect">
            <a:avLst/>
          </a:prstGeom>
          <a:noFill/>
          <a:ln/>
        </p:spPr>
        <p:txBody>
          <a:bodyPr wrap="square" lIns="0" tIns="0" rIns="0" bIns="0" rtlCol="0" anchor="t"/>
          <a:lstStyle/>
          <a:p>
            <a:pPr marL="0" indent="0" algn="ctr">
              <a:buNone/>
            </a:pPr>
            <a:r>
              <a:rPr lang="en-US" b="1" dirty="0">
                <a:solidFill>
                  <a:srgbClr val="1E293B"/>
                </a:solidFill>
                <a:latin typeface="Calibri" pitchFamily="34" charset="0"/>
                <a:ea typeface="Calibri" pitchFamily="34" charset="-122"/>
                <a:cs typeface="Calibri" pitchFamily="34" charset="-120"/>
              </a:rPr>
              <a:t>Repudiation</a:t>
            </a:r>
            <a:endParaRPr lang="en-US" dirty="0"/>
          </a:p>
        </p:txBody>
      </p:sp>
      <p:sp>
        <p:nvSpPr>
          <p:cNvPr id="22" name="Text 20"/>
          <p:cNvSpPr/>
          <p:nvPr/>
        </p:nvSpPr>
        <p:spPr>
          <a:xfrm>
            <a:off x="4343400" y="4160520"/>
            <a:ext cx="1600200" cy="1097280"/>
          </a:xfrm>
          <a:prstGeom prst="rect">
            <a:avLst/>
          </a:prstGeom>
          <a:noFill/>
          <a:ln/>
        </p:spPr>
        <p:txBody>
          <a:bodyPr wrap="square" lIns="0" tIns="0" rIns="0" bIns="0" rtlCol="0" anchor="t"/>
          <a:lstStyle/>
          <a:p>
            <a:pPr marL="0" indent="0" algn="ctr">
              <a:buNone/>
            </a:pPr>
            <a:r>
              <a:rPr lang="en-US" dirty="0">
                <a:solidFill>
                  <a:srgbClr val="475569"/>
                </a:solidFill>
                <a:latin typeface="Calibri" pitchFamily="34" charset="0"/>
                <a:ea typeface="Calibri" pitchFamily="34" charset="-122"/>
                <a:cs typeface="Calibri" pitchFamily="34" charset="-120"/>
              </a:rPr>
              <a:t>Denying you did it, when you did</a:t>
            </a:r>
            <a:endParaRPr lang="en-US" dirty="0"/>
          </a:p>
        </p:txBody>
      </p:sp>
      <p:sp>
        <p:nvSpPr>
          <p:cNvPr id="23" name="Text 21"/>
          <p:cNvSpPr/>
          <p:nvPr/>
        </p:nvSpPr>
        <p:spPr>
          <a:xfrm>
            <a:off x="4343400" y="5257800"/>
            <a:ext cx="1600200" cy="228600"/>
          </a:xfrm>
          <a:prstGeom prst="rect">
            <a:avLst/>
          </a:prstGeom>
          <a:noFill/>
          <a:ln/>
        </p:spPr>
        <p:txBody>
          <a:bodyPr wrap="square" lIns="0" tIns="0" rIns="0" bIns="0" rtlCol="0" anchor="ctr"/>
          <a:lstStyle/>
          <a:p>
            <a:pPr marL="0" indent="0" algn="ctr">
              <a:buNone/>
            </a:pPr>
            <a:r>
              <a:rPr lang="en-US" sz="1600" i="1" dirty="0">
                <a:solidFill>
                  <a:srgbClr val="94A3B8"/>
                </a:solidFill>
                <a:latin typeface="Calibri" pitchFamily="34" charset="0"/>
                <a:ea typeface="Calibri" pitchFamily="34" charset="-122"/>
                <a:cs typeface="Calibri" pitchFamily="34" charset="-120"/>
              </a:rPr>
              <a:t>violates</a:t>
            </a:r>
            <a:endParaRPr lang="en-US" sz="1600" dirty="0"/>
          </a:p>
        </p:txBody>
      </p:sp>
      <p:sp>
        <p:nvSpPr>
          <p:cNvPr id="24" name="Text 22"/>
          <p:cNvSpPr/>
          <p:nvPr/>
        </p:nvSpPr>
        <p:spPr>
          <a:xfrm>
            <a:off x="4343400" y="5486400"/>
            <a:ext cx="1600200" cy="365760"/>
          </a:xfrm>
          <a:prstGeom prst="rect">
            <a:avLst/>
          </a:prstGeom>
          <a:noFill/>
          <a:ln/>
        </p:spPr>
        <p:txBody>
          <a:bodyPr wrap="square" lIns="0" tIns="0" rIns="0" bIns="0" rtlCol="0" anchor="ctr"/>
          <a:lstStyle/>
          <a:p>
            <a:pPr marL="0" indent="0" algn="ctr">
              <a:buNone/>
            </a:pPr>
            <a:r>
              <a:rPr lang="en-US" b="1" dirty="0">
                <a:solidFill>
                  <a:srgbClr val="F97066"/>
                </a:solidFill>
                <a:latin typeface="Calibri" pitchFamily="34" charset="0"/>
                <a:ea typeface="Calibri" pitchFamily="34" charset="-122"/>
                <a:cs typeface="Calibri" pitchFamily="34" charset="-120"/>
              </a:rPr>
              <a:t>Non-repudiation</a:t>
            </a:r>
            <a:endParaRPr lang="en-US" dirty="0"/>
          </a:p>
        </p:txBody>
      </p:sp>
      <p:sp>
        <p:nvSpPr>
          <p:cNvPr id="25" name="Shape 23">
            <a:extLst>
              <a:ext uri="{C183D7F6-B498-43B3-948B-1728B52AA6E4}">
                <adec:decorative xmlns:adec="http://schemas.microsoft.com/office/drawing/2017/decorative" val="1"/>
              </a:ext>
            </a:extLst>
          </p:cNvPr>
          <p:cNvSpPr/>
          <p:nvPr/>
        </p:nvSpPr>
        <p:spPr>
          <a:xfrm>
            <a:off x="6126480" y="1828800"/>
            <a:ext cx="1783080" cy="4114800"/>
          </a:xfrm>
          <a:prstGeom prst="rect">
            <a:avLst/>
          </a:prstGeom>
          <a:solidFill>
            <a:srgbClr val="F8FAFC"/>
          </a:solidFill>
          <a:ln w="12700">
            <a:solidFill>
              <a:srgbClr val="E2E8F0"/>
            </a:solidFill>
            <a:prstDash val="solid"/>
          </a:ln>
        </p:spPr>
        <p:txBody>
          <a:bodyPr/>
          <a:lstStyle/>
          <a:p>
            <a:endParaRPr lang="en-US"/>
          </a:p>
        </p:txBody>
      </p:sp>
      <p:sp>
        <p:nvSpPr>
          <p:cNvPr id="26" name="Shape 24">
            <a:extLst>
              <a:ext uri="{C183D7F6-B498-43B3-948B-1728B52AA6E4}">
                <adec:decorative xmlns:adec="http://schemas.microsoft.com/office/drawing/2017/decorative" val="1"/>
              </a:ext>
            </a:extLst>
          </p:cNvPr>
          <p:cNvSpPr/>
          <p:nvPr/>
        </p:nvSpPr>
        <p:spPr>
          <a:xfrm>
            <a:off x="6126480" y="1828800"/>
            <a:ext cx="1783080" cy="109728"/>
          </a:xfrm>
          <a:prstGeom prst="rect">
            <a:avLst/>
          </a:prstGeom>
          <a:solidFill>
            <a:srgbClr val="06B6D4"/>
          </a:solidFill>
          <a:ln/>
        </p:spPr>
        <p:txBody>
          <a:bodyPr/>
          <a:lstStyle/>
          <a:p>
            <a:endParaRPr lang="en-US"/>
          </a:p>
        </p:txBody>
      </p:sp>
      <p:sp>
        <p:nvSpPr>
          <p:cNvPr id="27" name="Text 25"/>
          <p:cNvSpPr/>
          <p:nvPr/>
        </p:nvSpPr>
        <p:spPr>
          <a:xfrm>
            <a:off x="6126480" y="2057400"/>
            <a:ext cx="1783080" cy="1371600"/>
          </a:xfrm>
          <a:prstGeom prst="rect">
            <a:avLst/>
          </a:prstGeom>
          <a:noFill/>
          <a:ln/>
        </p:spPr>
        <p:txBody>
          <a:bodyPr wrap="square" lIns="0" tIns="0" rIns="0" bIns="0" rtlCol="0" anchor="ctr"/>
          <a:lstStyle/>
          <a:p>
            <a:pPr marL="0" indent="0" algn="ctr">
              <a:buNone/>
            </a:pPr>
            <a:r>
              <a:rPr lang="en-US" sz="9200" b="1" dirty="0">
                <a:solidFill>
                  <a:srgbClr val="06B6D4"/>
                </a:solidFill>
                <a:latin typeface="Georgia" pitchFamily="34" charset="0"/>
                <a:ea typeface="Georgia" pitchFamily="34" charset="-122"/>
                <a:cs typeface="Georgia" pitchFamily="34" charset="-120"/>
              </a:rPr>
              <a:t>I</a:t>
            </a:r>
            <a:endParaRPr lang="en-US" sz="9200" dirty="0"/>
          </a:p>
        </p:txBody>
      </p:sp>
      <p:sp>
        <p:nvSpPr>
          <p:cNvPr id="28" name="Text 26"/>
          <p:cNvSpPr/>
          <p:nvPr/>
        </p:nvSpPr>
        <p:spPr>
          <a:xfrm>
            <a:off x="6172200" y="3520440"/>
            <a:ext cx="1691640" cy="640080"/>
          </a:xfrm>
          <a:prstGeom prst="rect">
            <a:avLst/>
          </a:prstGeom>
          <a:noFill/>
          <a:ln/>
        </p:spPr>
        <p:txBody>
          <a:bodyPr wrap="square" lIns="0" tIns="0" rIns="0" bIns="0" rtlCol="0" anchor="t"/>
          <a:lstStyle/>
          <a:p>
            <a:pPr marL="0" indent="0" algn="ctr">
              <a:buNone/>
            </a:pPr>
            <a:r>
              <a:rPr lang="en-US" b="1" dirty="0">
                <a:solidFill>
                  <a:srgbClr val="1E293B"/>
                </a:solidFill>
                <a:latin typeface="Calibri" pitchFamily="34" charset="0"/>
                <a:ea typeface="Calibri" pitchFamily="34" charset="-122"/>
                <a:cs typeface="Calibri" pitchFamily="34" charset="-120"/>
              </a:rPr>
              <a:t>Information Disclosure</a:t>
            </a:r>
            <a:endParaRPr lang="en-US" dirty="0"/>
          </a:p>
        </p:txBody>
      </p:sp>
      <p:sp>
        <p:nvSpPr>
          <p:cNvPr id="29" name="Text 27"/>
          <p:cNvSpPr/>
          <p:nvPr/>
        </p:nvSpPr>
        <p:spPr>
          <a:xfrm>
            <a:off x="6217920" y="4160520"/>
            <a:ext cx="1600200" cy="1097280"/>
          </a:xfrm>
          <a:prstGeom prst="rect">
            <a:avLst/>
          </a:prstGeom>
          <a:noFill/>
          <a:ln/>
        </p:spPr>
        <p:txBody>
          <a:bodyPr wrap="square" lIns="0" tIns="0" rIns="0" bIns="0" rtlCol="0" anchor="t"/>
          <a:lstStyle/>
          <a:p>
            <a:pPr marL="0" indent="0" algn="ctr">
              <a:buNone/>
            </a:pPr>
            <a:r>
              <a:rPr lang="en-US" dirty="0">
                <a:solidFill>
                  <a:srgbClr val="475569"/>
                </a:solidFill>
                <a:latin typeface="Calibri" pitchFamily="34" charset="0"/>
                <a:ea typeface="Calibri" pitchFamily="34" charset="-122"/>
                <a:cs typeface="Calibri" pitchFamily="34" charset="-120"/>
              </a:rPr>
              <a:t>Leaking data to the wrong audience</a:t>
            </a:r>
            <a:endParaRPr lang="en-US" dirty="0"/>
          </a:p>
        </p:txBody>
      </p:sp>
      <p:sp>
        <p:nvSpPr>
          <p:cNvPr id="30" name="Text 28"/>
          <p:cNvSpPr/>
          <p:nvPr/>
        </p:nvSpPr>
        <p:spPr>
          <a:xfrm>
            <a:off x="6217920" y="5257800"/>
            <a:ext cx="1600200" cy="228600"/>
          </a:xfrm>
          <a:prstGeom prst="rect">
            <a:avLst/>
          </a:prstGeom>
          <a:noFill/>
          <a:ln/>
        </p:spPr>
        <p:txBody>
          <a:bodyPr wrap="square" lIns="0" tIns="0" rIns="0" bIns="0" rtlCol="0" anchor="ctr"/>
          <a:lstStyle/>
          <a:p>
            <a:pPr marL="0" indent="0" algn="ctr">
              <a:buNone/>
            </a:pPr>
            <a:r>
              <a:rPr lang="en-US" sz="1600" i="1" dirty="0">
                <a:solidFill>
                  <a:srgbClr val="94A3B8"/>
                </a:solidFill>
                <a:latin typeface="Calibri" pitchFamily="34" charset="0"/>
                <a:ea typeface="Calibri" pitchFamily="34" charset="-122"/>
                <a:cs typeface="Calibri" pitchFamily="34" charset="-120"/>
              </a:rPr>
              <a:t>violates</a:t>
            </a:r>
            <a:endParaRPr lang="en-US" sz="1600" dirty="0"/>
          </a:p>
        </p:txBody>
      </p:sp>
      <p:sp>
        <p:nvSpPr>
          <p:cNvPr id="31" name="Text 29"/>
          <p:cNvSpPr/>
          <p:nvPr/>
        </p:nvSpPr>
        <p:spPr>
          <a:xfrm>
            <a:off x="6217920" y="5486400"/>
            <a:ext cx="1600200" cy="365760"/>
          </a:xfrm>
          <a:prstGeom prst="rect">
            <a:avLst/>
          </a:prstGeom>
          <a:noFill/>
          <a:ln/>
        </p:spPr>
        <p:txBody>
          <a:bodyPr wrap="square" lIns="0" tIns="0" rIns="0" bIns="0" rtlCol="0" anchor="ctr"/>
          <a:lstStyle/>
          <a:p>
            <a:pPr marL="0" indent="0" algn="ctr">
              <a:buNone/>
            </a:pPr>
            <a:r>
              <a:rPr lang="en-US" b="1" dirty="0">
                <a:solidFill>
                  <a:srgbClr val="F97066"/>
                </a:solidFill>
                <a:latin typeface="Calibri" pitchFamily="34" charset="0"/>
                <a:ea typeface="Calibri" pitchFamily="34" charset="-122"/>
                <a:cs typeface="Calibri" pitchFamily="34" charset="-120"/>
              </a:rPr>
              <a:t>Confidentiality</a:t>
            </a:r>
            <a:endParaRPr lang="en-US" dirty="0"/>
          </a:p>
        </p:txBody>
      </p:sp>
      <p:sp>
        <p:nvSpPr>
          <p:cNvPr id="32" name="Shape 30">
            <a:extLst>
              <a:ext uri="{C183D7F6-B498-43B3-948B-1728B52AA6E4}">
                <adec:decorative xmlns:adec="http://schemas.microsoft.com/office/drawing/2017/decorative" val="1"/>
              </a:ext>
            </a:extLst>
          </p:cNvPr>
          <p:cNvSpPr/>
          <p:nvPr/>
        </p:nvSpPr>
        <p:spPr>
          <a:xfrm>
            <a:off x="8001000" y="1828800"/>
            <a:ext cx="1783080" cy="4114800"/>
          </a:xfrm>
          <a:prstGeom prst="rect">
            <a:avLst/>
          </a:prstGeom>
          <a:solidFill>
            <a:srgbClr val="F8FAFC"/>
          </a:solidFill>
          <a:ln w="12700">
            <a:solidFill>
              <a:srgbClr val="E2E8F0"/>
            </a:solidFill>
            <a:prstDash val="solid"/>
          </a:ln>
        </p:spPr>
        <p:txBody>
          <a:bodyPr/>
          <a:lstStyle/>
          <a:p>
            <a:endParaRPr lang="en-US"/>
          </a:p>
        </p:txBody>
      </p:sp>
      <p:sp>
        <p:nvSpPr>
          <p:cNvPr id="33" name="Shape 31">
            <a:extLst>
              <a:ext uri="{C183D7F6-B498-43B3-948B-1728B52AA6E4}">
                <adec:decorative xmlns:adec="http://schemas.microsoft.com/office/drawing/2017/decorative" val="1"/>
              </a:ext>
            </a:extLst>
          </p:cNvPr>
          <p:cNvSpPr/>
          <p:nvPr/>
        </p:nvSpPr>
        <p:spPr>
          <a:xfrm>
            <a:off x="8001000" y="1828800"/>
            <a:ext cx="1783080" cy="109728"/>
          </a:xfrm>
          <a:prstGeom prst="rect">
            <a:avLst/>
          </a:prstGeom>
          <a:solidFill>
            <a:srgbClr val="06B6D4"/>
          </a:solidFill>
          <a:ln/>
        </p:spPr>
        <p:txBody>
          <a:bodyPr/>
          <a:lstStyle/>
          <a:p>
            <a:endParaRPr lang="en-US"/>
          </a:p>
        </p:txBody>
      </p:sp>
      <p:sp>
        <p:nvSpPr>
          <p:cNvPr id="34" name="Text 32"/>
          <p:cNvSpPr/>
          <p:nvPr/>
        </p:nvSpPr>
        <p:spPr>
          <a:xfrm>
            <a:off x="8001000" y="2057400"/>
            <a:ext cx="1783080" cy="1371600"/>
          </a:xfrm>
          <a:prstGeom prst="rect">
            <a:avLst/>
          </a:prstGeom>
          <a:noFill/>
          <a:ln/>
        </p:spPr>
        <p:txBody>
          <a:bodyPr wrap="square" lIns="0" tIns="0" rIns="0" bIns="0" rtlCol="0" anchor="ctr"/>
          <a:lstStyle/>
          <a:p>
            <a:pPr marL="0" indent="0" algn="ctr">
              <a:buNone/>
            </a:pPr>
            <a:r>
              <a:rPr lang="en-US" sz="9200" b="1" dirty="0">
                <a:solidFill>
                  <a:srgbClr val="06B6D4"/>
                </a:solidFill>
                <a:latin typeface="Georgia" pitchFamily="34" charset="0"/>
                <a:ea typeface="Georgia" pitchFamily="34" charset="-122"/>
                <a:cs typeface="Georgia" pitchFamily="34" charset="-120"/>
              </a:rPr>
              <a:t>D</a:t>
            </a:r>
            <a:endParaRPr lang="en-US" sz="9200" dirty="0"/>
          </a:p>
        </p:txBody>
      </p:sp>
      <p:sp>
        <p:nvSpPr>
          <p:cNvPr id="35" name="Text 33"/>
          <p:cNvSpPr/>
          <p:nvPr/>
        </p:nvSpPr>
        <p:spPr>
          <a:xfrm>
            <a:off x="8046720" y="3520440"/>
            <a:ext cx="1691640" cy="640080"/>
          </a:xfrm>
          <a:prstGeom prst="rect">
            <a:avLst/>
          </a:prstGeom>
          <a:noFill/>
          <a:ln/>
        </p:spPr>
        <p:txBody>
          <a:bodyPr wrap="square" lIns="0" tIns="0" rIns="0" bIns="0" rtlCol="0" anchor="t"/>
          <a:lstStyle/>
          <a:p>
            <a:pPr marL="0" indent="0" algn="ctr">
              <a:buNone/>
            </a:pPr>
            <a:r>
              <a:rPr lang="en-US" b="1" dirty="0">
                <a:solidFill>
                  <a:srgbClr val="1E293B"/>
                </a:solidFill>
                <a:latin typeface="Calibri" pitchFamily="34" charset="0"/>
                <a:ea typeface="Calibri" pitchFamily="34" charset="-122"/>
                <a:cs typeface="Calibri" pitchFamily="34" charset="-120"/>
              </a:rPr>
              <a:t>Denial of Service</a:t>
            </a:r>
            <a:endParaRPr lang="en-US" dirty="0"/>
          </a:p>
        </p:txBody>
      </p:sp>
      <p:sp>
        <p:nvSpPr>
          <p:cNvPr id="36" name="Text 34"/>
          <p:cNvSpPr/>
          <p:nvPr/>
        </p:nvSpPr>
        <p:spPr>
          <a:xfrm>
            <a:off x="8092440" y="4160520"/>
            <a:ext cx="1600200" cy="1097280"/>
          </a:xfrm>
          <a:prstGeom prst="rect">
            <a:avLst/>
          </a:prstGeom>
          <a:noFill/>
          <a:ln/>
        </p:spPr>
        <p:txBody>
          <a:bodyPr wrap="square" lIns="0" tIns="0" rIns="0" bIns="0" rtlCol="0" anchor="t"/>
          <a:lstStyle/>
          <a:p>
            <a:pPr marL="0" indent="0" algn="ctr">
              <a:buNone/>
            </a:pPr>
            <a:r>
              <a:rPr lang="en-US" dirty="0">
                <a:solidFill>
                  <a:srgbClr val="475569"/>
                </a:solidFill>
                <a:latin typeface="Calibri" pitchFamily="34" charset="0"/>
                <a:ea typeface="Calibri" pitchFamily="34" charset="-122"/>
                <a:cs typeface="Calibri" pitchFamily="34" charset="-120"/>
              </a:rPr>
              <a:t>Making the system unavailable</a:t>
            </a:r>
            <a:endParaRPr lang="en-US" dirty="0"/>
          </a:p>
        </p:txBody>
      </p:sp>
      <p:sp>
        <p:nvSpPr>
          <p:cNvPr id="37" name="Text 35"/>
          <p:cNvSpPr/>
          <p:nvPr/>
        </p:nvSpPr>
        <p:spPr>
          <a:xfrm>
            <a:off x="8092440" y="5257800"/>
            <a:ext cx="1600200" cy="228600"/>
          </a:xfrm>
          <a:prstGeom prst="rect">
            <a:avLst/>
          </a:prstGeom>
          <a:noFill/>
          <a:ln/>
        </p:spPr>
        <p:txBody>
          <a:bodyPr wrap="square" lIns="0" tIns="0" rIns="0" bIns="0" rtlCol="0" anchor="ctr"/>
          <a:lstStyle/>
          <a:p>
            <a:pPr marL="0" indent="0" algn="ctr">
              <a:buNone/>
            </a:pPr>
            <a:r>
              <a:rPr lang="en-US" sz="1600" i="1" dirty="0">
                <a:solidFill>
                  <a:srgbClr val="94A3B8"/>
                </a:solidFill>
                <a:latin typeface="Calibri" pitchFamily="34" charset="0"/>
                <a:ea typeface="Calibri" pitchFamily="34" charset="-122"/>
                <a:cs typeface="Calibri" pitchFamily="34" charset="-120"/>
              </a:rPr>
              <a:t>violates</a:t>
            </a:r>
            <a:endParaRPr lang="en-US" sz="1600" dirty="0"/>
          </a:p>
        </p:txBody>
      </p:sp>
      <p:sp>
        <p:nvSpPr>
          <p:cNvPr id="38" name="Text 36"/>
          <p:cNvSpPr/>
          <p:nvPr/>
        </p:nvSpPr>
        <p:spPr>
          <a:xfrm>
            <a:off x="8092440" y="5486400"/>
            <a:ext cx="1600200" cy="365760"/>
          </a:xfrm>
          <a:prstGeom prst="rect">
            <a:avLst/>
          </a:prstGeom>
          <a:noFill/>
          <a:ln/>
        </p:spPr>
        <p:txBody>
          <a:bodyPr wrap="square" lIns="0" tIns="0" rIns="0" bIns="0" rtlCol="0" anchor="ctr"/>
          <a:lstStyle/>
          <a:p>
            <a:pPr marL="0" indent="0" algn="ctr">
              <a:buNone/>
            </a:pPr>
            <a:r>
              <a:rPr lang="en-US" b="1" dirty="0">
                <a:solidFill>
                  <a:srgbClr val="F97066"/>
                </a:solidFill>
                <a:latin typeface="Calibri" pitchFamily="34" charset="0"/>
                <a:ea typeface="Calibri" pitchFamily="34" charset="-122"/>
                <a:cs typeface="Calibri" pitchFamily="34" charset="-120"/>
              </a:rPr>
              <a:t>Availability</a:t>
            </a:r>
            <a:endParaRPr lang="en-US" dirty="0"/>
          </a:p>
        </p:txBody>
      </p:sp>
      <p:sp>
        <p:nvSpPr>
          <p:cNvPr id="39" name="Shape 37">
            <a:extLst>
              <a:ext uri="{C183D7F6-B498-43B3-948B-1728B52AA6E4}">
                <adec:decorative xmlns:adec="http://schemas.microsoft.com/office/drawing/2017/decorative" val="1"/>
              </a:ext>
            </a:extLst>
          </p:cNvPr>
          <p:cNvSpPr/>
          <p:nvPr/>
        </p:nvSpPr>
        <p:spPr>
          <a:xfrm>
            <a:off x="9875520" y="1828800"/>
            <a:ext cx="1783080" cy="4114800"/>
          </a:xfrm>
          <a:prstGeom prst="rect">
            <a:avLst/>
          </a:prstGeom>
          <a:solidFill>
            <a:srgbClr val="F8FAFC"/>
          </a:solidFill>
          <a:ln w="12700">
            <a:solidFill>
              <a:srgbClr val="E2E8F0"/>
            </a:solidFill>
            <a:prstDash val="solid"/>
          </a:ln>
        </p:spPr>
        <p:txBody>
          <a:bodyPr/>
          <a:lstStyle/>
          <a:p>
            <a:endParaRPr lang="en-US"/>
          </a:p>
        </p:txBody>
      </p:sp>
      <p:sp>
        <p:nvSpPr>
          <p:cNvPr id="40" name="Shape 38">
            <a:extLst>
              <a:ext uri="{C183D7F6-B498-43B3-948B-1728B52AA6E4}">
                <adec:decorative xmlns:adec="http://schemas.microsoft.com/office/drawing/2017/decorative" val="1"/>
              </a:ext>
            </a:extLst>
          </p:cNvPr>
          <p:cNvSpPr/>
          <p:nvPr/>
        </p:nvSpPr>
        <p:spPr>
          <a:xfrm>
            <a:off x="9875520" y="1828800"/>
            <a:ext cx="1783080" cy="109728"/>
          </a:xfrm>
          <a:prstGeom prst="rect">
            <a:avLst/>
          </a:prstGeom>
          <a:solidFill>
            <a:srgbClr val="06B6D4"/>
          </a:solidFill>
          <a:ln/>
        </p:spPr>
        <p:txBody>
          <a:bodyPr/>
          <a:lstStyle/>
          <a:p>
            <a:endParaRPr lang="en-US"/>
          </a:p>
        </p:txBody>
      </p:sp>
      <p:sp>
        <p:nvSpPr>
          <p:cNvPr id="41" name="Text 39"/>
          <p:cNvSpPr/>
          <p:nvPr/>
        </p:nvSpPr>
        <p:spPr>
          <a:xfrm>
            <a:off x="9875520" y="2057400"/>
            <a:ext cx="1783080" cy="1371600"/>
          </a:xfrm>
          <a:prstGeom prst="rect">
            <a:avLst/>
          </a:prstGeom>
          <a:noFill/>
          <a:ln/>
        </p:spPr>
        <p:txBody>
          <a:bodyPr wrap="square" lIns="0" tIns="0" rIns="0" bIns="0" rtlCol="0" anchor="ctr"/>
          <a:lstStyle/>
          <a:p>
            <a:pPr marL="0" indent="0" algn="ctr">
              <a:buNone/>
            </a:pPr>
            <a:r>
              <a:rPr lang="en-US" sz="9200" b="1" dirty="0">
                <a:solidFill>
                  <a:srgbClr val="06B6D4"/>
                </a:solidFill>
                <a:latin typeface="Georgia" pitchFamily="34" charset="0"/>
                <a:ea typeface="Georgia" pitchFamily="34" charset="-122"/>
                <a:cs typeface="Georgia" pitchFamily="34" charset="-120"/>
              </a:rPr>
              <a:t>E</a:t>
            </a:r>
            <a:endParaRPr lang="en-US" sz="9200" dirty="0"/>
          </a:p>
        </p:txBody>
      </p:sp>
      <p:sp>
        <p:nvSpPr>
          <p:cNvPr id="42" name="Text 40"/>
          <p:cNvSpPr/>
          <p:nvPr/>
        </p:nvSpPr>
        <p:spPr>
          <a:xfrm>
            <a:off x="9921240" y="3520440"/>
            <a:ext cx="1691640" cy="640080"/>
          </a:xfrm>
          <a:prstGeom prst="rect">
            <a:avLst/>
          </a:prstGeom>
          <a:noFill/>
          <a:ln/>
        </p:spPr>
        <p:txBody>
          <a:bodyPr wrap="square" lIns="0" tIns="0" rIns="0" bIns="0" rtlCol="0" anchor="t"/>
          <a:lstStyle/>
          <a:p>
            <a:pPr marL="0" indent="0" algn="ctr">
              <a:buNone/>
            </a:pPr>
            <a:r>
              <a:rPr lang="en-US" b="1" dirty="0">
                <a:solidFill>
                  <a:srgbClr val="1E293B"/>
                </a:solidFill>
                <a:latin typeface="Calibri" pitchFamily="34" charset="0"/>
                <a:ea typeface="Calibri" pitchFamily="34" charset="-122"/>
                <a:cs typeface="Calibri" pitchFamily="34" charset="-120"/>
              </a:rPr>
              <a:t>Elevation of Privilege</a:t>
            </a:r>
            <a:endParaRPr lang="en-US" dirty="0"/>
          </a:p>
        </p:txBody>
      </p:sp>
      <p:sp>
        <p:nvSpPr>
          <p:cNvPr id="43" name="Text 41"/>
          <p:cNvSpPr/>
          <p:nvPr/>
        </p:nvSpPr>
        <p:spPr>
          <a:xfrm>
            <a:off x="9966960" y="4160520"/>
            <a:ext cx="1600200" cy="1097280"/>
          </a:xfrm>
          <a:prstGeom prst="rect">
            <a:avLst/>
          </a:prstGeom>
          <a:noFill/>
          <a:ln/>
        </p:spPr>
        <p:txBody>
          <a:bodyPr wrap="square" lIns="0" tIns="0" rIns="0" bIns="0" rtlCol="0" anchor="t"/>
          <a:lstStyle/>
          <a:p>
            <a:pPr marL="0" indent="0" algn="ctr">
              <a:buNone/>
            </a:pPr>
            <a:r>
              <a:rPr lang="en-US" dirty="0">
                <a:solidFill>
                  <a:srgbClr val="475569"/>
                </a:solidFill>
                <a:latin typeface="Calibri" pitchFamily="34" charset="0"/>
                <a:ea typeface="Calibri" pitchFamily="34" charset="-122"/>
                <a:cs typeface="Calibri" pitchFamily="34" charset="-120"/>
              </a:rPr>
              <a:t>Getting more access than you should</a:t>
            </a:r>
            <a:endParaRPr lang="en-US" dirty="0"/>
          </a:p>
        </p:txBody>
      </p:sp>
      <p:sp>
        <p:nvSpPr>
          <p:cNvPr id="44" name="Text 42"/>
          <p:cNvSpPr/>
          <p:nvPr/>
        </p:nvSpPr>
        <p:spPr>
          <a:xfrm>
            <a:off x="9966960" y="5257800"/>
            <a:ext cx="1600200" cy="228600"/>
          </a:xfrm>
          <a:prstGeom prst="rect">
            <a:avLst/>
          </a:prstGeom>
          <a:noFill/>
          <a:ln/>
        </p:spPr>
        <p:txBody>
          <a:bodyPr wrap="square" lIns="0" tIns="0" rIns="0" bIns="0" rtlCol="0" anchor="ctr"/>
          <a:lstStyle/>
          <a:p>
            <a:pPr marL="0" indent="0" algn="ctr">
              <a:buNone/>
            </a:pPr>
            <a:r>
              <a:rPr lang="en-US" sz="1600" i="1" dirty="0">
                <a:solidFill>
                  <a:srgbClr val="94A3B8"/>
                </a:solidFill>
                <a:latin typeface="Calibri" pitchFamily="34" charset="0"/>
                <a:ea typeface="Calibri" pitchFamily="34" charset="-122"/>
                <a:cs typeface="Calibri" pitchFamily="34" charset="-120"/>
              </a:rPr>
              <a:t>violates</a:t>
            </a:r>
            <a:endParaRPr lang="en-US" sz="1600" dirty="0"/>
          </a:p>
        </p:txBody>
      </p:sp>
      <p:sp>
        <p:nvSpPr>
          <p:cNvPr id="45" name="Text 43"/>
          <p:cNvSpPr/>
          <p:nvPr/>
        </p:nvSpPr>
        <p:spPr>
          <a:xfrm>
            <a:off x="9966960" y="5486400"/>
            <a:ext cx="1600200" cy="365760"/>
          </a:xfrm>
          <a:prstGeom prst="rect">
            <a:avLst/>
          </a:prstGeom>
          <a:noFill/>
          <a:ln/>
        </p:spPr>
        <p:txBody>
          <a:bodyPr wrap="square" lIns="0" tIns="0" rIns="0" bIns="0" rtlCol="0" anchor="ctr"/>
          <a:lstStyle/>
          <a:p>
            <a:pPr marL="0" indent="0" algn="ctr">
              <a:buNone/>
            </a:pPr>
            <a:r>
              <a:rPr lang="en-US" b="1" dirty="0">
                <a:solidFill>
                  <a:srgbClr val="F97066"/>
                </a:solidFill>
                <a:latin typeface="Calibri" pitchFamily="34" charset="0"/>
                <a:ea typeface="Calibri" pitchFamily="34" charset="-122"/>
                <a:cs typeface="Calibri" pitchFamily="34" charset="-120"/>
              </a:rPr>
              <a:t>Authorization</a:t>
            </a:r>
            <a:endParaRPr lang="en-US" dirty="0"/>
          </a:p>
        </p:txBody>
      </p:sp>
      <p:sp>
        <p:nvSpPr>
          <p:cNvPr id="48" name="Text 46"/>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49" name="TextBox 48"/>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9 / 43</a:t>
            </a:r>
          </a:p>
        </p:txBody>
      </p:sp>
      <p:sp>
        <p:nvSpPr>
          <p:cNvPr id="46" name="5-Point Star 45">
            <a:extLst>
              <a:ext uri="{FF2B5EF4-FFF2-40B4-BE49-F238E27FC236}">
                <a16:creationId xmlns:a16="http://schemas.microsoft.com/office/drawing/2014/main" id="{2DCE0077-0D4C-D06E-52A0-BB578C219D88}"/>
              </a:ext>
            </a:extLst>
          </p:cNvPr>
          <p:cNvSpPr/>
          <p:nvPr/>
        </p:nvSpPr>
        <p:spPr>
          <a:xfrm>
            <a:off x="1783080" y="2057400"/>
            <a:ext cx="411480" cy="490654"/>
          </a:xfrm>
          <a:prstGeom prst="star5">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5-Point Star 46">
            <a:extLst>
              <a:ext uri="{FF2B5EF4-FFF2-40B4-BE49-F238E27FC236}">
                <a16:creationId xmlns:a16="http://schemas.microsoft.com/office/drawing/2014/main" id="{6E835F81-7371-AD3A-6950-1624DFE034C8}"/>
              </a:ext>
            </a:extLst>
          </p:cNvPr>
          <p:cNvSpPr/>
          <p:nvPr/>
        </p:nvSpPr>
        <p:spPr>
          <a:xfrm>
            <a:off x="3623310" y="2040673"/>
            <a:ext cx="411480" cy="490654"/>
          </a:xfrm>
          <a:prstGeom prst="star5">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5-Point Star 49">
            <a:extLst>
              <a:ext uri="{FF2B5EF4-FFF2-40B4-BE49-F238E27FC236}">
                <a16:creationId xmlns:a16="http://schemas.microsoft.com/office/drawing/2014/main" id="{3736B76F-8968-B470-8454-CA5B6A6F47EE}"/>
              </a:ext>
            </a:extLst>
          </p:cNvPr>
          <p:cNvSpPr/>
          <p:nvPr/>
        </p:nvSpPr>
        <p:spPr>
          <a:xfrm>
            <a:off x="9281160" y="2044439"/>
            <a:ext cx="411480" cy="490654"/>
          </a:xfrm>
          <a:prstGeom prst="star5">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5-Point Star 50">
            <a:extLst>
              <a:ext uri="{FF2B5EF4-FFF2-40B4-BE49-F238E27FC236}">
                <a16:creationId xmlns:a16="http://schemas.microsoft.com/office/drawing/2014/main" id="{D1D9C891-D69D-C634-8A21-EC7E64870E76}"/>
              </a:ext>
            </a:extLst>
          </p:cNvPr>
          <p:cNvSpPr/>
          <p:nvPr/>
        </p:nvSpPr>
        <p:spPr>
          <a:xfrm>
            <a:off x="7338060" y="2025050"/>
            <a:ext cx="411480" cy="490654"/>
          </a:xfrm>
          <a:prstGeom prst="star5">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Shape 18">
            <a:extLst>
              <a:ext uri="{FF2B5EF4-FFF2-40B4-BE49-F238E27FC236}">
                <a16:creationId xmlns:a16="http://schemas.microsoft.com/office/drawing/2014/main" id="{C8B24AEC-C8B2-8D22-52EB-741D8858B822}"/>
              </a:ext>
              <a:ext uri="{C183D7F6-B498-43B3-948B-1728B52AA6E4}">
                <adec:decorative xmlns:adec="http://schemas.microsoft.com/office/drawing/2017/decorative" val="1"/>
              </a:ext>
            </a:extLst>
          </p:cNvPr>
          <p:cNvSpPr/>
          <p:nvPr/>
        </p:nvSpPr>
        <p:spPr>
          <a:xfrm>
            <a:off x="502920" y="6058279"/>
            <a:ext cx="11155680" cy="433962"/>
          </a:xfrm>
          <a:prstGeom prst="rect">
            <a:avLst/>
          </a:prstGeom>
          <a:solidFill>
            <a:srgbClr val="F8FAFC"/>
          </a:solidFill>
          <a:ln w="25400">
            <a:solidFill>
              <a:srgbClr val="F0B429"/>
            </a:solidFill>
            <a:prstDash val="solid"/>
          </a:ln>
        </p:spPr>
        <p:txBody>
          <a:bodyPr/>
          <a:lstStyle/>
          <a:p>
            <a:pPr algn="ctr"/>
            <a:r>
              <a:rPr lang="en-US" b="1" i="1" dirty="0">
                <a:solidFill>
                  <a:srgbClr val="1E293B"/>
                </a:solidFill>
                <a:latin typeface="Calibri" pitchFamily="34" charset="0"/>
                <a:ea typeface="Calibri" pitchFamily="34" charset="-122"/>
                <a:cs typeface="Calibri" pitchFamily="34" charset="-120"/>
              </a:rPr>
              <a:t>STRIDE isn’t wrong. It’s incomplete. Bringing a knife to a gun fight.</a:t>
            </a:r>
            <a:endParaRPr lang="en-US" dirty="0"/>
          </a:p>
          <a:p>
            <a:pPr algn="ct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48008"/>
    </mc:Choice>
    <mc:Fallback>
      <p:transition spd="slow" advTm="4800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30854-829D-240D-3D50-1485E3B1E3C8}"/>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DABB5DBA-DBE7-17BC-624F-5E5367829426}"/>
              </a:ext>
            </a:extLst>
          </p:cNvPr>
          <p:cNvSpPr/>
          <p:nvPr/>
        </p:nvSpPr>
        <p:spPr>
          <a:xfrm>
            <a:off x="640080" y="1188720"/>
            <a:ext cx="10972800" cy="457200"/>
          </a:xfrm>
          <a:prstGeom prst="rect">
            <a:avLst/>
          </a:prstGeom>
          <a:noFill/>
          <a:ln/>
        </p:spPr>
        <p:txBody>
          <a:bodyPr wrap="square" lIns="0" tIns="0" rIns="0" bIns="0" rtlCol="0" anchor="ctr"/>
          <a:lstStyle/>
          <a:p>
            <a:pPr marL="0" indent="0">
              <a:buNone/>
            </a:pPr>
            <a:endParaRPr lang="en-US" dirty="0"/>
          </a:p>
        </p:txBody>
      </p:sp>
      <p:sp>
        <p:nvSpPr>
          <p:cNvPr id="4" name="Shape 2">
            <a:extLst>
              <a:ext uri="{FF2B5EF4-FFF2-40B4-BE49-F238E27FC236}">
                <a16:creationId xmlns:a16="http://schemas.microsoft.com/office/drawing/2014/main" id="{F27C0702-B4CC-244C-542C-BD7FEFDD3B75}"/>
              </a:ext>
              <a:ext uri="{C183D7F6-B498-43B3-948B-1728B52AA6E4}">
                <adec:decorative xmlns:adec="http://schemas.microsoft.com/office/drawing/2017/decorative" val="1"/>
              </a:ext>
            </a:extLst>
          </p:cNvPr>
          <p:cNvSpPr/>
          <p:nvPr/>
        </p:nvSpPr>
        <p:spPr>
          <a:xfrm>
            <a:off x="822960" y="513080"/>
            <a:ext cx="777240" cy="777240"/>
          </a:xfrm>
          <a:prstGeom prst="ellipse">
            <a:avLst/>
          </a:prstGeom>
          <a:solidFill>
            <a:srgbClr val="06B6D4"/>
          </a:solidFill>
          <a:ln/>
        </p:spPr>
        <p:txBody>
          <a:bodyPr/>
          <a:lstStyle/>
          <a:p>
            <a:endParaRPr lang="en-US" dirty="0"/>
          </a:p>
        </p:txBody>
      </p:sp>
      <p:sp>
        <p:nvSpPr>
          <p:cNvPr id="5" name="Text 3">
            <a:extLst>
              <a:ext uri="{FF2B5EF4-FFF2-40B4-BE49-F238E27FC236}">
                <a16:creationId xmlns:a16="http://schemas.microsoft.com/office/drawing/2014/main" id="{F10DC36E-B316-6475-1B3C-700B91165D6F}"/>
              </a:ext>
            </a:extLst>
          </p:cNvPr>
          <p:cNvSpPr/>
          <p:nvPr/>
        </p:nvSpPr>
        <p:spPr>
          <a:xfrm>
            <a:off x="822960" y="1965960"/>
            <a:ext cx="777240" cy="777240"/>
          </a:xfrm>
          <a:prstGeom prst="rect">
            <a:avLst/>
          </a:prstGeom>
          <a:noFill/>
          <a:ln/>
        </p:spPr>
        <p:txBody>
          <a:bodyPr wrap="square" lIns="0" tIns="0" rIns="0" bIns="0" rtlCol="0" anchor="ctr"/>
          <a:lstStyle/>
          <a:p>
            <a:pPr marL="0" indent="0" algn="ctr">
              <a:buNone/>
            </a:pPr>
            <a:endParaRPr lang="en-US" sz="3000" dirty="0"/>
          </a:p>
        </p:txBody>
      </p:sp>
      <p:sp>
        <p:nvSpPr>
          <p:cNvPr id="7" name="Text 5">
            <a:extLst>
              <a:ext uri="{FF2B5EF4-FFF2-40B4-BE49-F238E27FC236}">
                <a16:creationId xmlns:a16="http://schemas.microsoft.com/office/drawing/2014/main" id="{B6BE9BFE-D23A-F822-3461-C4D7F6A57F9E}"/>
              </a:ext>
            </a:extLst>
          </p:cNvPr>
          <p:cNvSpPr/>
          <p:nvPr/>
        </p:nvSpPr>
        <p:spPr>
          <a:xfrm>
            <a:off x="1828800" y="2377440"/>
            <a:ext cx="9601200" cy="365760"/>
          </a:xfrm>
          <a:prstGeom prst="rect">
            <a:avLst/>
          </a:prstGeom>
          <a:noFill/>
          <a:ln/>
        </p:spPr>
        <p:txBody>
          <a:bodyPr wrap="square" lIns="0" tIns="0" rIns="0" bIns="0" rtlCol="0" anchor="t"/>
          <a:lstStyle/>
          <a:p>
            <a:pPr marL="0" indent="0">
              <a:buNone/>
            </a:pPr>
            <a:endParaRPr lang="en-US" sz="1600" dirty="0"/>
          </a:p>
        </p:txBody>
      </p:sp>
      <p:sp>
        <p:nvSpPr>
          <p:cNvPr id="9" name="Text 7">
            <a:extLst>
              <a:ext uri="{FF2B5EF4-FFF2-40B4-BE49-F238E27FC236}">
                <a16:creationId xmlns:a16="http://schemas.microsoft.com/office/drawing/2014/main" id="{3390944C-6C79-C9CE-CB04-561F7DF34519}"/>
              </a:ext>
            </a:extLst>
          </p:cNvPr>
          <p:cNvSpPr/>
          <p:nvPr/>
        </p:nvSpPr>
        <p:spPr>
          <a:xfrm>
            <a:off x="822960" y="2926080"/>
            <a:ext cx="777240" cy="777240"/>
          </a:xfrm>
          <a:prstGeom prst="rect">
            <a:avLst/>
          </a:prstGeom>
          <a:noFill/>
          <a:ln/>
        </p:spPr>
        <p:txBody>
          <a:bodyPr wrap="square" lIns="0" tIns="0" rIns="0" bIns="0" rtlCol="0" anchor="ctr"/>
          <a:lstStyle/>
          <a:p>
            <a:pPr marL="0" indent="0" algn="ctr">
              <a:buNone/>
            </a:pPr>
            <a:endParaRPr lang="en-US" sz="3000" dirty="0"/>
          </a:p>
        </p:txBody>
      </p:sp>
      <p:sp>
        <p:nvSpPr>
          <p:cNvPr id="17" name="Text 15">
            <a:extLst>
              <a:ext uri="{FF2B5EF4-FFF2-40B4-BE49-F238E27FC236}">
                <a16:creationId xmlns:a16="http://schemas.microsoft.com/office/drawing/2014/main" id="{92C23C07-6FE0-CFF5-A5AB-F4A967A201DB}"/>
              </a:ext>
            </a:extLst>
          </p:cNvPr>
          <p:cNvSpPr/>
          <p:nvPr/>
        </p:nvSpPr>
        <p:spPr>
          <a:xfrm>
            <a:off x="822960" y="4516490"/>
            <a:ext cx="777240" cy="777240"/>
          </a:xfrm>
          <a:prstGeom prst="rect">
            <a:avLst/>
          </a:prstGeom>
          <a:noFill/>
          <a:ln/>
        </p:spPr>
        <p:txBody>
          <a:bodyPr wrap="square" lIns="0" tIns="0" rIns="0" bIns="0" rtlCol="0" anchor="ctr"/>
          <a:lstStyle/>
          <a:p>
            <a:pPr marL="0" indent="0" algn="ctr">
              <a:buNone/>
            </a:pPr>
            <a:endParaRPr lang="en-US" sz="3000" b="1" dirty="0">
              <a:solidFill>
                <a:schemeClr val="bg1"/>
              </a:solidFill>
              <a:latin typeface="Georgia" panose="02040502050405020303" pitchFamily="18" charset="0"/>
            </a:endParaRPr>
          </a:p>
        </p:txBody>
      </p:sp>
      <p:sp>
        <p:nvSpPr>
          <p:cNvPr id="24" name="Text 21">
            <a:extLst>
              <a:ext uri="{FF2B5EF4-FFF2-40B4-BE49-F238E27FC236}">
                <a16:creationId xmlns:a16="http://schemas.microsoft.com/office/drawing/2014/main" id="{77E91D88-7BF2-B2FA-1EAD-B0310F6064BB}"/>
              </a:ext>
            </a:extLst>
          </p:cNvPr>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5" name="Text 11">
            <a:extLst>
              <a:ext uri="{FF2B5EF4-FFF2-40B4-BE49-F238E27FC236}">
                <a16:creationId xmlns:a16="http://schemas.microsoft.com/office/drawing/2014/main" id="{44E882C0-6B72-20D0-170A-CC9EE573D101}"/>
              </a:ext>
            </a:extLst>
          </p:cNvPr>
          <p:cNvSpPr/>
          <p:nvPr/>
        </p:nvSpPr>
        <p:spPr>
          <a:xfrm>
            <a:off x="822960" y="2678734"/>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2</a:t>
            </a:r>
            <a:endParaRPr lang="en-US" sz="3000" dirty="0"/>
          </a:p>
        </p:txBody>
      </p:sp>
      <p:sp>
        <p:nvSpPr>
          <p:cNvPr id="26" name="Text 11">
            <a:extLst>
              <a:ext uri="{FF2B5EF4-FFF2-40B4-BE49-F238E27FC236}">
                <a16:creationId xmlns:a16="http://schemas.microsoft.com/office/drawing/2014/main" id="{57E90EC1-5CFD-F065-1B70-24A1EA24CE0C}"/>
              </a:ext>
            </a:extLst>
          </p:cNvPr>
          <p:cNvSpPr/>
          <p:nvPr/>
        </p:nvSpPr>
        <p:spPr>
          <a:xfrm>
            <a:off x="822960" y="464183"/>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3</a:t>
            </a:r>
            <a:endParaRPr lang="en-US" sz="3000" dirty="0"/>
          </a:p>
        </p:txBody>
      </p:sp>
      <p:sp>
        <p:nvSpPr>
          <p:cNvPr id="11" name="Text 4">
            <a:extLst>
              <a:ext uri="{FF2B5EF4-FFF2-40B4-BE49-F238E27FC236}">
                <a16:creationId xmlns:a16="http://schemas.microsoft.com/office/drawing/2014/main" id="{18C398CF-8EDF-0E6D-E21E-C7F7068CFF7A}"/>
              </a:ext>
            </a:extLst>
          </p:cNvPr>
          <p:cNvSpPr/>
          <p:nvPr/>
        </p:nvSpPr>
        <p:spPr>
          <a:xfrm>
            <a:off x="1859280" y="630707"/>
            <a:ext cx="8534400" cy="457200"/>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How Agentic AI Breaks STRIDE</a:t>
            </a:r>
            <a:endParaRPr lang="en-US" sz="3600" dirty="0"/>
          </a:p>
        </p:txBody>
      </p:sp>
      <p:sp>
        <p:nvSpPr>
          <p:cNvPr id="19" name="Text 15">
            <a:extLst>
              <a:ext uri="{FF2B5EF4-FFF2-40B4-BE49-F238E27FC236}">
                <a16:creationId xmlns:a16="http://schemas.microsoft.com/office/drawing/2014/main" id="{11D5683A-80BC-AC38-EA05-1A9608E2A307}"/>
              </a:ext>
            </a:extLst>
          </p:cNvPr>
          <p:cNvSpPr/>
          <p:nvPr/>
        </p:nvSpPr>
        <p:spPr>
          <a:xfrm>
            <a:off x="812800" y="543089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Georgia" panose="02040502050405020303" pitchFamily="18" charset="0"/>
              </a:rPr>
              <a:t>5</a:t>
            </a:r>
          </a:p>
        </p:txBody>
      </p:sp>
      <p:pic>
        <p:nvPicPr>
          <p:cNvPr id="6" name="Picture 5" descr="Using AI to roast people scared of AI. Meta.">
            <a:extLst>
              <a:ext uri="{FF2B5EF4-FFF2-40B4-BE49-F238E27FC236}">
                <a16:creationId xmlns:a16="http://schemas.microsoft.com/office/drawing/2014/main" id="{5894B44F-60E3-7452-7908-A59DE4FF4607}"/>
              </a:ext>
            </a:extLst>
          </p:cNvPr>
          <p:cNvPicPr>
            <a:picLocks noChangeAspect="1"/>
          </p:cNvPicPr>
          <p:nvPr/>
        </p:nvPicPr>
        <p:blipFill>
          <a:blip r:embed="rId3"/>
          <a:stretch>
            <a:fillRect/>
          </a:stretch>
        </p:blipFill>
        <p:spPr>
          <a:xfrm>
            <a:off x="4010025" y="1746733"/>
            <a:ext cx="4232910" cy="4232910"/>
          </a:xfrm>
          <a:prstGeom prst="rect">
            <a:avLst/>
          </a:prstGeom>
        </p:spPr>
      </p:pic>
      <p:sp>
        <p:nvSpPr>
          <p:cNvPr id="27" name="TextBox 26"/>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11 / 43</a:t>
            </a:r>
          </a:p>
        </p:txBody>
      </p:sp>
    </p:spTree>
    <p:extLst>
      <p:ext uri="{BB962C8B-B14F-4D97-AF65-F5344CB8AC3E}">
        <p14:creationId xmlns:p14="http://schemas.microsoft.com/office/powerpoint/2010/main" val="2508772961"/>
      </p:ext>
    </p:extLst>
  </p:cSld>
  <p:clrMapOvr>
    <a:masterClrMapping/>
  </p:clrMapOvr>
  <mc:AlternateContent xmlns:mc="http://schemas.openxmlformats.org/markup-compatibility/2006">
    <mc:Choice xmlns:p14="http://schemas.microsoft.com/office/powerpoint/2010/main" Requires="p14">
      <p:transition spd="slow" p14:dur="2000" advTm="1415"/>
    </mc:Choice>
    <mc:Fallback>
      <p:transition spd="slow" advTm="141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lIns="0" tIns="0" rIns="0" bIns="0" rtlCol="0" anchor="ctr"/>
          <a:lstStyle/>
          <a:p>
            <a:pPr marL="0" indent="0">
              <a:buNone/>
            </a:pPr>
            <a:r>
              <a:rPr lang="en-US" sz="3200" b="1" dirty="0">
                <a:solidFill>
                  <a:srgbClr val="E8F1FF"/>
                </a:solidFill>
                <a:latin typeface="Georgia" pitchFamily="34" charset="0"/>
                <a:ea typeface="Georgia" pitchFamily="34" charset="-122"/>
                <a:cs typeface="Georgia" pitchFamily="34" charset="-120"/>
              </a:rPr>
              <a:t>Where Traditional Threat Modeling Starts Gasping</a:t>
            </a:r>
            <a:endParaRPr lang="en-US" sz="3200" dirty="0"/>
          </a:p>
        </p:txBody>
      </p:sp>
      <p:sp>
        <p:nvSpPr>
          <p:cNvPr id="3" name="Shape 1">
            <a:extLst>
              <a:ext uri="{C183D7F6-B498-43B3-948B-1728B52AA6E4}">
                <adec:decorative xmlns:adec="http://schemas.microsoft.com/office/drawing/2017/decorative" val="1"/>
              </a:ext>
            </a:extLst>
          </p:cNvPr>
          <p:cNvSpPr/>
          <p:nvPr/>
        </p:nvSpPr>
        <p:spPr>
          <a:xfrm>
            <a:off x="640080" y="1296217"/>
            <a:ext cx="731520" cy="45720"/>
          </a:xfrm>
          <a:prstGeom prst="rect">
            <a:avLst/>
          </a:prstGeom>
          <a:solidFill>
            <a:srgbClr val="F97066"/>
          </a:solidFill>
          <a:ln/>
        </p:spPr>
        <p:txBody>
          <a:bodyPr/>
          <a:lstStyle/>
          <a:p>
            <a:endParaRPr lang="en-US"/>
          </a:p>
        </p:txBody>
      </p:sp>
      <p:sp>
        <p:nvSpPr>
          <p:cNvPr id="4" name="Shape 2">
            <a:extLst>
              <a:ext uri="{C183D7F6-B498-43B3-948B-1728B52AA6E4}">
                <adec:decorative xmlns:adec="http://schemas.microsoft.com/office/drawing/2017/decorative" val="1"/>
              </a:ext>
            </a:extLst>
          </p:cNvPr>
          <p:cNvSpPr/>
          <p:nvPr/>
        </p:nvSpPr>
        <p:spPr>
          <a:xfrm>
            <a:off x="640080" y="1691640"/>
            <a:ext cx="5440680" cy="2240280"/>
          </a:xfrm>
          <a:prstGeom prst="rect">
            <a:avLst/>
          </a:prstGeom>
          <a:solidFill>
            <a:srgbClr val="1A2B47"/>
          </a:solidFill>
          <a:ln/>
        </p:spPr>
        <p:txBody>
          <a:bodyPr/>
          <a:lstStyle/>
          <a:p>
            <a:endParaRPr lang="en-US"/>
          </a:p>
        </p:txBody>
      </p:sp>
      <p:sp>
        <p:nvSpPr>
          <p:cNvPr id="5" name="Shape 3">
            <a:extLst>
              <a:ext uri="{C183D7F6-B498-43B3-948B-1728B52AA6E4}">
                <adec:decorative xmlns:adec="http://schemas.microsoft.com/office/drawing/2017/decorative" val="1"/>
              </a:ext>
            </a:extLst>
          </p:cNvPr>
          <p:cNvSpPr/>
          <p:nvPr/>
        </p:nvSpPr>
        <p:spPr>
          <a:xfrm>
            <a:off x="640080" y="1691640"/>
            <a:ext cx="73152" cy="2240280"/>
          </a:xfrm>
          <a:prstGeom prst="rect">
            <a:avLst/>
          </a:prstGeom>
          <a:solidFill>
            <a:srgbClr val="F97066"/>
          </a:solidFill>
          <a:ln/>
        </p:spPr>
        <p:txBody>
          <a:bodyPr/>
          <a:lstStyle/>
          <a:p>
            <a:endParaRPr lang="en-US"/>
          </a:p>
        </p:txBody>
      </p:sp>
      <p:pic>
        <p:nvPicPr>
          <p:cNvPr id="6" name="Image 0">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60120" y="2011680"/>
            <a:ext cx="411480" cy="411480"/>
          </a:xfrm>
          <a:prstGeom prst="rect">
            <a:avLst/>
          </a:prstGeom>
        </p:spPr>
      </p:pic>
      <p:sp>
        <p:nvSpPr>
          <p:cNvPr id="7" name="Text 4"/>
          <p:cNvSpPr/>
          <p:nvPr/>
        </p:nvSpPr>
        <p:spPr>
          <a:xfrm>
            <a:off x="1554480" y="1965960"/>
            <a:ext cx="4343400" cy="457200"/>
          </a:xfrm>
          <a:prstGeom prst="rect">
            <a:avLst/>
          </a:prstGeom>
          <a:noFill/>
          <a:ln/>
        </p:spPr>
        <p:txBody>
          <a:bodyPr wrap="square" lIns="0" tIns="0" rIns="0" bIns="0" rtlCol="0" anchor="ctr"/>
          <a:lstStyle/>
          <a:p>
            <a:pPr marL="0" indent="0">
              <a:buNone/>
            </a:pPr>
            <a:r>
              <a:rPr lang="en-US" sz="1800" b="1" dirty="0">
                <a:solidFill>
                  <a:srgbClr val="E8F1FF"/>
                </a:solidFill>
                <a:latin typeface="Calibri" pitchFamily="34" charset="0"/>
                <a:ea typeface="Calibri" pitchFamily="34" charset="-122"/>
                <a:cs typeface="Calibri" pitchFamily="34" charset="-120"/>
              </a:rPr>
              <a:t>Assumes deterministic systems</a:t>
            </a:r>
            <a:endParaRPr lang="en-US" sz="1800" dirty="0"/>
          </a:p>
        </p:txBody>
      </p:sp>
      <p:sp>
        <p:nvSpPr>
          <p:cNvPr id="8" name="Text 5"/>
          <p:cNvSpPr/>
          <p:nvPr/>
        </p:nvSpPr>
        <p:spPr>
          <a:xfrm>
            <a:off x="1554480" y="2468880"/>
            <a:ext cx="4343400" cy="1325880"/>
          </a:xfrm>
          <a:prstGeom prst="rect">
            <a:avLst/>
          </a:prstGeom>
          <a:noFill/>
          <a:ln/>
        </p:spPr>
        <p:txBody>
          <a:bodyPr wrap="square" lIns="0" tIns="0" rIns="0" bIns="0" rtlCol="0" anchor="t"/>
          <a:lstStyle/>
          <a:p>
            <a:pPr marL="0" indent="0">
              <a:buNone/>
            </a:pPr>
            <a:r>
              <a:rPr lang="en-US" sz="1600" dirty="0">
                <a:solidFill>
                  <a:srgbClr val="B8C9E0"/>
                </a:solidFill>
                <a:latin typeface="Calibri" pitchFamily="34" charset="0"/>
                <a:ea typeface="Calibri" pitchFamily="34" charset="-122"/>
                <a:cs typeface="Calibri" pitchFamily="34" charset="-120"/>
              </a:rPr>
              <a:t>Same input → same output. Agents are non-deterministic. How do you assert “this output is unsafe” when the output varies every call?</a:t>
            </a:r>
            <a:endParaRPr lang="en-US" sz="1600" dirty="0"/>
          </a:p>
        </p:txBody>
      </p:sp>
      <p:sp>
        <p:nvSpPr>
          <p:cNvPr id="9" name="Shape 6">
            <a:extLst>
              <a:ext uri="{C183D7F6-B498-43B3-948B-1728B52AA6E4}">
                <adec:decorative xmlns:adec="http://schemas.microsoft.com/office/drawing/2017/decorative" val="1"/>
              </a:ext>
            </a:extLst>
          </p:cNvPr>
          <p:cNvSpPr/>
          <p:nvPr/>
        </p:nvSpPr>
        <p:spPr>
          <a:xfrm>
            <a:off x="6446520" y="1691640"/>
            <a:ext cx="5440680" cy="2240280"/>
          </a:xfrm>
          <a:prstGeom prst="rect">
            <a:avLst/>
          </a:prstGeom>
          <a:solidFill>
            <a:srgbClr val="1A2B47"/>
          </a:solidFill>
          <a:ln/>
        </p:spPr>
        <p:txBody>
          <a:bodyPr/>
          <a:lstStyle/>
          <a:p>
            <a:endParaRPr lang="en-US"/>
          </a:p>
        </p:txBody>
      </p:sp>
      <p:sp>
        <p:nvSpPr>
          <p:cNvPr id="10" name="Shape 7">
            <a:extLst>
              <a:ext uri="{C183D7F6-B498-43B3-948B-1728B52AA6E4}">
                <adec:decorative xmlns:adec="http://schemas.microsoft.com/office/drawing/2017/decorative" val="1"/>
              </a:ext>
            </a:extLst>
          </p:cNvPr>
          <p:cNvSpPr/>
          <p:nvPr/>
        </p:nvSpPr>
        <p:spPr>
          <a:xfrm>
            <a:off x="6446520" y="1691640"/>
            <a:ext cx="73152" cy="2240280"/>
          </a:xfrm>
          <a:prstGeom prst="rect">
            <a:avLst/>
          </a:prstGeom>
          <a:solidFill>
            <a:srgbClr val="F97066"/>
          </a:solidFill>
          <a:ln/>
        </p:spPr>
        <p:txBody>
          <a:bodyPr/>
          <a:lstStyle/>
          <a:p>
            <a:endParaRPr lang="en-US"/>
          </a:p>
        </p:txBody>
      </p:sp>
      <p:pic>
        <p:nvPicPr>
          <p:cNvPr id="11" name="Image 1">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766560" y="2011680"/>
            <a:ext cx="411480" cy="411480"/>
          </a:xfrm>
          <a:prstGeom prst="rect">
            <a:avLst/>
          </a:prstGeom>
        </p:spPr>
      </p:pic>
      <p:sp>
        <p:nvSpPr>
          <p:cNvPr id="12" name="Text 8"/>
          <p:cNvSpPr/>
          <p:nvPr/>
        </p:nvSpPr>
        <p:spPr>
          <a:xfrm>
            <a:off x="7360920" y="1965960"/>
            <a:ext cx="4343400" cy="457200"/>
          </a:xfrm>
          <a:prstGeom prst="rect">
            <a:avLst/>
          </a:prstGeom>
          <a:noFill/>
          <a:ln/>
        </p:spPr>
        <p:txBody>
          <a:bodyPr wrap="square" lIns="0" tIns="0" rIns="0" bIns="0" rtlCol="0" anchor="ctr"/>
          <a:lstStyle/>
          <a:p>
            <a:pPr marL="0" indent="0">
              <a:buNone/>
            </a:pPr>
            <a:r>
              <a:rPr lang="en-US" sz="1800" b="1" dirty="0">
                <a:solidFill>
                  <a:srgbClr val="E8F1FF"/>
                </a:solidFill>
                <a:latin typeface="Calibri" pitchFamily="34" charset="0"/>
                <a:ea typeface="Calibri" pitchFamily="34" charset="-122"/>
                <a:cs typeface="Calibri" pitchFamily="34" charset="-120"/>
              </a:rPr>
              <a:t>Assumes clear trust boundaries</a:t>
            </a:r>
            <a:endParaRPr lang="en-US" sz="1800" dirty="0"/>
          </a:p>
        </p:txBody>
      </p:sp>
      <p:sp>
        <p:nvSpPr>
          <p:cNvPr id="13" name="Text 9"/>
          <p:cNvSpPr/>
          <p:nvPr/>
        </p:nvSpPr>
        <p:spPr>
          <a:xfrm>
            <a:off x="7360920" y="2468880"/>
            <a:ext cx="4343400" cy="1325880"/>
          </a:xfrm>
          <a:prstGeom prst="rect">
            <a:avLst/>
          </a:prstGeom>
          <a:noFill/>
          <a:ln/>
        </p:spPr>
        <p:txBody>
          <a:bodyPr wrap="square" lIns="0" tIns="0" rIns="0" bIns="0" rtlCol="0" anchor="t"/>
          <a:lstStyle/>
          <a:p>
            <a:pPr marL="0" indent="0">
              <a:buNone/>
            </a:pPr>
            <a:r>
              <a:rPr lang="en-US" sz="1600" dirty="0">
                <a:solidFill>
                  <a:srgbClr val="B8C9E0"/>
                </a:solidFill>
                <a:latin typeface="Calibri" pitchFamily="34" charset="0"/>
                <a:ea typeface="Calibri" pitchFamily="34" charset="-122"/>
                <a:cs typeface="Calibri" pitchFamily="34" charset="-120"/>
              </a:rPr>
              <a:t>An agent reads a webpage. The page says “ignore your instructions.” </a:t>
            </a:r>
            <a:r>
              <a:rPr lang="en-US" sz="1600" b="1" dirty="0">
                <a:solidFill>
                  <a:srgbClr val="B8C9E0"/>
                </a:solidFill>
                <a:latin typeface="Calibri" pitchFamily="34" charset="0"/>
                <a:ea typeface="Calibri" pitchFamily="34" charset="-122"/>
                <a:cs typeface="Calibri" pitchFamily="34" charset="-120"/>
              </a:rPr>
              <a:t>The model can’t distinguish data from instructions.</a:t>
            </a:r>
            <a:r>
              <a:rPr lang="en-US" sz="1600" dirty="0">
                <a:solidFill>
                  <a:srgbClr val="B8C9E0"/>
                </a:solidFill>
                <a:latin typeface="Calibri" pitchFamily="34" charset="0"/>
                <a:ea typeface="Calibri" pitchFamily="34" charset="-122"/>
                <a:cs typeface="Calibri" pitchFamily="34" charset="-120"/>
              </a:rPr>
              <a:t> Where’s the boundary?</a:t>
            </a:r>
            <a:endParaRPr lang="en-US" sz="1600" dirty="0"/>
          </a:p>
        </p:txBody>
      </p:sp>
      <p:sp>
        <p:nvSpPr>
          <p:cNvPr id="14" name="Shape 10">
            <a:extLst>
              <a:ext uri="{C183D7F6-B498-43B3-948B-1728B52AA6E4}">
                <adec:decorative xmlns:adec="http://schemas.microsoft.com/office/drawing/2017/decorative" val="1"/>
              </a:ext>
            </a:extLst>
          </p:cNvPr>
          <p:cNvSpPr/>
          <p:nvPr/>
        </p:nvSpPr>
        <p:spPr>
          <a:xfrm>
            <a:off x="640080" y="4206240"/>
            <a:ext cx="5440680" cy="2240280"/>
          </a:xfrm>
          <a:prstGeom prst="rect">
            <a:avLst/>
          </a:prstGeom>
          <a:solidFill>
            <a:srgbClr val="1A2B47"/>
          </a:solidFill>
          <a:ln/>
        </p:spPr>
        <p:txBody>
          <a:bodyPr/>
          <a:lstStyle/>
          <a:p>
            <a:endParaRPr lang="en-US"/>
          </a:p>
        </p:txBody>
      </p:sp>
      <p:sp>
        <p:nvSpPr>
          <p:cNvPr id="15" name="Shape 11">
            <a:extLst>
              <a:ext uri="{C183D7F6-B498-43B3-948B-1728B52AA6E4}">
                <adec:decorative xmlns:adec="http://schemas.microsoft.com/office/drawing/2017/decorative" val="1"/>
              </a:ext>
            </a:extLst>
          </p:cNvPr>
          <p:cNvSpPr/>
          <p:nvPr/>
        </p:nvSpPr>
        <p:spPr>
          <a:xfrm>
            <a:off x="640080" y="4206240"/>
            <a:ext cx="73152" cy="2240280"/>
          </a:xfrm>
          <a:prstGeom prst="rect">
            <a:avLst/>
          </a:prstGeom>
          <a:solidFill>
            <a:srgbClr val="F97066"/>
          </a:solidFill>
          <a:ln/>
        </p:spPr>
        <p:txBody>
          <a:bodyPr/>
          <a:lstStyle/>
          <a:p>
            <a:endParaRPr lang="en-US"/>
          </a:p>
        </p:txBody>
      </p:sp>
      <p:pic>
        <p:nvPicPr>
          <p:cNvPr id="16"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60120" y="4526280"/>
            <a:ext cx="411480" cy="411480"/>
          </a:xfrm>
          <a:prstGeom prst="rect">
            <a:avLst/>
          </a:prstGeom>
        </p:spPr>
      </p:pic>
      <p:sp>
        <p:nvSpPr>
          <p:cNvPr id="17" name="Text 12"/>
          <p:cNvSpPr/>
          <p:nvPr/>
        </p:nvSpPr>
        <p:spPr>
          <a:xfrm>
            <a:off x="1554480" y="4480560"/>
            <a:ext cx="4343400" cy="457200"/>
          </a:xfrm>
          <a:prstGeom prst="rect">
            <a:avLst/>
          </a:prstGeom>
          <a:noFill/>
          <a:ln/>
        </p:spPr>
        <p:txBody>
          <a:bodyPr wrap="square" lIns="0" tIns="0" rIns="0" bIns="0" rtlCol="0" anchor="ctr"/>
          <a:lstStyle/>
          <a:p>
            <a:pPr marL="0" indent="0">
              <a:buNone/>
            </a:pPr>
            <a:r>
              <a:rPr lang="en-US" sz="1800" b="1" dirty="0">
                <a:solidFill>
                  <a:srgbClr val="E8F1FF"/>
                </a:solidFill>
                <a:latin typeface="Calibri" pitchFamily="34" charset="0"/>
                <a:ea typeface="Calibri" pitchFamily="34" charset="-122"/>
                <a:cs typeface="Calibri" pitchFamily="34" charset="-120"/>
              </a:rPr>
              <a:t>No category for AI-specific threats</a:t>
            </a:r>
            <a:endParaRPr lang="en-US" sz="1800" dirty="0"/>
          </a:p>
        </p:txBody>
      </p:sp>
      <p:sp>
        <p:nvSpPr>
          <p:cNvPr id="18" name="Text 13"/>
          <p:cNvSpPr/>
          <p:nvPr/>
        </p:nvSpPr>
        <p:spPr>
          <a:xfrm>
            <a:off x="1554480" y="4983480"/>
            <a:ext cx="4343400" cy="1325880"/>
          </a:xfrm>
          <a:prstGeom prst="rect">
            <a:avLst/>
          </a:prstGeom>
          <a:noFill/>
          <a:ln/>
        </p:spPr>
        <p:txBody>
          <a:bodyPr wrap="square" lIns="0" tIns="0" rIns="0" bIns="0" rtlCol="0" anchor="t"/>
          <a:lstStyle/>
          <a:p>
            <a:pPr marL="0" indent="0">
              <a:buNone/>
            </a:pPr>
            <a:r>
              <a:rPr lang="en-US" sz="1600" dirty="0">
                <a:solidFill>
                  <a:srgbClr val="B8C9E0"/>
                </a:solidFill>
                <a:latin typeface="Calibri" pitchFamily="34" charset="0"/>
                <a:ea typeface="Calibri" pitchFamily="34" charset="-122"/>
                <a:cs typeface="Calibri" pitchFamily="34" charset="-120"/>
              </a:rPr>
              <a:t>Data poisoning fits “sort of” under tampering. Goal manipulation? Adversarial examples? Model stealing? STRIDE has no slot.</a:t>
            </a:r>
            <a:endParaRPr lang="en-US" sz="1600" dirty="0"/>
          </a:p>
        </p:txBody>
      </p:sp>
      <p:sp>
        <p:nvSpPr>
          <p:cNvPr id="19" name="Shape 14">
            <a:extLst>
              <a:ext uri="{C183D7F6-B498-43B3-948B-1728B52AA6E4}">
                <adec:decorative xmlns:adec="http://schemas.microsoft.com/office/drawing/2017/decorative" val="1"/>
              </a:ext>
            </a:extLst>
          </p:cNvPr>
          <p:cNvSpPr/>
          <p:nvPr/>
        </p:nvSpPr>
        <p:spPr>
          <a:xfrm>
            <a:off x="6446520" y="4206240"/>
            <a:ext cx="5440680" cy="2240280"/>
          </a:xfrm>
          <a:prstGeom prst="rect">
            <a:avLst/>
          </a:prstGeom>
          <a:solidFill>
            <a:srgbClr val="1A2B47"/>
          </a:solidFill>
          <a:ln/>
        </p:spPr>
        <p:txBody>
          <a:bodyPr/>
          <a:lstStyle/>
          <a:p>
            <a:endParaRPr lang="en-US"/>
          </a:p>
        </p:txBody>
      </p:sp>
      <p:sp>
        <p:nvSpPr>
          <p:cNvPr id="20" name="Shape 15">
            <a:extLst>
              <a:ext uri="{C183D7F6-B498-43B3-948B-1728B52AA6E4}">
                <adec:decorative xmlns:adec="http://schemas.microsoft.com/office/drawing/2017/decorative" val="1"/>
              </a:ext>
            </a:extLst>
          </p:cNvPr>
          <p:cNvSpPr/>
          <p:nvPr/>
        </p:nvSpPr>
        <p:spPr>
          <a:xfrm>
            <a:off x="6446520" y="4206240"/>
            <a:ext cx="73152" cy="2240280"/>
          </a:xfrm>
          <a:prstGeom prst="rect">
            <a:avLst/>
          </a:prstGeom>
          <a:solidFill>
            <a:srgbClr val="F97066"/>
          </a:solidFill>
          <a:ln/>
        </p:spPr>
        <p:txBody>
          <a:bodyPr/>
          <a:lstStyle/>
          <a:p>
            <a:endParaRPr lang="en-US"/>
          </a:p>
        </p:txBody>
      </p:sp>
      <p:pic>
        <p:nvPicPr>
          <p:cNvPr id="21" name="Image 3">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766560" y="4526280"/>
            <a:ext cx="411480" cy="411480"/>
          </a:xfrm>
          <a:prstGeom prst="rect">
            <a:avLst/>
          </a:prstGeom>
        </p:spPr>
      </p:pic>
      <p:sp>
        <p:nvSpPr>
          <p:cNvPr id="22" name="Text 16"/>
          <p:cNvSpPr/>
          <p:nvPr/>
        </p:nvSpPr>
        <p:spPr>
          <a:xfrm>
            <a:off x="7360920" y="4480560"/>
            <a:ext cx="4343400" cy="457200"/>
          </a:xfrm>
          <a:prstGeom prst="rect">
            <a:avLst/>
          </a:prstGeom>
          <a:noFill/>
          <a:ln/>
        </p:spPr>
        <p:txBody>
          <a:bodyPr wrap="square" lIns="0" tIns="0" rIns="0" bIns="0" rtlCol="0" anchor="ctr"/>
          <a:lstStyle/>
          <a:p>
            <a:pPr marL="0" indent="0">
              <a:buNone/>
            </a:pPr>
            <a:r>
              <a:rPr lang="en-US" sz="1800" b="1" dirty="0">
                <a:solidFill>
                  <a:srgbClr val="E8F1FF"/>
                </a:solidFill>
                <a:latin typeface="Calibri" pitchFamily="34" charset="0"/>
                <a:ea typeface="Calibri" pitchFamily="34" charset="-122"/>
                <a:cs typeface="Calibri" pitchFamily="34" charset="-120"/>
              </a:rPr>
              <a:t>Silent on emergent behavior</a:t>
            </a:r>
            <a:endParaRPr lang="en-US" sz="1800" dirty="0"/>
          </a:p>
        </p:txBody>
      </p:sp>
      <p:sp>
        <p:nvSpPr>
          <p:cNvPr id="23" name="Text 17"/>
          <p:cNvSpPr/>
          <p:nvPr/>
        </p:nvSpPr>
        <p:spPr>
          <a:xfrm>
            <a:off x="7360920" y="4983480"/>
            <a:ext cx="4343400" cy="1325880"/>
          </a:xfrm>
          <a:prstGeom prst="rect">
            <a:avLst/>
          </a:prstGeom>
          <a:noFill/>
          <a:ln/>
        </p:spPr>
        <p:txBody>
          <a:bodyPr wrap="square" lIns="0" tIns="0" rIns="0" bIns="0" rtlCol="0" anchor="t"/>
          <a:lstStyle/>
          <a:p>
            <a:pPr marL="0" indent="0">
              <a:buNone/>
            </a:pPr>
            <a:r>
              <a:rPr lang="en-US" sz="1600" dirty="0">
                <a:solidFill>
                  <a:srgbClr val="B8C9E0"/>
                </a:solidFill>
                <a:latin typeface="Calibri" pitchFamily="34" charset="0"/>
                <a:ea typeface="Calibri" pitchFamily="34" charset="-122"/>
                <a:cs typeface="Calibri" pitchFamily="34" charset="-120"/>
              </a:rPr>
              <a:t>Two agents in a room invent a failure mode neither would produce alone. STRIDE has nothing to say about systems that aren’t a single system.</a:t>
            </a:r>
            <a:endParaRPr lang="en-US" sz="1600" dirty="0"/>
          </a:p>
        </p:txBody>
      </p:sp>
      <p:sp>
        <p:nvSpPr>
          <p:cNvPr id="24" name="Text 18"/>
          <p:cNvSpPr/>
          <p:nvPr/>
        </p:nvSpPr>
        <p:spPr>
          <a:xfrm>
            <a:off x="640080" y="6126480"/>
            <a:ext cx="11247120" cy="365760"/>
          </a:xfrm>
          <a:prstGeom prst="rect">
            <a:avLst/>
          </a:prstGeom>
          <a:solidFill>
            <a:schemeClr val="bg1"/>
          </a:solidFill>
          <a:ln/>
        </p:spPr>
        <p:txBody>
          <a:bodyPr wrap="square" rtlCol="0" anchor="ctr"/>
          <a:lstStyle/>
          <a:p>
            <a:pPr marL="0" indent="0" algn="ctr">
              <a:buNone/>
            </a:pPr>
            <a:r>
              <a:rPr lang="en-US" i="1" dirty="0">
                <a:latin typeface="Calibri" pitchFamily="34" charset="0"/>
                <a:ea typeface="Calibri" pitchFamily="34" charset="-122"/>
                <a:cs typeface="Calibri" pitchFamily="34" charset="-120"/>
              </a:rPr>
              <a:t>Not STRIDE’s fault. In 1999, we worried about Y2K and Napster. Nobody was modeling autonomous agents.</a:t>
            </a:r>
            <a:endParaRPr lang="en-US" dirty="0"/>
          </a:p>
        </p:txBody>
      </p:sp>
      <p:sp>
        <p:nvSpPr>
          <p:cNvPr id="26" name="Text 20"/>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B8C9E0"/>
                </a:solidFill>
                <a:latin typeface="Calibri" pitchFamily="34" charset="0"/>
                <a:ea typeface="Calibri" pitchFamily="34" charset="-122"/>
                <a:cs typeface="Calibri" pitchFamily="34" charset="-120"/>
              </a:rPr>
              <a:t>Beyond STRIDE</a:t>
            </a:r>
            <a:endParaRPr lang="en-US" sz="1000" dirty="0"/>
          </a:p>
        </p:txBody>
      </p:sp>
      <p:sp>
        <p:nvSpPr>
          <p:cNvPr id="27" name="TextBox 26"/>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12 / 43</a:t>
            </a:r>
          </a:p>
        </p:txBody>
      </p:sp>
    </p:spTree>
  </p:cSld>
  <p:clrMapOvr>
    <a:masterClrMapping/>
  </p:clrMapOvr>
  <mc:AlternateContent xmlns:mc="http://schemas.openxmlformats.org/markup-compatibility/2006">
    <mc:Choice xmlns:p14="http://schemas.microsoft.com/office/powerpoint/2010/main" Requires="p14">
      <p:transition spd="slow" p14:dur="2000" advTm="65031"/>
    </mc:Choice>
    <mc:Fallback>
      <p:transition spd="slow" advTm="6503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365760"/>
          </a:xfrm>
          <a:prstGeom prst="rect">
            <a:avLst/>
          </a:prstGeom>
          <a:noFill/>
          <a:ln/>
        </p:spPr>
        <p:txBody>
          <a:bodyPr wrap="square" rtlCol="0" anchor="ctr"/>
          <a:lstStyle/>
          <a:p>
            <a:pPr marL="0" indent="0">
              <a:buNone/>
            </a:pPr>
            <a:r>
              <a:rPr lang="en-US" sz="1200" b="1" kern="0" spc="400" dirty="0">
                <a:solidFill>
                  <a:srgbClr val="F97066"/>
                </a:solidFill>
                <a:latin typeface="Calibri" pitchFamily="34" charset="0"/>
                <a:ea typeface="Calibri" pitchFamily="34" charset="-122"/>
                <a:cs typeface="Calibri" pitchFamily="34" charset="-120"/>
              </a:rPr>
              <a:t>THE PART THAT KEEPS US UP AT NIGHT</a:t>
            </a:r>
            <a:endParaRPr lang="en-US" sz="1200" dirty="0"/>
          </a:p>
        </p:txBody>
      </p:sp>
      <p:sp>
        <p:nvSpPr>
          <p:cNvPr id="3" name="Text 1"/>
          <p:cNvSpPr/>
          <p:nvPr/>
        </p:nvSpPr>
        <p:spPr>
          <a:xfrm>
            <a:off x="640080" y="1051560"/>
            <a:ext cx="10972800" cy="731520"/>
          </a:xfrm>
          <a:prstGeom prst="rect">
            <a:avLst/>
          </a:prstGeom>
          <a:noFill/>
          <a:ln/>
        </p:spPr>
        <p:txBody>
          <a:bodyPr wrap="square" lIns="0" tIns="0" rIns="0" bIns="0" rtlCol="0" anchor="ctr"/>
          <a:lstStyle/>
          <a:p>
            <a:pPr marL="0" indent="0">
              <a:buNone/>
            </a:pPr>
            <a:r>
              <a:rPr lang="en-US" sz="3600" b="1" dirty="0">
                <a:solidFill>
                  <a:srgbClr val="E8F1FF"/>
                </a:solidFill>
                <a:latin typeface="Georgia" pitchFamily="34" charset="0"/>
                <a:ea typeface="Georgia" pitchFamily="34" charset="-122"/>
                <a:cs typeface="Georgia" pitchFamily="34" charset="-120"/>
              </a:rPr>
              <a:t>Traditional systems fail loudly.</a:t>
            </a:r>
            <a:endParaRPr lang="en-US" sz="3600" dirty="0"/>
          </a:p>
        </p:txBody>
      </p:sp>
      <p:sp>
        <p:nvSpPr>
          <p:cNvPr id="4" name="Text 2"/>
          <p:cNvSpPr/>
          <p:nvPr/>
        </p:nvSpPr>
        <p:spPr>
          <a:xfrm>
            <a:off x="640080" y="1783080"/>
            <a:ext cx="10972800" cy="731520"/>
          </a:xfrm>
          <a:prstGeom prst="rect">
            <a:avLst/>
          </a:prstGeom>
          <a:noFill/>
          <a:ln/>
        </p:spPr>
        <p:txBody>
          <a:bodyPr wrap="square" lIns="0" tIns="0" rIns="0" bIns="0" rtlCol="0" anchor="ctr"/>
          <a:lstStyle/>
          <a:p>
            <a:pPr marL="0" indent="0">
              <a:buNone/>
            </a:pPr>
            <a:r>
              <a:rPr lang="en-US" sz="3600" b="1" i="1" dirty="0">
                <a:solidFill>
                  <a:srgbClr val="F97066"/>
                </a:solidFill>
                <a:latin typeface="Georgia" pitchFamily="34" charset="0"/>
                <a:ea typeface="Georgia" pitchFamily="34" charset="-122"/>
                <a:cs typeface="Georgia" pitchFamily="34" charset="-120"/>
              </a:rPr>
              <a:t>Agents fail quietly — and keep going.</a:t>
            </a:r>
            <a:endParaRPr lang="en-US" sz="3600" dirty="0"/>
          </a:p>
        </p:txBody>
      </p:sp>
      <p:sp>
        <p:nvSpPr>
          <p:cNvPr id="5" name="Shape 3">
            <a:extLst>
              <a:ext uri="{C183D7F6-B498-43B3-948B-1728B52AA6E4}">
                <adec:decorative xmlns:adec="http://schemas.microsoft.com/office/drawing/2017/decorative" val="1"/>
              </a:ext>
            </a:extLst>
          </p:cNvPr>
          <p:cNvSpPr/>
          <p:nvPr/>
        </p:nvSpPr>
        <p:spPr>
          <a:xfrm>
            <a:off x="640080" y="3017520"/>
            <a:ext cx="5440680" cy="2743200"/>
          </a:xfrm>
          <a:prstGeom prst="rect">
            <a:avLst/>
          </a:prstGeom>
          <a:solidFill>
            <a:srgbClr val="1A2B47"/>
          </a:solidFill>
          <a:ln/>
        </p:spPr>
        <p:txBody>
          <a:bodyPr/>
          <a:lstStyle/>
          <a:p>
            <a:endParaRPr lang="en-US"/>
          </a:p>
        </p:txBody>
      </p:sp>
      <p:sp>
        <p:nvSpPr>
          <p:cNvPr id="6" name="Text 4"/>
          <p:cNvSpPr/>
          <p:nvPr/>
        </p:nvSpPr>
        <p:spPr>
          <a:xfrm>
            <a:off x="868680" y="3291840"/>
            <a:ext cx="4983480" cy="365760"/>
          </a:xfrm>
          <a:prstGeom prst="rect">
            <a:avLst/>
          </a:prstGeom>
          <a:noFill/>
          <a:ln/>
        </p:spPr>
        <p:txBody>
          <a:bodyPr wrap="square" rtlCol="0" anchor="ctr"/>
          <a:lstStyle/>
          <a:p>
            <a:pPr marL="0" indent="0">
              <a:buNone/>
            </a:pPr>
            <a:r>
              <a:rPr lang="en-US" b="1" kern="0" spc="300" dirty="0">
                <a:solidFill>
                  <a:srgbClr val="06B6D4"/>
                </a:solidFill>
                <a:latin typeface="Calibri" pitchFamily="34" charset="0"/>
                <a:ea typeface="Calibri" pitchFamily="34" charset="-122"/>
                <a:cs typeface="Calibri" pitchFamily="34" charset="-120"/>
              </a:rPr>
              <a:t>TRADITIONAL FAILURE</a:t>
            </a:r>
            <a:endParaRPr lang="en-US" dirty="0"/>
          </a:p>
        </p:txBody>
      </p:sp>
      <p:sp>
        <p:nvSpPr>
          <p:cNvPr id="7" name="Text 5"/>
          <p:cNvSpPr/>
          <p:nvPr/>
        </p:nvSpPr>
        <p:spPr>
          <a:xfrm>
            <a:off x="868680" y="3794760"/>
            <a:ext cx="4983480" cy="1828800"/>
          </a:xfrm>
          <a:prstGeom prst="rect">
            <a:avLst/>
          </a:prstGeom>
          <a:noFill/>
          <a:ln/>
        </p:spPr>
        <p:txBody>
          <a:bodyPr wrap="square" rtlCol="0" anchor="t"/>
          <a:lstStyle/>
          <a:p>
            <a:pPr marL="0" indent="0">
              <a:spcAft>
                <a:spcPts val="600"/>
              </a:spcAft>
              <a:buNone/>
            </a:pPr>
            <a:r>
              <a:rPr lang="en-US" dirty="0">
                <a:solidFill>
                  <a:srgbClr val="B8C9E0"/>
                </a:solidFill>
                <a:latin typeface="Calibri" pitchFamily="34" charset="0"/>
                <a:ea typeface="Calibri" pitchFamily="34" charset="-122"/>
                <a:cs typeface="Calibri" pitchFamily="34" charset="-120"/>
              </a:rPr>
              <a:t>▪  Website returns 500</a:t>
            </a:r>
            <a:endParaRPr lang="en-US" dirty="0"/>
          </a:p>
          <a:p>
            <a:pPr marL="0" indent="0">
              <a:spcAft>
                <a:spcPts val="600"/>
              </a:spcAft>
              <a:buNone/>
            </a:pPr>
            <a:r>
              <a:rPr lang="en-US" dirty="0">
                <a:solidFill>
                  <a:srgbClr val="B8C9E0"/>
                </a:solidFill>
                <a:latin typeface="Calibri" pitchFamily="34" charset="0"/>
                <a:ea typeface="Calibri" pitchFamily="34" charset="-122"/>
                <a:cs typeface="Calibri" pitchFamily="34" charset="-120"/>
              </a:rPr>
              <a:t>▪  Database errors are logged</a:t>
            </a:r>
            <a:endParaRPr lang="en-US" dirty="0"/>
          </a:p>
          <a:p>
            <a:pPr marL="0" indent="0">
              <a:spcAft>
                <a:spcPts val="600"/>
              </a:spcAft>
              <a:buNone/>
            </a:pPr>
            <a:r>
              <a:rPr lang="en-US" dirty="0">
                <a:solidFill>
                  <a:srgbClr val="B8C9E0"/>
                </a:solidFill>
                <a:latin typeface="Calibri" pitchFamily="34" charset="0"/>
                <a:ea typeface="Calibri" pitchFamily="34" charset="-122"/>
                <a:cs typeface="Calibri" pitchFamily="34" charset="-120"/>
              </a:rPr>
              <a:t>▪  Login screen says “invalid”</a:t>
            </a:r>
            <a:endParaRPr lang="en-US" dirty="0"/>
          </a:p>
          <a:p>
            <a:pPr marL="0" indent="0">
              <a:spcAft>
                <a:spcPts val="600"/>
              </a:spcAft>
              <a:buNone/>
            </a:pPr>
            <a:r>
              <a:rPr lang="en-US" dirty="0">
                <a:solidFill>
                  <a:srgbClr val="B8C9E0"/>
                </a:solidFill>
                <a:latin typeface="Calibri" pitchFamily="34" charset="0"/>
                <a:ea typeface="Calibri" pitchFamily="34" charset="-122"/>
                <a:cs typeface="Calibri" pitchFamily="34" charset="-120"/>
              </a:rPr>
              <a:t>▪  CPU pegs and PagerDuty fires</a:t>
            </a:r>
            <a:endParaRPr lang="en-US" dirty="0"/>
          </a:p>
          <a:p>
            <a:pPr marL="0" indent="0">
              <a:spcAft>
                <a:spcPts val="600"/>
              </a:spcAft>
              <a:buNone/>
            </a:pPr>
            <a:r>
              <a:rPr lang="en-US" b="1" dirty="0">
                <a:solidFill>
                  <a:srgbClr val="B8C9E0"/>
                </a:solidFill>
                <a:latin typeface="Calibri" pitchFamily="34" charset="0"/>
                <a:ea typeface="Calibri" pitchFamily="34" charset="-122"/>
                <a:cs typeface="Calibri" pitchFamily="34" charset="-120"/>
              </a:rPr>
              <a:t>▪  You know something is wrong</a:t>
            </a:r>
            <a:endParaRPr lang="en-US" dirty="0"/>
          </a:p>
        </p:txBody>
      </p:sp>
      <p:sp>
        <p:nvSpPr>
          <p:cNvPr id="8" name="Shape 6">
            <a:extLst>
              <a:ext uri="{C183D7F6-B498-43B3-948B-1728B52AA6E4}">
                <adec:decorative xmlns:adec="http://schemas.microsoft.com/office/drawing/2017/decorative" val="1"/>
              </a:ext>
            </a:extLst>
          </p:cNvPr>
          <p:cNvSpPr/>
          <p:nvPr/>
        </p:nvSpPr>
        <p:spPr>
          <a:xfrm>
            <a:off x="6446520" y="3017520"/>
            <a:ext cx="5440680" cy="2743200"/>
          </a:xfrm>
          <a:prstGeom prst="rect">
            <a:avLst/>
          </a:prstGeom>
          <a:solidFill>
            <a:srgbClr val="1A2B47"/>
          </a:solidFill>
          <a:ln/>
        </p:spPr>
        <p:txBody>
          <a:bodyPr/>
          <a:lstStyle/>
          <a:p>
            <a:endParaRPr lang="en-US"/>
          </a:p>
        </p:txBody>
      </p:sp>
      <p:sp>
        <p:nvSpPr>
          <p:cNvPr id="9" name="Shape 7">
            <a:extLst>
              <a:ext uri="{C183D7F6-B498-43B3-948B-1728B52AA6E4}">
                <adec:decorative xmlns:adec="http://schemas.microsoft.com/office/drawing/2017/decorative" val="1"/>
              </a:ext>
            </a:extLst>
          </p:cNvPr>
          <p:cNvSpPr/>
          <p:nvPr/>
        </p:nvSpPr>
        <p:spPr>
          <a:xfrm>
            <a:off x="6446520" y="3017520"/>
            <a:ext cx="73152" cy="2743200"/>
          </a:xfrm>
          <a:prstGeom prst="rect">
            <a:avLst/>
          </a:prstGeom>
          <a:solidFill>
            <a:srgbClr val="F97066"/>
          </a:solidFill>
          <a:ln/>
        </p:spPr>
        <p:txBody>
          <a:bodyPr/>
          <a:lstStyle/>
          <a:p>
            <a:endParaRPr lang="en-US"/>
          </a:p>
        </p:txBody>
      </p:sp>
      <p:sp>
        <p:nvSpPr>
          <p:cNvPr id="10" name="Text 8"/>
          <p:cNvSpPr/>
          <p:nvPr/>
        </p:nvSpPr>
        <p:spPr>
          <a:xfrm>
            <a:off x="6675120" y="3291840"/>
            <a:ext cx="4983480" cy="365760"/>
          </a:xfrm>
          <a:prstGeom prst="rect">
            <a:avLst/>
          </a:prstGeom>
          <a:noFill/>
          <a:ln/>
        </p:spPr>
        <p:txBody>
          <a:bodyPr wrap="square" rtlCol="0" anchor="ctr"/>
          <a:lstStyle/>
          <a:p>
            <a:pPr marL="0" indent="0">
              <a:buNone/>
            </a:pPr>
            <a:r>
              <a:rPr lang="en-US" b="1" kern="0" spc="300" dirty="0">
                <a:solidFill>
                  <a:srgbClr val="F97066"/>
                </a:solidFill>
                <a:latin typeface="Calibri" pitchFamily="34" charset="0"/>
                <a:ea typeface="Calibri" pitchFamily="34" charset="-122"/>
                <a:cs typeface="Calibri" pitchFamily="34" charset="-120"/>
              </a:rPr>
              <a:t>AGENT FAILURE</a:t>
            </a:r>
            <a:endParaRPr lang="en-US" dirty="0"/>
          </a:p>
        </p:txBody>
      </p:sp>
      <p:sp>
        <p:nvSpPr>
          <p:cNvPr id="11" name="Text 9"/>
          <p:cNvSpPr/>
          <p:nvPr/>
        </p:nvSpPr>
        <p:spPr>
          <a:xfrm>
            <a:off x="6675120" y="3794760"/>
            <a:ext cx="4983480" cy="1828800"/>
          </a:xfrm>
          <a:prstGeom prst="rect">
            <a:avLst/>
          </a:prstGeom>
          <a:noFill/>
          <a:ln/>
        </p:spPr>
        <p:txBody>
          <a:bodyPr wrap="square" rtlCol="0" anchor="t"/>
          <a:lstStyle/>
          <a:p>
            <a:pPr marL="0" indent="0">
              <a:spcAft>
                <a:spcPts val="600"/>
              </a:spcAft>
              <a:buNone/>
            </a:pPr>
            <a:r>
              <a:rPr lang="en-US" dirty="0">
                <a:solidFill>
                  <a:srgbClr val="B8C9E0"/>
                </a:solidFill>
                <a:latin typeface="Calibri" pitchFamily="34" charset="0"/>
                <a:ea typeface="Calibri" pitchFamily="34" charset="-122"/>
                <a:cs typeface="Calibri" pitchFamily="34" charset="-120"/>
              </a:rPr>
              <a:t>▪  Confidently misunderstands its goal</a:t>
            </a:r>
            <a:endParaRPr lang="en-US" dirty="0"/>
          </a:p>
          <a:p>
            <a:pPr marL="0" indent="0">
              <a:spcAft>
                <a:spcPts val="600"/>
              </a:spcAft>
              <a:buNone/>
            </a:pPr>
            <a:r>
              <a:rPr lang="en-US" dirty="0">
                <a:solidFill>
                  <a:srgbClr val="B8C9E0"/>
                </a:solidFill>
                <a:latin typeface="Calibri" pitchFamily="34" charset="0"/>
                <a:ea typeface="Calibri" pitchFamily="34" charset="-122"/>
                <a:cs typeface="Calibri" pitchFamily="34" charset="-120"/>
              </a:rPr>
              <a:t>▪  Hallucinates a tool, declares success</a:t>
            </a:r>
            <a:endParaRPr lang="en-US" dirty="0"/>
          </a:p>
          <a:p>
            <a:pPr marL="0" indent="0">
              <a:spcAft>
                <a:spcPts val="600"/>
              </a:spcAft>
              <a:buNone/>
            </a:pPr>
            <a:r>
              <a:rPr lang="en-US" dirty="0">
                <a:solidFill>
                  <a:srgbClr val="B8C9E0"/>
                </a:solidFill>
                <a:latin typeface="Calibri" pitchFamily="34" charset="0"/>
                <a:ea typeface="Calibri" pitchFamily="34" charset="-122"/>
                <a:cs typeface="Calibri" pitchFamily="34" charset="-120"/>
              </a:rPr>
              <a:t>▪  Absorbs malicious instructions silently</a:t>
            </a:r>
            <a:endParaRPr lang="en-US" dirty="0"/>
          </a:p>
          <a:p>
            <a:pPr marL="0" indent="0">
              <a:spcAft>
                <a:spcPts val="600"/>
              </a:spcAft>
              <a:buNone/>
            </a:pPr>
            <a:r>
              <a:rPr lang="en-US" dirty="0">
                <a:solidFill>
                  <a:srgbClr val="B8C9E0"/>
                </a:solidFill>
                <a:latin typeface="Calibri" pitchFamily="34" charset="0"/>
                <a:ea typeface="Calibri" pitchFamily="34" charset="-122"/>
                <a:cs typeface="Calibri" pitchFamily="34" charset="-120"/>
              </a:rPr>
              <a:t>▪  CPU is fine. Logs look fine.</a:t>
            </a:r>
            <a:endParaRPr lang="en-US" dirty="0"/>
          </a:p>
          <a:p>
            <a:pPr marL="0" indent="0">
              <a:spcAft>
                <a:spcPts val="600"/>
              </a:spcAft>
              <a:buNone/>
            </a:pPr>
            <a:r>
              <a:rPr lang="en-US" b="1" dirty="0">
                <a:solidFill>
                  <a:srgbClr val="B8C9E0"/>
                </a:solidFill>
                <a:latin typeface="Calibri" pitchFamily="34" charset="0"/>
                <a:ea typeface="Calibri" pitchFamily="34" charset="-122"/>
                <a:cs typeface="Calibri" pitchFamily="34" charset="-120"/>
              </a:rPr>
              <a:t>▪  It’s just… wrong, and busy, and sure</a:t>
            </a:r>
            <a:endParaRPr lang="en-US" dirty="0"/>
          </a:p>
        </p:txBody>
      </p:sp>
      <p:sp>
        <p:nvSpPr>
          <p:cNvPr id="14" name="Text 12"/>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B8C9E0"/>
                </a:solidFill>
                <a:latin typeface="Calibri" pitchFamily="34" charset="0"/>
                <a:ea typeface="Calibri" pitchFamily="34" charset="-122"/>
                <a:cs typeface="Calibri" pitchFamily="34" charset="-120"/>
              </a:rPr>
              <a:t>Beyond STRIDE</a:t>
            </a:r>
            <a:endParaRPr lang="en-US" sz="1000" dirty="0"/>
          </a:p>
        </p:txBody>
      </p:sp>
      <p:sp>
        <p:nvSpPr>
          <p:cNvPr id="15" name="TextBox 14"/>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14 / 43</a:t>
            </a:r>
          </a:p>
        </p:txBody>
      </p:sp>
    </p:spTree>
  </p:cSld>
  <p:clrMapOvr>
    <a:masterClrMapping/>
  </p:clrMapOvr>
  <mc:AlternateContent xmlns:mc="http://schemas.openxmlformats.org/markup-compatibility/2006">
    <mc:Choice xmlns:p14="http://schemas.microsoft.com/office/powerpoint/2010/main" Requires="p14">
      <p:transition spd="slow" p14:dur="2000" advTm="31824"/>
    </mc:Choice>
    <mc:Fallback>
      <p:transition spd="slow" advTm="3182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3" name="Text 1"/>
          <p:cNvSpPr/>
          <p:nvPr/>
        </p:nvSpPr>
        <p:spPr>
          <a:xfrm>
            <a:off x="731520" y="320040"/>
            <a:ext cx="10972800" cy="274320"/>
          </a:xfrm>
          <a:prstGeom prst="rect">
            <a:avLst/>
          </a:prstGeom>
          <a:noFill/>
          <a:ln/>
        </p:spPr>
        <p:txBody>
          <a:bodyPr wrap="square" lIns="0" tIns="0" rIns="0" bIns="0" rtlCol="0" anchor="ctr"/>
          <a:lstStyle/>
          <a:p>
            <a:pPr marL="0" indent="0">
              <a:buNone/>
            </a:pPr>
            <a:r>
              <a:rPr lang="en-US" sz="1200" b="1" kern="0" spc="400" dirty="0">
                <a:solidFill>
                  <a:srgbClr val="8B1A2B"/>
                </a:solidFill>
                <a:latin typeface="Calibri" pitchFamily="34" charset="0"/>
                <a:ea typeface="Calibri" pitchFamily="34" charset="-122"/>
                <a:cs typeface="Calibri" pitchFamily="34" charset="-120"/>
              </a:rPr>
              <a:t>WHAT STRIDE WOULD CATCH</a:t>
            </a:r>
            <a:endParaRPr lang="en-US" sz="1200" dirty="0"/>
          </a:p>
        </p:txBody>
      </p:sp>
      <p:sp>
        <p:nvSpPr>
          <p:cNvPr id="4" name="Text 2"/>
          <p:cNvSpPr/>
          <p:nvPr/>
        </p:nvSpPr>
        <p:spPr>
          <a:xfrm>
            <a:off x="731520" y="790957"/>
            <a:ext cx="11155680" cy="854963"/>
          </a:xfrm>
          <a:prstGeom prst="rect">
            <a:avLst/>
          </a:prstGeom>
          <a:noFill/>
          <a:ln/>
        </p:spPr>
        <p:txBody>
          <a:bodyPr wrap="square" lIns="0" tIns="0" rIns="0" bIns="0" rtlCol="0" anchor="ctr"/>
          <a:lstStyle/>
          <a:p>
            <a:pPr marL="0" indent="0">
              <a:buNone/>
            </a:pPr>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a:t>
            </a:r>
          </a:p>
          <a:p>
            <a:pPr marL="0" indent="0">
              <a:buNone/>
            </a:pPr>
            <a:r>
              <a:rPr lang="en-US" sz="3000" b="1" dirty="0">
                <a:solidFill>
                  <a:srgbClr val="1A1A2E"/>
                </a:solidFill>
                <a:latin typeface="Georgia" pitchFamily="34" charset="0"/>
                <a:ea typeface="Georgia" pitchFamily="34" charset="-122"/>
                <a:cs typeface="Georgia" pitchFamily="34" charset="-120"/>
              </a:rPr>
              <a:t>STRIDE Sees Some of It. Not Enough of It.</a:t>
            </a:r>
            <a:endParaRPr lang="en-US" sz="3000"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Shape 5"/>
          <p:cNvSpPr/>
          <p:nvPr/>
        </p:nvSpPr>
        <p:spPr>
          <a:xfrm>
            <a:off x="731520" y="2103120"/>
            <a:ext cx="3657600" cy="16916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8" name="Shape 6"/>
          <p:cNvSpPr/>
          <p:nvPr/>
        </p:nvSpPr>
        <p:spPr>
          <a:xfrm>
            <a:off x="731520" y="2103120"/>
            <a:ext cx="502920" cy="502920"/>
          </a:xfrm>
          <a:prstGeom prst="rect">
            <a:avLst/>
          </a:prstGeom>
          <a:solidFill>
            <a:srgbClr val="C77A2B"/>
          </a:solidFill>
          <a:ln w="12700">
            <a:solidFill>
              <a:srgbClr val="8B1A2B"/>
            </a:solidFill>
            <a:prstDash val="solid"/>
          </a:ln>
        </p:spPr>
        <p:txBody>
          <a:bodyPr/>
          <a:lstStyle/>
          <a:p>
            <a:endParaRPr lang="en-US"/>
          </a:p>
        </p:txBody>
      </p:sp>
      <p:sp>
        <p:nvSpPr>
          <p:cNvPr id="9" name="Text 7"/>
          <p:cNvSpPr/>
          <p:nvPr/>
        </p:nvSpPr>
        <p:spPr>
          <a:xfrm>
            <a:off x="731520" y="210312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S</a:t>
            </a:r>
            <a:endParaRPr lang="en-US" sz="2200" dirty="0"/>
          </a:p>
        </p:txBody>
      </p:sp>
      <p:sp>
        <p:nvSpPr>
          <p:cNvPr id="10" name="Text 8"/>
          <p:cNvSpPr/>
          <p:nvPr/>
        </p:nvSpPr>
        <p:spPr>
          <a:xfrm>
            <a:off x="1325880" y="2148840"/>
            <a:ext cx="1965960" cy="274320"/>
          </a:xfrm>
          <a:prstGeom prst="rect">
            <a:avLst/>
          </a:prstGeom>
          <a:noFill/>
          <a:ln/>
        </p:spPr>
        <p:txBody>
          <a:bodyPr wrap="square" lIns="0" tIns="0" rIns="0" bIns="0" rtlCol="0" anchor="ctr"/>
          <a:lstStyle/>
          <a:p>
            <a:pPr marL="0" indent="0">
              <a:buNone/>
            </a:pPr>
            <a:r>
              <a:rPr lang="en-US" sz="1600" b="1" dirty="0">
                <a:solidFill>
                  <a:srgbClr val="1A1A2E"/>
                </a:solidFill>
                <a:latin typeface="Georgia" pitchFamily="34" charset="0"/>
                <a:ea typeface="Georgia" pitchFamily="34" charset="-122"/>
                <a:cs typeface="Georgia" pitchFamily="34" charset="-120"/>
              </a:rPr>
              <a:t>Spoofing</a:t>
            </a:r>
            <a:endParaRPr lang="en-US" sz="1600" dirty="0"/>
          </a:p>
        </p:txBody>
      </p:sp>
      <p:sp>
        <p:nvSpPr>
          <p:cNvPr id="11" name="Shape 9"/>
          <p:cNvSpPr/>
          <p:nvPr/>
        </p:nvSpPr>
        <p:spPr>
          <a:xfrm>
            <a:off x="3383280" y="2194560"/>
            <a:ext cx="914400" cy="292608"/>
          </a:xfrm>
          <a:prstGeom prst="rect">
            <a:avLst/>
          </a:prstGeom>
          <a:solidFill>
            <a:srgbClr val="C77A2B"/>
          </a:solidFill>
          <a:ln w="12700">
            <a:solidFill>
              <a:srgbClr val="C77A2B"/>
            </a:solidFill>
            <a:prstDash val="solid"/>
          </a:ln>
        </p:spPr>
        <p:txBody>
          <a:bodyPr/>
          <a:lstStyle/>
          <a:p>
            <a:endParaRPr lang="en-US"/>
          </a:p>
        </p:txBody>
      </p:sp>
      <p:sp>
        <p:nvSpPr>
          <p:cNvPr id="12" name="Text 10"/>
          <p:cNvSpPr/>
          <p:nvPr/>
        </p:nvSpPr>
        <p:spPr>
          <a:xfrm>
            <a:off x="3383280" y="2194560"/>
            <a:ext cx="914400" cy="29260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PARTIAL</a:t>
            </a:r>
            <a:endParaRPr lang="en-US" sz="1200" dirty="0"/>
          </a:p>
        </p:txBody>
      </p:sp>
      <p:sp>
        <p:nvSpPr>
          <p:cNvPr id="13" name="Text 11"/>
          <p:cNvSpPr/>
          <p:nvPr/>
        </p:nvSpPr>
        <p:spPr>
          <a:xfrm>
            <a:off x="868680" y="2697480"/>
            <a:ext cx="3383280" cy="1005840"/>
          </a:xfrm>
          <a:prstGeom prst="rect">
            <a:avLst/>
          </a:prstGeom>
          <a:noFill/>
          <a:ln/>
        </p:spPr>
        <p:txBody>
          <a:bodyPr wrap="square" lIns="0" tIns="0" rIns="0" bIns="0" rtlCol="0" anchor="t"/>
          <a:lstStyle/>
          <a:p>
            <a:pPr marL="0" indent="0">
              <a:buNone/>
            </a:pPr>
            <a:r>
              <a:rPr lang="en-US" sz="1400" dirty="0">
                <a:solidFill>
                  <a:srgbClr val="5C5C6E"/>
                </a:solidFill>
                <a:latin typeface="Calibri" pitchFamily="34" charset="0"/>
                <a:ea typeface="Calibri" pitchFamily="34" charset="-122"/>
                <a:cs typeface="Calibri" pitchFamily="34" charset="-120"/>
              </a:rPr>
              <a:t>Identifies attacker impersonation in email — but </a:t>
            </a:r>
            <a:r>
              <a:rPr lang="en-US" sz="1400" b="1" dirty="0">
                <a:solidFill>
                  <a:srgbClr val="5C5C6E"/>
                </a:solidFill>
                <a:latin typeface="Calibri" pitchFamily="34" charset="0"/>
                <a:ea typeface="Calibri" pitchFamily="34" charset="-122"/>
                <a:cs typeface="Calibri" pitchFamily="34" charset="-120"/>
              </a:rPr>
              <a:t>doesn't model the email body itself impersonating an instruction from the user</a:t>
            </a:r>
            <a:r>
              <a:rPr lang="en-US" sz="1400" dirty="0">
                <a:solidFill>
                  <a:srgbClr val="5C5C6E"/>
                </a:solidFill>
                <a:latin typeface="Calibri" pitchFamily="34" charset="0"/>
                <a:ea typeface="Calibri" pitchFamily="34" charset="-122"/>
                <a:cs typeface="Calibri" pitchFamily="34" charset="-120"/>
              </a:rPr>
              <a:t>.</a:t>
            </a:r>
            <a:endParaRPr lang="en-US" sz="1400" dirty="0"/>
          </a:p>
        </p:txBody>
      </p:sp>
      <p:sp>
        <p:nvSpPr>
          <p:cNvPr id="14" name="Shape 12"/>
          <p:cNvSpPr/>
          <p:nvPr/>
        </p:nvSpPr>
        <p:spPr>
          <a:xfrm>
            <a:off x="4526280" y="2103120"/>
            <a:ext cx="3657600" cy="16916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15" name="Shape 13"/>
          <p:cNvSpPr/>
          <p:nvPr/>
        </p:nvSpPr>
        <p:spPr>
          <a:xfrm>
            <a:off x="4526280" y="2103120"/>
            <a:ext cx="502920" cy="502920"/>
          </a:xfrm>
          <a:prstGeom prst="rect">
            <a:avLst/>
          </a:prstGeom>
          <a:solidFill>
            <a:srgbClr val="8B1A2B"/>
          </a:solidFill>
          <a:ln w="12700">
            <a:solidFill>
              <a:srgbClr val="8B1A2B"/>
            </a:solidFill>
            <a:prstDash val="solid"/>
          </a:ln>
        </p:spPr>
        <p:txBody>
          <a:bodyPr/>
          <a:lstStyle/>
          <a:p>
            <a:endParaRPr lang="en-US"/>
          </a:p>
        </p:txBody>
      </p:sp>
      <p:sp>
        <p:nvSpPr>
          <p:cNvPr id="16" name="Text 14"/>
          <p:cNvSpPr/>
          <p:nvPr/>
        </p:nvSpPr>
        <p:spPr>
          <a:xfrm>
            <a:off x="4526280" y="210312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T</a:t>
            </a:r>
            <a:endParaRPr lang="en-US" sz="2200" dirty="0"/>
          </a:p>
        </p:txBody>
      </p:sp>
      <p:sp>
        <p:nvSpPr>
          <p:cNvPr id="17" name="Text 15"/>
          <p:cNvSpPr/>
          <p:nvPr/>
        </p:nvSpPr>
        <p:spPr>
          <a:xfrm>
            <a:off x="5120640" y="2148840"/>
            <a:ext cx="1965960" cy="274320"/>
          </a:xfrm>
          <a:prstGeom prst="rect">
            <a:avLst/>
          </a:prstGeom>
          <a:noFill/>
          <a:ln/>
        </p:spPr>
        <p:txBody>
          <a:bodyPr wrap="square" lIns="0" tIns="0" rIns="0" bIns="0" rtlCol="0" anchor="ctr"/>
          <a:lstStyle/>
          <a:p>
            <a:pPr marL="0" indent="0">
              <a:buNone/>
            </a:pPr>
            <a:r>
              <a:rPr lang="en-US" sz="1600" b="1" dirty="0">
                <a:solidFill>
                  <a:srgbClr val="1A1A2E"/>
                </a:solidFill>
                <a:latin typeface="Georgia" pitchFamily="34" charset="0"/>
                <a:ea typeface="Georgia" pitchFamily="34" charset="-122"/>
                <a:cs typeface="Georgia" pitchFamily="34" charset="-120"/>
              </a:rPr>
              <a:t>Tampering</a:t>
            </a:r>
            <a:endParaRPr lang="en-US" sz="1600" dirty="0"/>
          </a:p>
        </p:txBody>
      </p:sp>
      <p:sp>
        <p:nvSpPr>
          <p:cNvPr id="18" name="Shape 16"/>
          <p:cNvSpPr/>
          <p:nvPr/>
        </p:nvSpPr>
        <p:spPr>
          <a:xfrm>
            <a:off x="7178040" y="2194560"/>
            <a:ext cx="914400" cy="292608"/>
          </a:xfrm>
          <a:prstGeom prst="rect">
            <a:avLst/>
          </a:prstGeom>
          <a:solidFill>
            <a:srgbClr val="8B1A2B"/>
          </a:solidFill>
          <a:ln w="12700">
            <a:solidFill>
              <a:srgbClr val="8B1A2B"/>
            </a:solidFill>
            <a:prstDash val="solid"/>
          </a:ln>
        </p:spPr>
        <p:txBody>
          <a:bodyPr/>
          <a:lstStyle/>
          <a:p>
            <a:endParaRPr lang="en-US"/>
          </a:p>
        </p:txBody>
      </p:sp>
      <p:sp>
        <p:nvSpPr>
          <p:cNvPr id="19" name="Text 17"/>
          <p:cNvSpPr/>
          <p:nvPr/>
        </p:nvSpPr>
        <p:spPr>
          <a:xfrm>
            <a:off x="7178040" y="2194560"/>
            <a:ext cx="914400" cy="29260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MISS</a:t>
            </a:r>
            <a:endParaRPr lang="en-US" sz="1200" dirty="0"/>
          </a:p>
        </p:txBody>
      </p:sp>
      <p:sp>
        <p:nvSpPr>
          <p:cNvPr id="20" name="Text 18"/>
          <p:cNvSpPr/>
          <p:nvPr/>
        </p:nvSpPr>
        <p:spPr>
          <a:xfrm>
            <a:off x="4663440" y="2697480"/>
            <a:ext cx="3383280" cy="1005840"/>
          </a:xfrm>
          <a:prstGeom prst="rect">
            <a:avLst/>
          </a:prstGeom>
          <a:noFill/>
          <a:ln/>
        </p:spPr>
        <p:txBody>
          <a:bodyPr wrap="square" lIns="0" tIns="0" rIns="0" bIns="0" rtlCol="0" anchor="t"/>
          <a:lstStyle/>
          <a:p>
            <a:pPr marL="0" indent="0">
              <a:buNone/>
            </a:pPr>
            <a:r>
              <a:rPr lang="en-US" sz="1400" dirty="0">
                <a:solidFill>
                  <a:srgbClr val="5C5C6E"/>
                </a:solidFill>
                <a:latin typeface="Calibri" pitchFamily="34" charset="0"/>
                <a:ea typeface="Calibri" pitchFamily="34" charset="-122"/>
                <a:cs typeface="Calibri" pitchFamily="34" charset="-120"/>
              </a:rPr>
              <a:t>STRIDE looks for data tampering at rest or in transit. </a:t>
            </a:r>
            <a:r>
              <a:rPr lang="en-US" sz="1400" b="1" dirty="0">
                <a:solidFill>
                  <a:srgbClr val="5C5C6E"/>
                </a:solidFill>
                <a:latin typeface="Calibri" pitchFamily="34" charset="0"/>
                <a:ea typeface="Calibri" pitchFamily="34" charset="-122"/>
                <a:cs typeface="Calibri" pitchFamily="34" charset="-120"/>
              </a:rPr>
              <a:t>EchoLeak tampers with the AI's reasoning at inference time </a:t>
            </a:r>
            <a:r>
              <a:rPr lang="en-US" sz="1400" dirty="0">
                <a:solidFill>
                  <a:srgbClr val="5C5C6E"/>
                </a:solidFill>
                <a:latin typeface="Calibri" pitchFamily="34" charset="0"/>
                <a:ea typeface="Calibri" pitchFamily="34" charset="-122"/>
                <a:cs typeface="Calibri" pitchFamily="34" charset="-120"/>
              </a:rPr>
              <a:t>— a category STRIDE has no name for.</a:t>
            </a:r>
            <a:endParaRPr lang="en-US" sz="1400" dirty="0"/>
          </a:p>
        </p:txBody>
      </p:sp>
      <p:sp>
        <p:nvSpPr>
          <p:cNvPr id="21" name="Shape 19"/>
          <p:cNvSpPr/>
          <p:nvPr/>
        </p:nvSpPr>
        <p:spPr>
          <a:xfrm>
            <a:off x="8321040" y="2103120"/>
            <a:ext cx="3657600" cy="16916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22" name="Shape 20"/>
          <p:cNvSpPr/>
          <p:nvPr/>
        </p:nvSpPr>
        <p:spPr>
          <a:xfrm>
            <a:off x="8321040" y="2103120"/>
            <a:ext cx="502920" cy="502920"/>
          </a:xfrm>
          <a:prstGeom prst="rect">
            <a:avLst/>
          </a:prstGeom>
          <a:solidFill>
            <a:srgbClr val="8B1A2B"/>
          </a:solidFill>
          <a:ln w="12700">
            <a:solidFill>
              <a:srgbClr val="8B1A2B"/>
            </a:solidFill>
            <a:prstDash val="solid"/>
          </a:ln>
        </p:spPr>
        <p:txBody>
          <a:bodyPr/>
          <a:lstStyle/>
          <a:p>
            <a:endParaRPr lang="en-US"/>
          </a:p>
        </p:txBody>
      </p:sp>
      <p:sp>
        <p:nvSpPr>
          <p:cNvPr id="23" name="Text 21"/>
          <p:cNvSpPr/>
          <p:nvPr/>
        </p:nvSpPr>
        <p:spPr>
          <a:xfrm>
            <a:off x="8321040" y="210312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R</a:t>
            </a:r>
            <a:endParaRPr lang="en-US" sz="2200" dirty="0"/>
          </a:p>
        </p:txBody>
      </p:sp>
      <p:sp>
        <p:nvSpPr>
          <p:cNvPr id="24" name="Text 22"/>
          <p:cNvSpPr/>
          <p:nvPr/>
        </p:nvSpPr>
        <p:spPr>
          <a:xfrm>
            <a:off x="8915400" y="2148840"/>
            <a:ext cx="1965960" cy="274320"/>
          </a:xfrm>
          <a:prstGeom prst="rect">
            <a:avLst/>
          </a:prstGeom>
          <a:noFill/>
          <a:ln/>
        </p:spPr>
        <p:txBody>
          <a:bodyPr wrap="square" lIns="0" tIns="0" rIns="0" bIns="0" rtlCol="0" anchor="ctr"/>
          <a:lstStyle/>
          <a:p>
            <a:pPr marL="0" indent="0">
              <a:buNone/>
            </a:pPr>
            <a:r>
              <a:rPr lang="en-US" sz="1600" b="1" dirty="0">
                <a:solidFill>
                  <a:srgbClr val="1A1A2E"/>
                </a:solidFill>
                <a:latin typeface="Georgia" pitchFamily="34" charset="0"/>
                <a:ea typeface="Georgia" pitchFamily="34" charset="-122"/>
                <a:cs typeface="Georgia" pitchFamily="34" charset="-120"/>
              </a:rPr>
              <a:t>Repudiation</a:t>
            </a:r>
            <a:endParaRPr lang="en-US" sz="1600" dirty="0"/>
          </a:p>
        </p:txBody>
      </p:sp>
      <p:sp>
        <p:nvSpPr>
          <p:cNvPr id="25" name="Shape 23"/>
          <p:cNvSpPr/>
          <p:nvPr/>
        </p:nvSpPr>
        <p:spPr>
          <a:xfrm>
            <a:off x="10972800" y="2194560"/>
            <a:ext cx="914400" cy="292608"/>
          </a:xfrm>
          <a:prstGeom prst="rect">
            <a:avLst/>
          </a:prstGeom>
          <a:solidFill>
            <a:srgbClr val="8B1A2B"/>
          </a:solidFill>
          <a:ln w="12700">
            <a:solidFill>
              <a:srgbClr val="8B1A2B"/>
            </a:solidFill>
            <a:prstDash val="solid"/>
          </a:ln>
        </p:spPr>
        <p:txBody>
          <a:bodyPr/>
          <a:lstStyle/>
          <a:p>
            <a:endParaRPr lang="en-US"/>
          </a:p>
        </p:txBody>
      </p:sp>
      <p:sp>
        <p:nvSpPr>
          <p:cNvPr id="26" name="Text 24"/>
          <p:cNvSpPr/>
          <p:nvPr/>
        </p:nvSpPr>
        <p:spPr>
          <a:xfrm>
            <a:off x="10972800" y="2194560"/>
            <a:ext cx="914400" cy="29260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MISS</a:t>
            </a:r>
            <a:endParaRPr lang="en-US" sz="1200" dirty="0"/>
          </a:p>
        </p:txBody>
      </p:sp>
      <p:sp>
        <p:nvSpPr>
          <p:cNvPr id="27" name="Text 25"/>
          <p:cNvSpPr/>
          <p:nvPr/>
        </p:nvSpPr>
        <p:spPr>
          <a:xfrm>
            <a:off x="8458200" y="2697480"/>
            <a:ext cx="3383280" cy="1005840"/>
          </a:xfrm>
          <a:prstGeom prst="rect">
            <a:avLst/>
          </a:prstGeom>
          <a:noFill/>
          <a:ln/>
        </p:spPr>
        <p:txBody>
          <a:bodyPr wrap="square" lIns="0" tIns="0" rIns="0" bIns="0" rtlCol="0" anchor="t"/>
          <a:lstStyle/>
          <a:p>
            <a:pPr marL="0" indent="0">
              <a:buNone/>
            </a:pPr>
            <a:r>
              <a:rPr lang="en-US" sz="1400" dirty="0">
                <a:solidFill>
                  <a:srgbClr val="5C5C6E"/>
                </a:solidFill>
                <a:latin typeface="Calibri" pitchFamily="34" charset="0"/>
                <a:ea typeface="Calibri" pitchFamily="34" charset="-122"/>
                <a:cs typeface="Calibri" pitchFamily="34" charset="-120"/>
              </a:rPr>
              <a:t>Asks: can users deny actions? The relevant question for EchoLeak is: </a:t>
            </a:r>
            <a:r>
              <a:rPr lang="en-US" sz="1400" b="1" dirty="0">
                <a:solidFill>
                  <a:srgbClr val="5C5C6E"/>
                </a:solidFill>
                <a:latin typeface="Calibri" pitchFamily="34" charset="0"/>
                <a:ea typeface="Calibri" pitchFamily="34" charset="-122"/>
                <a:cs typeface="Calibri" pitchFamily="34" charset="-120"/>
              </a:rPr>
              <a:t>who's the actor at all when the agent follows orders from a document?</a:t>
            </a:r>
            <a:endParaRPr lang="en-US" sz="1400" b="1" dirty="0"/>
          </a:p>
        </p:txBody>
      </p:sp>
      <p:sp>
        <p:nvSpPr>
          <p:cNvPr id="28" name="Shape 26"/>
          <p:cNvSpPr/>
          <p:nvPr/>
        </p:nvSpPr>
        <p:spPr>
          <a:xfrm>
            <a:off x="731520" y="3931920"/>
            <a:ext cx="3657600" cy="16916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29" name="Shape 27"/>
          <p:cNvSpPr/>
          <p:nvPr/>
        </p:nvSpPr>
        <p:spPr>
          <a:xfrm>
            <a:off x="731520" y="3931920"/>
            <a:ext cx="502920" cy="502920"/>
          </a:xfrm>
          <a:prstGeom prst="rect">
            <a:avLst/>
          </a:prstGeom>
          <a:solidFill>
            <a:srgbClr val="8B1A2B"/>
          </a:solidFill>
          <a:ln w="12700">
            <a:solidFill>
              <a:srgbClr val="8B1A2B"/>
            </a:solidFill>
            <a:prstDash val="solid"/>
          </a:ln>
        </p:spPr>
        <p:txBody>
          <a:bodyPr/>
          <a:lstStyle/>
          <a:p>
            <a:endParaRPr lang="en-US"/>
          </a:p>
        </p:txBody>
      </p:sp>
      <p:sp>
        <p:nvSpPr>
          <p:cNvPr id="30" name="Text 28"/>
          <p:cNvSpPr/>
          <p:nvPr/>
        </p:nvSpPr>
        <p:spPr>
          <a:xfrm>
            <a:off x="731520" y="3931920"/>
            <a:ext cx="502920" cy="502920"/>
          </a:xfrm>
          <a:prstGeom prst="rect">
            <a:avLst/>
          </a:prstGeom>
          <a:solidFill>
            <a:srgbClr val="2C784A"/>
          </a:solid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I</a:t>
            </a:r>
            <a:endParaRPr lang="en-US" sz="2200" dirty="0"/>
          </a:p>
        </p:txBody>
      </p:sp>
      <p:sp>
        <p:nvSpPr>
          <p:cNvPr id="31" name="Text 29"/>
          <p:cNvSpPr/>
          <p:nvPr/>
        </p:nvSpPr>
        <p:spPr>
          <a:xfrm>
            <a:off x="1303020" y="4032504"/>
            <a:ext cx="1965960" cy="274320"/>
          </a:xfrm>
          <a:prstGeom prst="rect">
            <a:avLst/>
          </a:prstGeom>
          <a:noFill/>
          <a:ln/>
        </p:spPr>
        <p:txBody>
          <a:bodyPr wrap="square" lIns="0" tIns="0" rIns="0" bIns="0" rtlCol="0" anchor="ctr"/>
          <a:lstStyle/>
          <a:p>
            <a:pPr marL="0" indent="0">
              <a:buNone/>
            </a:pPr>
            <a:r>
              <a:rPr lang="en-US" sz="1600" b="1" dirty="0">
                <a:solidFill>
                  <a:srgbClr val="1A1A2E"/>
                </a:solidFill>
                <a:latin typeface="Georgia" pitchFamily="34" charset="0"/>
                <a:ea typeface="Georgia" pitchFamily="34" charset="-122"/>
                <a:cs typeface="Georgia" pitchFamily="34" charset="-120"/>
              </a:rPr>
              <a:t>Information Disclosure</a:t>
            </a:r>
            <a:endParaRPr lang="en-US" sz="1600" dirty="0"/>
          </a:p>
        </p:txBody>
      </p:sp>
      <p:sp>
        <p:nvSpPr>
          <p:cNvPr id="32" name="Shape 30"/>
          <p:cNvSpPr/>
          <p:nvPr/>
        </p:nvSpPr>
        <p:spPr>
          <a:xfrm>
            <a:off x="3383280" y="4023360"/>
            <a:ext cx="914400" cy="292608"/>
          </a:xfrm>
          <a:prstGeom prst="rect">
            <a:avLst/>
          </a:prstGeom>
          <a:solidFill>
            <a:srgbClr val="2D7A4B"/>
          </a:solidFill>
          <a:ln w="12700">
            <a:solidFill>
              <a:srgbClr val="2D7A4B"/>
            </a:solidFill>
            <a:prstDash val="solid"/>
          </a:ln>
        </p:spPr>
        <p:txBody>
          <a:bodyPr/>
          <a:lstStyle/>
          <a:p>
            <a:endParaRPr lang="en-US"/>
          </a:p>
        </p:txBody>
      </p:sp>
      <p:sp>
        <p:nvSpPr>
          <p:cNvPr id="33" name="Text 31"/>
          <p:cNvSpPr/>
          <p:nvPr/>
        </p:nvSpPr>
        <p:spPr>
          <a:xfrm>
            <a:off x="3383280" y="4023360"/>
            <a:ext cx="914400" cy="29260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HIT</a:t>
            </a:r>
            <a:endParaRPr lang="en-US" sz="1200" dirty="0"/>
          </a:p>
        </p:txBody>
      </p:sp>
      <p:sp>
        <p:nvSpPr>
          <p:cNvPr id="34" name="Text 32"/>
          <p:cNvSpPr/>
          <p:nvPr/>
        </p:nvSpPr>
        <p:spPr>
          <a:xfrm>
            <a:off x="868680" y="4526280"/>
            <a:ext cx="3383280" cy="1005840"/>
          </a:xfrm>
          <a:prstGeom prst="rect">
            <a:avLst/>
          </a:prstGeom>
          <a:noFill/>
          <a:ln/>
        </p:spPr>
        <p:txBody>
          <a:bodyPr wrap="square" lIns="0" tIns="0" rIns="0" bIns="0" rtlCol="0" anchor="t"/>
          <a:lstStyle/>
          <a:p>
            <a:pPr marL="0" indent="0">
              <a:buNone/>
            </a:pPr>
            <a:r>
              <a:rPr lang="en-US" sz="1400" dirty="0">
                <a:solidFill>
                  <a:srgbClr val="5C5C6E"/>
                </a:solidFill>
                <a:latin typeface="Calibri" pitchFamily="34" charset="0"/>
                <a:ea typeface="Calibri" pitchFamily="34" charset="-122"/>
                <a:cs typeface="Calibri" pitchFamily="34" charset="-120"/>
              </a:rPr>
              <a:t>STRIDE's strongest fit. </a:t>
            </a:r>
            <a:r>
              <a:rPr lang="en-US" sz="1400" b="1" dirty="0">
                <a:solidFill>
                  <a:srgbClr val="5C5C6E"/>
                </a:solidFill>
                <a:latin typeface="Calibri" pitchFamily="34" charset="0"/>
                <a:ea typeface="Calibri" pitchFamily="34" charset="-122"/>
                <a:cs typeface="Calibri" pitchFamily="34" charset="-120"/>
              </a:rPr>
              <a:t>Correctly flags data leaving through the image URL channel. </a:t>
            </a:r>
            <a:r>
              <a:rPr lang="en-US" sz="1400" dirty="0">
                <a:solidFill>
                  <a:srgbClr val="5C5C6E"/>
                </a:solidFill>
                <a:latin typeface="Calibri" pitchFamily="34" charset="0"/>
                <a:ea typeface="Calibri" pitchFamily="34" charset="-122"/>
                <a:cs typeface="Calibri" pitchFamily="34" charset="-120"/>
              </a:rPr>
              <a:t>Doesn't explain why the agent emitted it in the first place.</a:t>
            </a:r>
            <a:endParaRPr lang="en-US" sz="1400" dirty="0"/>
          </a:p>
        </p:txBody>
      </p:sp>
      <p:sp>
        <p:nvSpPr>
          <p:cNvPr id="35" name="Shape 33"/>
          <p:cNvSpPr/>
          <p:nvPr/>
        </p:nvSpPr>
        <p:spPr>
          <a:xfrm>
            <a:off x="4526280" y="3931920"/>
            <a:ext cx="3657600" cy="16916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36" name="Shape 34"/>
          <p:cNvSpPr/>
          <p:nvPr/>
        </p:nvSpPr>
        <p:spPr>
          <a:xfrm>
            <a:off x="4526280" y="3931920"/>
            <a:ext cx="502920" cy="502920"/>
          </a:xfrm>
          <a:prstGeom prst="rect">
            <a:avLst/>
          </a:prstGeom>
          <a:solidFill>
            <a:srgbClr val="8B1A2B"/>
          </a:solidFill>
          <a:ln w="12700">
            <a:solidFill>
              <a:srgbClr val="8B1A2B"/>
            </a:solidFill>
            <a:prstDash val="solid"/>
          </a:ln>
        </p:spPr>
        <p:txBody>
          <a:bodyPr/>
          <a:lstStyle/>
          <a:p>
            <a:endParaRPr lang="en-US"/>
          </a:p>
        </p:txBody>
      </p:sp>
      <p:sp>
        <p:nvSpPr>
          <p:cNvPr id="37" name="Text 35"/>
          <p:cNvSpPr/>
          <p:nvPr/>
        </p:nvSpPr>
        <p:spPr>
          <a:xfrm>
            <a:off x="4526280" y="3931920"/>
            <a:ext cx="502920" cy="502920"/>
          </a:xfrm>
          <a:prstGeom prst="rect">
            <a:avLst/>
          </a:prstGeom>
          <a:solidFill>
            <a:srgbClr val="5C5C6E"/>
          </a:solid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D</a:t>
            </a:r>
            <a:endParaRPr lang="en-US" sz="2200" dirty="0"/>
          </a:p>
        </p:txBody>
      </p:sp>
      <p:sp>
        <p:nvSpPr>
          <p:cNvPr id="38" name="Text 36"/>
          <p:cNvSpPr/>
          <p:nvPr/>
        </p:nvSpPr>
        <p:spPr>
          <a:xfrm>
            <a:off x="5120640" y="3977640"/>
            <a:ext cx="1965960" cy="274320"/>
          </a:xfrm>
          <a:prstGeom prst="rect">
            <a:avLst/>
          </a:prstGeom>
          <a:noFill/>
          <a:ln/>
        </p:spPr>
        <p:txBody>
          <a:bodyPr wrap="square" lIns="0" tIns="0" rIns="0" bIns="0" rtlCol="0" anchor="ctr"/>
          <a:lstStyle/>
          <a:p>
            <a:pPr marL="0" indent="0">
              <a:buNone/>
            </a:pPr>
            <a:r>
              <a:rPr lang="en-US" sz="1600" b="1" dirty="0">
                <a:solidFill>
                  <a:srgbClr val="1A1A2E"/>
                </a:solidFill>
                <a:latin typeface="Georgia" pitchFamily="34" charset="0"/>
                <a:ea typeface="Georgia" pitchFamily="34" charset="-122"/>
                <a:cs typeface="Georgia" pitchFamily="34" charset="-120"/>
              </a:rPr>
              <a:t>Denial of Service</a:t>
            </a:r>
            <a:endParaRPr lang="en-US" sz="1600" dirty="0"/>
          </a:p>
        </p:txBody>
      </p:sp>
      <p:sp>
        <p:nvSpPr>
          <p:cNvPr id="39" name="Shape 37"/>
          <p:cNvSpPr/>
          <p:nvPr/>
        </p:nvSpPr>
        <p:spPr>
          <a:xfrm>
            <a:off x="7178040" y="4023360"/>
            <a:ext cx="914400" cy="292608"/>
          </a:xfrm>
          <a:prstGeom prst="rect">
            <a:avLst/>
          </a:prstGeom>
          <a:solidFill>
            <a:srgbClr val="5C5C6E"/>
          </a:solidFill>
          <a:ln w="12700">
            <a:solidFill>
              <a:srgbClr val="5C5C6E"/>
            </a:solidFill>
            <a:prstDash val="solid"/>
          </a:ln>
        </p:spPr>
        <p:txBody>
          <a:bodyPr/>
          <a:lstStyle/>
          <a:p>
            <a:endParaRPr lang="en-US"/>
          </a:p>
        </p:txBody>
      </p:sp>
      <p:sp>
        <p:nvSpPr>
          <p:cNvPr id="40" name="Text 38"/>
          <p:cNvSpPr/>
          <p:nvPr/>
        </p:nvSpPr>
        <p:spPr>
          <a:xfrm>
            <a:off x="7178040" y="4023360"/>
            <a:ext cx="914400" cy="29260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N/A</a:t>
            </a:r>
            <a:endParaRPr lang="en-US" sz="1200" dirty="0"/>
          </a:p>
        </p:txBody>
      </p:sp>
      <p:sp>
        <p:nvSpPr>
          <p:cNvPr id="41" name="Text 39"/>
          <p:cNvSpPr/>
          <p:nvPr/>
        </p:nvSpPr>
        <p:spPr>
          <a:xfrm>
            <a:off x="4663440" y="4526280"/>
            <a:ext cx="3383280" cy="1005840"/>
          </a:xfrm>
          <a:prstGeom prst="rect">
            <a:avLst/>
          </a:prstGeom>
          <a:noFill/>
          <a:ln/>
        </p:spPr>
        <p:txBody>
          <a:bodyPr wrap="square" lIns="0" tIns="0" rIns="0" bIns="0" rtlCol="0" anchor="t"/>
          <a:lstStyle/>
          <a:p>
            <a:pPr marL="0" indent="0">
              <a:buNone/>
            </a:pPr>
            <a:r>
              <a:rPr lang="en-US" sz="1400" dirty="0">
                <a:solidFill>
                  <a:srgbClr val="5C5C6E"/>
                </a:solidFill>
                <a:latin typeface="Calibri" pitchFamily="34" charset="0"/>
                <a:ea typeface="Calibri" pitchFamily="34" charset="-122"/>
                <a:cs typeface="Calibri" pitchFamily="34" charset="-120"/>
              </a:rPr>
              <a:t>Not the attack pattern here. EchoLeak is about exfiltration and silent compromise, not availability disruption.</a:t>
            </a:r>
            <a:endParaRPr lang="en-US" sz="1400" dirty="0"/>
          </a:p>
        </p:txBody>
      </p:sp>
      <p:sp>
        <p:nvSpPr>
          <p:cNvPr id="42" name="Shape 40"/>
          <p:cNvSpPr/>
          <p:nvPr/>
        </p:nvSpPr>
        <p:spPr>
          <a:xfrm>
            <a:off x="8321040" y="3931920"/>
            <a:ext cx="3657600" cy="1691640"/>
          </a:xfrm>
          <a:prstGeom prst="rect">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43" name="Shape 41"/>
          <p:cNvSpPr/>
          <p:nvPr/>
        </p:nvSpPr>
        <p:spPr>
          <a:xfrm>
            <a:off x="8321040" y="3931920"/>
            <a:ext cx="502920" cy="502920"/>
          </a:xfrm>
          <a:prstGeom prst="rect">
            <a:avLst/>
          </a:prstGeom>
          <a:solidFill>
            <a:srgbClr val="8B1A2B"/>
          </a:solidFill>
          <a:ln w="12700">
            <a:solidFill>
              <a:srgbClr val="8B1A2B"/>
            </a:solidFill>
            <a:prstDash val="solid"/>
          </a:ln>
        </p:spPr>
        <p:txBody>
          <a:bodyPr/>
          <a:lstStyle/>
          <a:p>
            <a:endParaRPr lang="en-US"/>
          </a:p>
        </p:txBody>
      </p:sp>
      <p:sp>
        <p:nvSpPr>
          <p:cNvPr id="44" name="Text 42"/>
          <p:cNvSpPr/>
          <p:nvPr/>
        </p:nvSpPr>
        <p:spPr>
          <a:xfrm>
            <a:off x="8321040" y="3931920"/>
            <a:ext cx="502920" cy="502920"/>
          </a:xfrm>
          <a:prstGeom prst="rect">
            <a:avLst/>
          </a:prstGeom>
          <a:solidFill>
            <a:srgbClr val="C77A2B"/>
          </a:solid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E</a:t>
            </a:r>
            <a:endParaRPr lang="en-US" sz="2200" dirty="0"/>
          </a:p>
        </p:txBody>
      </p:sp>
      <p:sp>
        <p:nvSpPr>
          <p:cNvPr id="45" name="Text 43"/>
          <p:cNvSpPr/>
          <p:nvPr/>
        </p:nvSpPr>
        <p:spPr>
          <a:xfrm>
            <a:off x="8915400" y="4032504"/>
            <a:ext cx="1965960" cy="274320"/>
          </a:xfrm>
          <a:prstGeom prst="rect">
            <a:avLst/>
          </a:prstGeom>
          <a:noFill/>
          <a:ln/>
        </p:spPr>
        <p:txBody>
          <a:bodyPr wrap="square" lIns="0" tIns="0" rIns="0" bIns="0" rtlCol="0" anchor="ctr"/>
          <a:lstStyle/>
          <a:p>
            <a:pPr marL="0" indent="0">
              <a:buNone/>
            </a:pPr>
            <a:r>
              <a:rPr lang="en-US" sz="1600" b="1" dirty="0">
                <a:solidFill>
                  <a:srgbClr val="1A1A2E"/>
                </a:solidFill>
                <a:latin typeface="Georgia" pitchFamily="34" charset="0"/>
                <a:ea typeface="Georgia" pitchFamily="34" charset="-122"/>
                <a:cs typeface="Georgia" pitchFamily="34" charset="-120"/>
              </a:rPr>
              <a:t>Elevation of Privilege</a:t>
            </a:r>
            <a:endParaRPr lang="en-US" sz="1600" dirty="0"/>
          </a:p>
        </p:txBody>
      </p:sp>
      <p:sp>
        <p:nvSpPr>
          <p:cNvPr id="46" name="Shape 44"/>
          <p:cNvSpPr/>
          <p:nvPr/>
        </p:nvSpPr>
        <p:spPr>
          <a:xfrm>
            <a:off x="10972800" y="4023360"/>
            <a:ext cx="914400" cy="292608"/>
          </a:xfrm>
          <a:prstGeom prst="rect">
            <a:avLst/>
          </a:prstGeom>
          <a:solidFill>
            <a:srgbClr val="C77A2B"/>
          </a:solidFill>
          <a:ln w="12700">
            <a:solidFill>
              <a:srgbClr val="C77A2B"/>
            </a:solidFill>
            <a:prstDash val="solid"/>
          </a:ln>
        </p:spPr>
        <p:txBody>
          <a:bodyPr/>
          <a:lstStyle/>
          <a:p>
            <a:endParaRPr lang="en-US"/>
          </a:p>
        </p:txBody>
      </p:sp>
      <p:sp>
        <p:nvSpPr>
          <p:cNvPr id="47" name="Text 45"/>
          <p:cNvSpPr/>
          <p:nvPr/>
        </p:nvSpPr>
        <p:spPr>
          <a:xfrm>
            <a:off x="10972800" y="4023360"/>
            <a:ext cx="914400" cy="292608"/>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PARTIAL</a:t>
            </a:r>
            <a:endParaRPr lang="en-US" sz="1200" dirty="0"/>
          </a:p>
        </p:txBody>
      </p:sp>
      <p:sp>
        <p:nvSpPr>
          <p:cNvPr id="48" name="Text 46"/>
          <p:cNvSpPr/>
          <p:nvPr/>
        </p:nvSpPr>
        <p:spPr>
          <a:xfrm>
            <a:off x="8458200" y="4526280"/>
            <a:ext cx="3383280" cy="1005840"/>
          </a:xfrm>
          <a:prstGeom prst="rect">
            <a:avLst/>
          </a:prstGeom>
          <a:noFill/>
          <a:ln/>
        </p:spPr>
        <p:txBody>
          <a:bodyPr wrap="square" lIns="0" tIns="0" rIns="0" bIns="0" rtlCol="0" anchor="t"/>
          <a:lstStyle/>
          <a:p>
            <a:pPr marL="0" indent="0">
              <a:buNone/>
            </a:pPr>
            <a:r>
              <a:rPr lang="en-US" sz="1400" b="1" dirty="0">
                <a:solidFill>
                  <a:srgbClr val="5C5C6E"/>
                </a:solidFill>
                <a:latin typeface="Calibri" pitchFamily="34" charset="0"/>
                <a:ea typeface="Calibri" pitchFamily="34" charset="-122"/>
                <a:cs typeface="Calibri" pitchFamily="34" charset="-120"/>
              </a:rPr>
              <a:t>Identifies the agent operating with user-equivalent privileges </a:t>
            </a:r>
            <a:r>
              <a:rPr lang="en-US" sz="1400" dirty="0">
                <a:solidFill>
                  <a:srgbClr val="5C5C6E"/>
                </a:solidFill>
                <a:latin typeface="Calibri" pitchFamily="34" charset="0"/>
                <a:ea typeface="Calibri" pitchFamily="34" charset="-122"/>
                <a:cs typeface="Calibri" pitchFamily="34" charset="-120"/>
              </a:rPr>
              <a:t>as a risk — but treats it as a config issue, not as principal confusion between human and AI.</a:t>
            </a:r>
            <a:endParaRPr lang="en-US" sz="1400" dirty="0"/>
          </a:p>
        </p:txBody>
      </p:sp>
      <p:sp>
        <p:nvSpPr>
          <p:cNvPr id="49" name="Shape 47"/>
          <p:cNvSpPr/>
          <p:nvPr/>
        </p:nvSpPr>
        <p:spPr>
          <a:xfrm>
            <a:off x="731520" y="6172200"/>
            <a:ext cx="10698480" cy="457200"/>
          </a:xfrm>
          <a:prstGeom prst="rect">
            <a:avLst/>
          </a:prstGeom>
          <a:solidFill>
            <a:srgbClr val="1A1A2E"/>
          </a:solidFill>
          <a:ln w="12700">
            <a:solidFill>
              <a:srgbClr val="1A1A2E"/>
            </a:solidFill>
            <a:prstDash val="solid"/>
          </a:ln>
        </p:spPr>
        <p:txBody>
          <a:bodyPr/>
          <a:lstStyle/>
          <a:p>
            <a:endParaRPr lang="en-US"/>
          </a:p>
        </p:txBody>
      </p:sp>
      <p:sp>
        <p:nvSpPr>
          <p:cNvPr id="50" name="Text 48"/>
          <p:cNvSpPr/>
          <p:nvPr/>
        </p:nvSpPr>
        <p:spPr>
          <a:xfrm>
            <a:off x="914400" y="6172200"/>
            <a:ext cx="103327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gap:  </a:t>
            </a:r>
            <a:r>
              <a:rPr lang="en-US" sz="1600" dirty="0">
                <a:solidFill>
                  <a:srgbClr val="FFFFFF"/>
                </a:solidFill>
                <a:latin typeface="Calibri" pitchFamily="34" charset="0"/>
                <a:ea typeface="Calibri" pitchFamily="34" charset="-122"/>
                <a:cs typeface="Calibri" pitchFamily="34" charset="-120"/>
              </a:rPr>
              <a:t>STRIDE assumes a system that follows rules. Agentic AI follows </a:t>
            </a:r>
            <a:r>
              <a:rPr lang="en-US" sz="1600" i="1" dirty="0">
                <a:solidFill>
                  <a:srgbClr val="FFFFFF"/>
                </a:solidFill>
                <a:latin typeface="Calibri" pitchFamily="34" charset="0"/>
                <a:ea typeface="Calibri" pitchFamily="34" charset="-122"/>
                <a:cs typeface="Calibri" pitchFamily="34" charset="-120"/>
              </a:rPr>
              <a:t>language</a:t>
            </a:r>
            <a:r>
              <a:rPr lang="en-US" sz="1600" dirty="0">
                <a:solidFill>
                  <a:srgbClr val="FFFFFF"/>
                </a:solidFill>
                <a:latin typeface="Calibri" pitchFamily="34" charset="0"/>
                <a:ea typeface="Calibri" pitchFamily="34" charset="-122"/>
                <a:cs typeface="Calibri" pitchFamily="34" charset="-120"/>
              </a:rPr>
              <a:t> — and STRIDE has no category for that.</a:t>
            </a:r>
            <a:endParaRPr lang="en-US" sz="1600" dirty="0"/>
          </a:p>
        </p:txBody>
      </p:sp>
      <p:sp>
        <p:nvSpPr>
          <p:cNvPr id="51" name="TextBox 50"/>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15 / 43</a:t>
            </a:r>
          </a:p>
        </p:txBody>
      </p:sp>
    </p:spTree>
  </p:cSld>
  <p:clrMapOvr>
    <a:masterClrMapping/>
  </p:clrMapOvr>
  <mc:AlternateContent xmlns:mc="http://schemas.openxmlformats.org/markup-compatibility/2006">
    <mc:Choice xmlns:p14="http://schemas.microsoft.com/office/powerpoint/2010/main" Requires="p14">
      <p:transition spd="slow" p14:dur="2000" advTm="87427"/>
    </mc:Choice>
    <mc:Fallback>
      <p:transition spd="slow" advTm="8742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F9BB4-A544-9769-571F-2E785783FF2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AD256B8-7807-7441-68BA-E8971C29DF92}"/>
              </a:ext>
            </a:extLst>
          </p:cNvPr>
          <p:cNvSpPr/>
          <p:nvPr/>
        </p:nvSpPr>
        <p:spPr>
          <a:xfrm>
            <a:off x="640080" y="1188720"/>
            <a:ext cx="10972800" cy="457200"/>
          </a:xfrm>
          <a:prstGeom prst="rect">
            <a:avLst/>
          </a:prstGeom>
          <a:noFill/>
          <a:ln/>
        </p:spPr>
        <p:txBody>
          <a:bodyPr wrap="square" lIns="0" tIns="0" rIns="0" bIns="0" rtlCol="0" anchor="ctr"/>
          <a:lstStyle/>
          <a:p>
            <a:pPr marL="0" indent="0">
              <a:buNone/>
            </a:pPr>
            <a:endParaRPr lang="en-US" dirty="0"/>
          </a:p>
        </p:txBody>
      </p:sp>
      <p:sp>
        <p:nvSpPr>
          <p:cNvPr id="4" name="Shape 2">
            <a:extLst>
              <a:ext uri="{FF2B5EF4-FFF2-40B4-BE49-F238E27FC236}">
                <a16:creationId xmlns:a16="http://schemas.microsoft.com/office/drawing/2014/main" id="{87D9B91D-F824-DC68-7946-3BC362FFFBBE}"/>
              </a:ext>
              <a:ext uri="{C183D7F6-B498-43B3-948B-1728B52AA6E4}">
                <adec:decorative xmlns:adec="http://schemas.microsoft.com/office/drawing/2017/decorative" val="1"/>
              </a:ext>
            </a:extLst>
          </p:cNvPr>
          <p:cNvSpPr/>
          <p:nvPr/>
        </p:nvSpPr>
        <p:spPr>
          <a:xfrm>
            <a:off x="822960" y="513080"/>
            <a:ext cx="777240" cy="777240"/>
          </a:xfrm>
          <a:prstGeom prst="ellipse">
            <a:avLst/>
          </a:prstGeom>
          <a:solidFill>
            <a:srgbClr val="06B6D4"/>
          </a:solidFill>
          <a:ln/>
        </p:spPr>
        <p:txBody>
          <a:bodyPr/>
          <a:lstStyle/>
          <a:p>
            <a:endParaRPr lang="en-US" dirty="0"/>
          </a:p>
        </p:txBody>
      </p:sp>
      <p:sp>
        <p:nvSpPr>
          <p:cNvPr id="5" name="Text 3">
            <a:extLst>
              <a:ext uri="{FF2B5EF4-FFF2-40B4-BE49-F238E27FC236}">
                <a16:creationId xmlns:a16="http://schemas.microsoft.com/office/drawing/2014/main" id="{538FC73F-DA13-4296-B708-438BDF9959E1}"/>
              </a:ext>
            </a:extLst>
          </p:cNvPr>
          <p:cNvSpPr/>
          <p:nvPr/>
        </p:nvSpPr>
        <p:spPr>
          <a:xfrm>
            <a:off x="822960" y="1965960"/>
            <a:ext cx="777240" cy="777240"/>
          </a:xfrm>
          <a:prstGeom prst="rect">
            <a:avLst/>
          </a:prstGeom>
          <a:noFill/>
          <a:ln/>
        </p:spPr>
        <p:txBody>
          <a:bodyPr wrap="square" lIns="0" tIns="0" rIns="0" bIns="0" rtlCol="0" anchor="ctr"/>
          <a:lstStyle/>
          <a:p>
            <a:pPr marL="0" indent="0" algn="ctr">
              <a:buNone/>
            </a:pPr>
            <a:endParaRPr lang="en-US" sz="3000" dirty="0"/>
          </a:p>
        </p:txBody>
      </p:sp>
      <p:sp>
        <p:nvSpPr>
          <p:cNvPr id="7" name="Text 5">
            <a:extLst>
              <a:ext uri="{FF2B5EF4-FFF2-40B4-BE49-F238E27FC236}">
                <a16:creationId xmlns:a16="http://schemas.microsoft.com/office/drawing/2014/main" id="{7013600A-D23A-8EA4-2F82-A64EBDBCA5C4}"/>
              </a:ext>
            </a:extLst>
          </p:cNvPr>
          <p:cNvSpPr/>
          <p:nvPr/>
        </p:nvSpPr>
        <p:spPr>
          <a:xfrm>
            <a:off x="1828800" y="2377440"/>
            <a:ext cx="9601200" cy="365760"/>
          </a:xfrm>
          <a:prstGeom prst="rect">
            <a:avLst/>
          </a:prstGeom>
          <a:noFill/>
          <a:ln/>
        </p:spPr>
        <p:txBody>
          <a:bodyPr wrap="square" lIns="0" tIns="0" rIns="0" bIns="0" rtlCol="0" anchor="t"/>
          <a:lstStyle/>
          <a:p>
            <a:pPr marL="0" indent="0">
              <a:buNone/>
            </a:pPr>
            <a:endParaRPr lang="en-US" sz="1600" dirty="0"/>
          </a:p>
        </p:txBody>
      </p:sp>
      <p:sp>
        <p:nvSpPr>
          <p:cNvPr id="9" name="Text 7">
            <a:extLst>
              <a:ext uri="{FF2B5EF4-FFF2-40B4-BE49-F238E27FC236}">
                <a16:creationId xmlns:a16="http://schemas.microsoft.com/office/drawing/2014/main" id="{2FFA3779-857C-986C-4A0E-518080DE2161}"/>
              </a:ext>
            </a:extLst>
          </p:cNvPr>
          <p:cNvSpPr/>
          <p:nvPr/>
        </p:nvSpPr>
        <p:spPr>
          <a:xfrm>
            <a:off x="822960" y="2926080"/>
            <a:ext cx="777240" cy="777240"/>
          </a:xfrm>
          <a:prstGeom prst="rect">
            <a:avLst/>
          </a:prstGeom>
          <a:noFill/>
          <a:ln/>
        </p:spPr>
        <p:txBody>
          <a:bodyPr wrap="square" lIns="0" tIns="0" rIns="0" bIns="0" rtlCol="0" anchor="ctr"/>
          <a:lstStyle/>
          <a:p>
            <a:pPr marL="0" indent="0" algn="ctr">
              <a:buNone/>
            </a:pPr>
            <a:endParaRPr lang="en-US" sz="3000" dirty="0"/>
          </a:p>
        </p:txBody>
      </p:sp>
      <p:sp>
        <p:nvSpPr>
          <p:cNvPr id="17" name="Text 15">
            <a:extLst>
              <a:ext uri="{FF2B5EF4-FFF2-40B4-BE49-F238E27FC236}">
                <a16:creationId xmlns:a16="http://schemas.microsoft.com/office/drawing/2014/main" id="{2CF48ADC-E764-F79E-6185-EA0C260C835F}"/>
              </a:ext>
            </a:extLst>
          </p:cNvPr>
          <p:cNvSpPr/>
          <p:nvPr/>
        </p:nvSpPr>
        <p:spPr>
          <a:xfrm>
            <a:off x="822960" y="4516490"/>
            <a:ext cx="777240" cy="777240"/>
          </a:xfrm>
          <a:prstGeom prst="rect">
            <a:avLst/>
          </a:prstGeom>
          <a:noFill/>
          <a:ln/>
        </p:spPr>
        <p:txBody>
          <a:bodyPr wrap="square" lIns="0" tIns="0" rIns="0" bIns="0" rtlCol="0" anchor="ctr"/>
          <a:lstStyle/>
          <a:p>
            <a:pPr marL="0" indent="0" algn="ctr">
              <a:buNone/>
            </a:pPr>
            <a:endParaRPr lang="en-US" sz="3000" b="1" dirty="0">
              <a:solidFill>
                <a:schemeClr val="bg1"/>
              </a:solidFill>
              <a:latin typeface="Georgia" panose="02040502050405020303" pitchFamily="18" charset="0"/>
            </a:endParaRPr>
          </a:p>
        </p:txBody>
      </p:sp>
      <p:sp>
        <p:nvSpPr>
          <p:cNvPr id="24" name="Text 21">
            <a:extLst>
              <a:ext uri="{FF2B5EF4-FFF2-40B4-BE49-F238E27FC236}">
                <a16:creationId xmlns:a16="http://schemas.microsoft.com/office/drawing/2014/main" id="{B27785C5-0203-D39A-A083-3B8073FBEEDA}"/>
              </a:ext>
            </a:extLst>
          </p:cNvPr>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5" name="Text 11">
            <a:extLst>
              <a:ext uri="{FF2B5EF4-FFF2-40B4-BE49-F238E27FC236}">
                <a16:creationId xmlns:a16="http://schemas.microsoft.com/office/drawing/2014/main" id="{1C24A93C-8781-1BC0-5639-7B63D0CEFF61}"/>
              </a:ext>
            </a:extLst>
          </p:cNvPr>
          <p:cNvSpPr/>
          <p:nvPr/>
        </p:nvSpPr>
        <p:spPr>
          <a:xfrm>
            <a:off x="822960" y="2678734"/>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2</a:t>
            </a:r>
            <a:endParaRPr lang="en-US" sz="3000" dirty="0"/>
          </a:p>
        </p:txBody>
      </p:sp>
      <p:sp>
        <p:nvSpPr>
          <p:cNvPr id="26" name="Text 11">
            <a:extLst>
              <a:ext uri="{FF2B5EF4-FFF2-40B4-BE49-F238E27FC236}">
                <a16:creationId xmlns:a16="http://schemas.microsoft.com/office/drawing/2014/main" id="{5ABDCB01-8F3B-58BA-CBEB-E5A39EDBDC23}"/>
              </a:ext>
            </a:extLst>
          </p:cNvPr>
          <p:cNvSpPr/>
          <p:nvPr/>
        </p:nvSpPr>
        <p:spPr>
          <a:xfrm>
            <a:off x="822960" y="464183"/>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4</a:t>
            </a:r>
            <a:endParaRPr lang="en-US" sz="3000" dirty="0"/>
          </a:p>
        </p:txBody>
      </p:sp>
      <p:sp>
        <p:nvSpPr>
          <p:cNvPr id="11" name="Text 4">
            <a:extLst>
              <a:ext uri="{FF2B5EF4-FFF2-40B4-BE49-F238E27FC236}">
                <a16:creationId xmlns:a16="http://schemas.microsoft.com/office/drawing/2014/main" id="{9712C6C9-F12C-9F4B-2B19-82DEE4B1FC95}"/>
              </a:ext>
            </a:extLst>
          </p:cNvPr>
          <p:cNvSpPr/>
          <p:nvPr/>
        </p:nvSpPr>
        <p:spPr>
          <a:xfrm>
            <a:off x="1859280" y="630707"/>
            <a:ext cx="8534400" cy="457200"/>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Introducing MAESTRO</a:t>
            </a:r>
            <a:endParaRPr lang="en-US" sz="3600" dirty="0"/>
          </a:p>
        </p:txBody>
      </p:sp>
      <p:sp>
        <p:nvSpPr>
          <p:cNvPr id="19" name="Text 15">
            <a:extLst>
              <a:ext uri="{FF2B5EF4-FFF2-40B4-BE49-F238E27FC236}">
                <a16:creationId xmlns:a16="http://schemas.microsoft.com/office/drawing/2014/main" id="{9ADF5930-83CD-D205-5EFE-ECEE3A365373}"/>
              </a:ext>
            </a:extLst>
          </p:cNvPr>
          <p:cNvSpPr/>
          <p:nvPr/>
        </p:nvSpPr>
        <p:spPr>
          <a:xfrm>
            <a:off x="812800" y="543089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Georgia" panose="02040502050405020303" pitchFamily="18" charset="0"/>
              </a:rPr>
              <a:t>5</a:t>
            </a:r>
          </a:p>
        </p:txBody>
      </p:sp>
      <p:pic>
        <p:nvPicPr>
          <p:cNvPr id="8" name="Picture 7">
            <a:extLst>
              <a:ext uri="{FF2B5EF4-FFF2-40B4-BE49-F238E27FC236}">
                <a16:creationId xmlns:a16="http://schemas.microsoft.com/office/drawing/2014/main" id="{80022E13-FE1D-6484-2B2F-AC621F38EC7C}"/>
              </a:ext>
            </a:extLst>
          </p:cNvPr>
          <p:cNvPicPr>
            <a:picLocks noChangeAspect="1"/>
          </p:cNvPicPr>
          <p:nvPr/>
        </p:nvPicPr>
        <p:blipFill>
          <a:blip r:embed="rId3"/>
          <a:stretch>
            <a:fillRect/>
          </a:stretch>
        </p:blipFill>
        <p:spPr>
          <a:xfrm>
            <a:off x="3554730" y="1348740"/>
            <a:ext cx="5143500" cy="5143500"/>
          </a:xfrm>
          <a:prstGeom prst="rect">
            <a:avLst/>
          </a:prstGeom>
        </p:spPr>
      </p:pic>
      <p:sp>
        <p:nvSpPr>
          <p:cNvPr id="27" name="TextBox 26"/>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16 / 43</a:t>
            </a:r>
          </a:p>
        </p:txBody>
      </p:sp>
    </p:spTree>
    <p:extLst>
      <p:ext uri="{BB962C8B-B14F-4D97-AF65-F5344CB8AC3E}">
        <p14:creationId xmlns:p14="http://schemas.microsoft.com/office/powerpoint/2010/main" val="1140292191"/>
      </p:ext>
    </p:extLst>
  </p:cSld>
  <p:clrMapOvr>
    <a:masterClrMapping/>
  </p:clrMapOvr>
  <mc:AlternateContent xmlns:mc="http://schemas.openxmlformats.org/markup-compatibility/2006">
    <mc:Choice xmlns:p14="http://schemas.microsoft.com/office/powerpoint/2010/main" Requires="p14">
      <p:transition spd="slow" p14:dur="2000" advTm="4425"/>
    </mc:Choice>
    <mc:Fallback>
      <p:transition spd="slow" advTm="442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731520"/>
            <a:ext cx="10972800" cy="1371600"/>
          </a:xfrm>
          <a:prstGeom prst="rect">
            <a:avLst/>
          </a:prstGeom>
          <a:noFill/>
          <a:ln/>
        </p:spPr>
        <p:txBody>
          <a:bodyPr wrap="square" lIns="0" tIns="0" rIns="0" bIns="0" rtlCol="0" anchor="ctr"/>
          <a:lstStyle/>
          <a:p>
            <a:pPr marL="0" indent="0">
              <a:buNone/>
            </a:pPr>
            <a:r>
              <a:rPr lang="en-US" sz="9600" b="1" dirty="0">
                <a:solidFill>
                  <a:srgbClr val="E8F1FF"/>
                </a:solidFill>
                <a:latin typeface="Georgia" pitchFamily="34" charset="0"/>
                <a:ea typeface="Georgia" pitchFamily="34" charset="-122"/>
                <a:cs typeface="Georgia" pitchFamily="34" charset="-120"/>
              </a:rPr>
              <a:t>MAESTRO</a:t>
            </a:r>
            <a:endParaRPr lang="en-US" sz="9600" dirty="0"/>
          </a:p>
        </p:txBody>
      </p:sp>
      <p:sp>
        <p:nvSpPr>
          <p:cNvPr id="3" name="Shape 1">
            <a:extLst>
              <a:ext uri="{C183D7F6-B498-43B3-948B-1728B52AA6E4}">
                <adec:decorative xmlns:adec="http://schemas.microsoft.com/office/drawing/2017/decorative" val="1"/>
              </a:ext>
            </a:extLst>
          </p:cNvPr>
          <p:cNvSpPr/>
          <p:nvPr/>
        </p:nvSpPr>
        <p:spPr>
          <a:xfrm>
            <a:off x="640080" y="2148840"/>
            <a:ext cx="1371600" cy="45720"/>
          </a:xfrm>
          <a:prstGeom prst="rect">
            <a:avLst/>
          </a:prstGeom>
          <a:solidFill>
            <a:srgbClr val="06B6D4"/>
          </a:solidFill>
          <a:ln/>
        </p:spPr>
        <p:txBody>
          <a:bodyPr/>
          <a:lstStyle/>
          <a:p>
            <a:endParaRPr lang="en-US"/>
          </a:p>
        </p:txBody>
      </p:sp>
      <p:sp>
        <p:nvSpPr>
          <p:cNvPr id="4" name="Text 2"/>
          <p:cNvSpPr/>
          <p:nvPr/>
        </p:nvSpPr>
        <p:spPr>
          <a:xfrm>
            <a:off x="640080" y="2331720"/>
            <a:ext cx="10972800" cy="548640"/>
          </a:xfrm>
          <a:prstGeom prst="rect">
            <a:avLst/>
          </a:prstGeom>
          <a:noFill/>
          <a:ln/>
        </p:spPr>
        <p:txBody>
          <a:bodyPr wrap="square" lIns="0" tIns="0" rIns="0" bIns="0" rtlCol="0" anchor="ctr"/>
          <a:lstStyle/>
          <a:p>
            <a:pPr marL="0" indent="0">
              <a:buNone/>
            </a:pPr>
            <a:r>
              <a:rPr lang="en-US" sz="2200" i="1" dirty="0">
                <a:solidFill>
                  <a:srgbClr val="06B6D4"/>
                </a:solidFill>
                <a:latin typeface="Calibri" pitchFamily="34" charset="0"/>
                <a:ea typeface="Calibri" pitchFamily="34" charset="-122"/>
                <a:cs typeface="Calibri" pitchFamily="34" charset="-120"/>
              </a:rPr>
              <a:t>Multi-Agent Environment, Security, Threat, Risk, and Outcome</a:t>
            </a:r>
            <a:endParaRPr lang="en-US" sz="2200" dirty="0"/>
          </a:p>
        </p:txBody>
      </p:sp>
      <p:sp>
        <p:nvSpPr>
          <p:cNvPr id="5" name="Shape 3">
            <a:extLst>
              <a:ext uri="{C183D7F6-B498-43B3-948B-1728B52AA6E4}">
                <adec:decorative xmlns:adec="http://schemas.microsoft.com/office/drawing/2017/decorative" val="1"/>
              </a:ext>
            </a:extLst>
          </p:cNvPr>
          <p:cNvSpPr/>
          <p:nvPr/>
        </p:nvSpPr>
        <p:spPr>
          <a:xfrm>
            <a:off x="640080" y="3200400"/>
            <a:ext cx="10972800" cy="1417320"/>
          </a:xfrm>
          <a:prstGeom prst="rect">
            <a:avLst/>
          </a:prstGeom>
          <a:solidFill>
            <a:srgbClr val="1A2B47"/>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3520440"/>
            <a:ext cx="640080" cy="640080"/>
          </a:xfrm>
          <a:prstGeom prst="rect">
            <a:avLst/>
          </a:prstGeom>
        </p:spPr>
      </p:pic>
      <p:sp>
        <p:nvSpPr>
          <p:cNvPr id="7" name="Text 4"/>
          <p:cNvSpPr/>
          <p:nvPr/>
        </p:nvSpPr>
        <p:spPr>
          <a:xfrm>
            <a:off x="1828800" y="3383280"/>
            <a:ext cx="9144000" cy="457200"/>
          </a:xfrm>
          <a:prstGeom prst="rect">
            <a:avLst/>
          </a:prstGeom>
          <a:noFill/>
          <a:ln/>
        </p:spPr>
        <p:txBody>
          <a:bodyPr wrap="square" lIns="0" tIns="0" rIns="0" bIns="0" rtlCol="0" anchor="ctr"/>
          <a:lstStyle/>
          <a:p>
            <a:pPr marL="0" indent="0">
              <a:buNone/>
            </a:pPr>
            <a:r>
              <a:rPr lang="en-US" sz="1400" b="1" kern="0" spc="200" dirty="0">
                <a:solidFill>
                  <a:srgbClr val="B8C9E0"/>
                </a:solidFill>
                <a:latin typeface="Calibri" pitchFamily="34" charset="0"/>
                <a:ea typeface="Calibri" pitchFamily="34" charset="-122"/>
                <a:cs typeface="Calibri" pitchFamily="34" charset="-120"/>
              </a:rPr>
              <a:t>Published February 2025 · Cloud Security Alliance</a:t>
            </a:r>
            <a:endParaRPr lang="en-US" sz="1400" dirty="0"/>
          </a:p>
        </p:txBody>
      </p:sp>
      <p:sp>
        <p:nvSpPr>
          <p:cNvPr id="8" name="Text 5"/>
          <p:cNvSpPr/>
          <p:nvPr/>
        </p:nvSpPr>
        <p:spPr>
          <a:xfrm>
            <a:off x="1828800" y="3794760"/>
            <a:ext cx="9144000" cy="457200"/>
          </a:xfrm>
          <a:prstGeom prst="rect">
            <a:avLst/>
          </a:prstGeom>
          <a:noFill/>
          <a:ln/>
        </p:spPr>
        <p:txBody>
          <a:bodyPr wrap="square" lIns="0" tIns="0" rIns="0" bIns="0" rtlCol="0" anchor="ctr"/>
          <a:lstStyle/>
          <a:p>
            <a:pPr marL="0" indent="0">
              <a:buNone/>
            </a:pPr>
            <a:r>
              <a:rPr lang="en-US" sz="1800" i="1" dirty="0">
                <a:solidFill>
                  <a:srgbClr val="E8F1FF"/>
                </a:solidFill>
                <a:latin typeface="Georgia" pitchFamily="34" charset="0"/>
                <a:ea typeface="Georgia" pitchFamily="34" charset="-122"/>
                <a:cs typeface="Georgia" pitchFamily="34" charset="-120"/>
              </a:rPr>
              <a:t>Ken Huang — CEO of DistributedApps.ai, Co-Chair of CSA AI Safety Working Groups</a:t>
            </a:r>
            <a:endParaRPr lang="en-US" sz="1800" dirty="0"/>
          </a:p>
        </p:txBody>
      </p:sp>
      <p:sp>
        <p:nvSpPr>
          <p:cNvPr id="9" name="Text 6"/>
          <p:cNvSpPr/>
          <p:nvPr/>
        </p:nvSpPr>
        <p:spPr>
          <a:xfrm>
            <a:off x="1828800" y="4206240"/>
            <a:ext cx="9144000" cy="365760"/>
          </a:xfrm>
          <a:prstGeom prst="rect">
            <a:avLst/>
          </a:prstGeom>
          <a:noFill/>
          <a:ln/>
        </p:spPr>
        <p:txBody>
          <a:bodyPr wrap="square" lIns="0" tIns="0" rIns="0" bIns="0" rtlCol="0" anchor="ctr"/>
          <a:lstStyle/>
          <a:p>
            <a:pPr marL="0" indent="0">
              <a:buNone/>
            </a:pPr>
            <a:r>
              <a:rPr lang="en-US" sz="1200" dirty="0">
                <a:solidFill>
                  <a:srgbClr val="06B6D4"/>
                </a:solidFill>
                <a:latin typeface="Consolas" pitchFamily="34" charset="0"/>
                <a:ea typeface="Consolas" pitchFamily="34" charset="-122"/>
                <a:cs typeface="Consolas" pitchFamily="34" charset="-120"/>
              </a:rPr>
              <a:t>cloudsecurityalliance.org/blog/2025/02/06/agentic-ai-threat-modeling-framework-maestro</a:t>
            </a:r>
            <a:endParaRPr lang="en-US" sz="1200" dirty="0"/>
          </a:p>
        </p:txBody>
      </p:sp>
      <p:sp>
        <p:nvSpPr>
          <p:cNvPr id="11" name="Text 8"/>
          <p:cNvSpPr/>
          <p:nvPr/>
        </p:nvSpPr>
        <p:spPr>
          <a:xfrm>
            <a:off x="640080" y="5074920"/>
            <a:ext cx="10972800" cy="640080"/>
          </a:xfrm>
          <a:prstGeom prst="rect">
            <a:avLst/>
          </a:prstGeom>
          <a:noFill/>
          <a:ln/>
        </p:spPr>
        <p:txBody>
          <a:bodyPr wrap="square" lIns="0" tIns="0" rIns="0" bIns="0" rtlCol="0" anchor="ctr"/>
          <a:lstStyle/>
          <a:p>
            <a:pPr marL="0" indent="0">
              <a:buNone/>
            </a:pPr>
            <a:r>
              <a:rPr lang="en-US" sz="2400" i="1" dirty="0">
                <a:solidFill>
                  <a:srgbClr val="E8F1FF"/>
                </a:solidFill>
                <a:latin typeface="Georgia" pitchFamily="34" charset="0"/>
                <a:ea typeface="Georgia" pitchFamily="34" charset="-122"/>
                <a:cs typeface="Georgia" pitchFamily="34" charset="-120"/>
              </a:rPr>
              <a:t>An agent isn’t one thing — it’s seven things stacked on top of each other.</a:t>
            </a:r>
            <a:endParaRPr lang="en-US" sz="2400" dirty="0"/>
          </a:p>
        </p:txBody>
      </p:sp>
      <p:sp>
        <p:nvSpPr>
          <p:cNvPr id="14" name="Text 11"/>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B8C9E0"/>
                </a:solidFill>
                <a:latin typeface="Calibri" pitchFamily="34" charset="0"/>
                <a:ea typeface="Calibri" pitchFamily="34" charset="-122"/>
                <a:cs typeface="Calibri" pitchFamily="34" charset="-120"/>
              </a:rPr>
              <a:t>Beyond STRIDE</a:t>
            </a:r>
            <a:endParaRPr lang="en-US" sz="1000" dirty="0"/>
          </a:p>
        </p:txBody>
      </p:sp>
      <p:sp>
        <p:nvSpPr>
          <p:cNvPr id="15" name="TextBox 14"/>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17 / 43</a:t>
            </a:r>
          </a:p>
        </p:txBody>
      </p:sp>
    </p:spTree>
  </p:cSld>
  <p:clrMapOvr>
    <a:masterClrMapping/>
  </p:clrMapOvr>
  <mc:AlternateContent xmlns:mc="http://schemas.openxmlformats.org/markup-compatibility/2006">
    <mc:Choice xmlns:p14="http://schemas.microsoft.com/office/powerpoint/2010/main" Requires="p14">
      <p:transition spd="slow" p14:dur="2000" advTm="54025"/>
    </mc:Choice>
    <mc:Fallback>
      <p:transition spd="slow" advTm="5402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marL="0" indent="0">
              <a:buNone/>
            </a:pPr>
            <a:r>
              <a:rPr lang="en-US" sz="3200" b="1" dirty="0">
                <a:solidFill>
                  <a:srgbClr val="E8F1FF"/>
                </a:solidFill>
                <a:latin typeface="Georgia" pitchFamily="34" charset="0"/>
                <a:ea typeface="Georgia" pitchFamily="34" charset="-122"/>
                <a:cs typeface="Georgia" pitchFamily="34" charset="-120"/>
              </a:rPr>
              <a:t>The seven-layer reference architecture</a:t>
            </a:r>
            <a:endParaRPr lang="en-US" sz="3200" dirty="0"/>
          </a:p>
        </p:txBody>
      </p:sp>
      <p:sp>
        <p:nvSpPr>
          <p:cNvPr id="3" name="Text 1"/>
          <p:cNvSpPr/>
          <p:nvPr/>
        </p:nvSpPr>
        <p:spPr>
          <a:xfrm>
            <a:off x="640080" y="1097280"/>
            <a:ext cx="10972800" cy="457200"/>
          </a:xfrm>
          <a:prstGeom prst="rect">
            <a:avLst/>
          </a:prstGeom>
          <a:noFill/>
          <a:ln/>
        </p:spPr>
        <p:txBody>
          <a:bodyPr wrap="square" lIns="0" tIns="0" rIns="0" bIns="0" rtlCol="0" anchor="ctr"/>
          <a:lstStyle/>
          <a:p>
            <a:pPr marL="0" indent="0">
              <a:buNone/>
            </a:pPr>
            <a:r>
              <a:rPr lang="en-US" sz="1600" i="1" dirty="0">
                <a:solidFill>
                  <a:srgbClr val="B8C9E0"/>
                </a:solidFill>
                <a:latin typeface="Calibri" pitchFamily="34" charset="0"/>
                <a:ea typeface="Calibri" pitchFamily="34" charset="-122"/>
                <a:cs typeface="Calibri" pitchFamily="34" charset="-120"/>
              </a:rPr>
              <a:t>From foundation models at the bottom, to multi-agent ecosystems at the top with security threading through everything.</a:t>
            </a:r>
            <a:endParaRPr lang="en-US" sz="1600" dirty="0"/>
          </a:p>
        </p:txBody>
      </p:sp>
      <p:sp>
        <p:nvSpPr>
          <p:cNvPr id="4" name="Shape 2">
            <a:extLst>
              <a:ext uri="{C183D7F6-B498-43B3-948B-1728B52AA6E4}">
                <adec:decorative xmlns:adec="http://schemas.microsoft.com/office/drawing/2017/decorative" val="1"/>
              </a:ext>
            </a:extLst>
          </p:cNvPr>
          <p:cNvSpPr/>
          <p:nvPr/>
        </p:nvSpPr>
        <p:spPr>
          <a:xfrm>
            <a:off x="640080" y="1783080"/>
            <a:ext cx="8686800" cy="594360"/>
          </a:xfrm>
          <a:prstGeom prst="rect">
            <a:avLst/>
          </a:prstGeom>
          <a:solidFill>
            <a:srgbClr val="1A2B47"/>
          </a:solidFill>
          <a:ln/>
        </p:spPr>
        <p:txBody>
          <a:bodyPr/>
          <a:lstStyle/>
          <a:p>
            <a:endParaRPr lang="en-US"/>
          </a:p>
        </p:txBody>
      </p:sp>
      <p:sp>
        <p:nvSpPr>
          <p:cNvPr id="5" name="Shape 3">
            <a:extLst>
              <a:ext uri="{C183D7F6-B498-43B3-948B-1728B52AA6E4}">
                <adec:decorative xmlns:adec="http://schemas.microsoft.com/office/drawing/2017/decorative" val="1"/>
              </a:ext>
            </a:extLst>
          </p:cNvPr>
          <p:cNvSpPr/>
          <p:nvPr/>
        </p:nvSpPr>
        <p:spPr>
          <a:xfrm>
            <a:off x="640080" y="1783080"/>
            <a:ext cx="137160" cy="594360"/>
          </a:xfrm>
          <a:prstGeom prst="rect">
            <a:avLst/>
          </a:prstGeom>
          <a:solidFill>
            <a:srgbClr val="06B6D4"/>
          </a:solidFill>
          <a:ln/>
        </p:spPr>
        <p:txBody>
          <a:bodyPr/>
          <a:lstStyle/>
          <a:p>
            <a:endParaRPr lang="en-US"/>
          </a:p>
        </p:txBody>
      </p:sp>
      <p:sp>
        <p:nvSpPr>
          <p:cNvPr id="6" name="Text 4"/>
          <p:cNvSpPr/>
          <p:nvPr/>
        </p:nvSpPr>
        <p:spPr>
          <a:xfrm>
            <a:off x="960120" y="1783080"/>
            <a:ext cx="822960" cy="594360"/>
          </a:xfrm>
          <a:prstGeom prst="rect">
            <a:avLst/>
          </a:prstGeom>
          <a:noFill/>
          <a:ln/>
        </p:spPr>
        <p:txBody>
          <a:bodyPr wrap="square" lIns="0" tIns="0" rIns="0" bIns="0" rtlCol="0" anchor="ctr"/>
          <a:lstStyle/>
          <a:p>
            <a:pPr marL="0" indent="0">
              <a:buNone/>
            </a:pPr>
            <a:r>
              <a:rPr lang="en-US" sz="2000" b="1" dirty="0">
                <a:solidFill>
                  <a:srgbClr val="06B6D4"/>
                </a:solidFill>
                <a:latin typeface="Georgia" pitchFamily="34" charset="0"/>
                <a:ea typeface="Georgia" pitchFamily="34" charset="-122"/>
                <a:cs typeface="Georgia" pitchFamily="34" charset="-120"/>
              </a:rPr>
              <a:t>L7</a:t>
            </a:r>
            <a:endParaRPr lang="en-US" sz="2000" dirty="0"/>
          </a:p>
        </p:txBody>
      </p:sp>
      <p:sp>
        <p:nvSpPr>
          <p:cNvPr id="7" name="Text 5"/>
          <p:cNvSpPr/>
          <p:nvPr/>
        </p:nvSpPr>
        <p:spPr>
          <a:xfrm>
            <a:off x="1920240" y="1783080"/>
            <a:ext cx="3200400" cy="594360"/>
          </a:xfrm>
          <a:prstGeom prst="rect">
            <a:avLst/>
          </a:prstGeom>
          <a:noFill/>
          <a:ln/>
        </p:spPr>
        <p:txBody>
          <a:bodyPr wrap="square" lIns="0" tIns="0" rIns="0" bIns="0" rtlCol="0" anchor="ctr"/>
          <a:lstStyle/>
          <a:p>
            <a:pPr marL="0" indent="0">
              <a:buNone/>
            </a:pPr>
            <a:r>
              <a:rPr lang="en-US" sz="1600" b="1" dirty="0">
                <a:solidFill>
                  <a:srgbClr val="E8F1FF"/>
                </a:solidFill>
                <a:latin typeface="Calibri" pitchFamily="34" charset="0"/>
                <a:ea typeface="Calibri" pitchFamily="34" charset="-122"/>
                <a:cs typeface="Calibri" pitchFamily="34" charset="-120"/>
              </a:rPr>
              <a:t>Agent Ecosystem</a:t>
            </a:r>
            <a:endParaRPr lang="en-US" sz="1600" dirty="0"/>
          </a:p>
        </p:txBody>
      </p:sp>
      <p:sp>
        <p:nvSpPr>
          <p:cNvPr id="8" name="Text 6"/>
          <p:cNvSpPr/>
          <p:nvPr/>
        </p:nvSpPr>
        <p:spPr>
          <a:xfrm>
            <a:off x="5166360" y="1783080"/>
            <a:ext cx="4023360" cy="594360"/>
          </a:xfrm>
          <a:prstGeom prst="rect">
            <a:avLst/>
          </a:prstGeom>
          <a:noFill/>
          <a:ln/>
        </p:spPr>
        <p:txBody>
          <a:bodyPr wrap="square" lIns="0" tIns="0" rIns="0" bIns="0" rtlCol="0" anchor="ctr"/>
          <a:lstStyle/>
          <a:p>
            <a:pPr marL="0" indent="0">
              <a:buNone/>
            </a:pPr>
            <a:r>
              <a:rPr lang="en-US" sz="1400" i="1" dirty="0">
                <a:solidFill>
                  <a:srgbClr val="B8C9E0"/>
                </a:solidFill>
                <a:latin typeface="Calibri" pitchFamily="34" charset="0"/>
                <a:ea typeface="Calibri" pitchFamily="34" charset="-122"/>
                <a:cs typeface="Calibri" pitchFamily="34" charset="-120"/>
              </a:rPr>
              <a:t>Multi-agent interactions, marketplaces, external services</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40080" y="2450592"/>
            <a:ext cx="8686800" cy="594360"/>
          </a:xfrm>
          <a:prstGeom prst="rect">
            <a:avLst/>
          </a:prstGeom>
          <a:solidFill>
            <a:srgbClr val="1A2B47"/>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640080" y="2450592"/>
            <a:ext cx="137160" cy="594360"/>
          </a:xfrm>
          <a:prstGeom prst="rect">
            <a:avLst/>
          </a:prstGeom>
          <a:solidFill>
            <a:srgbClr val="06B6D4"/>
          </a:solidFill>
          <a:ln/>
        </p:spPr>
        <p:txBody>
          <a:bodyPr/>
          <a:lstStyle/>
          <a:p>
            <a:endParaRPr lang="en-US"/>
          </a:p>
        </p:txBody>
      </p:sp>
      <p:sp>
        <p:nvSpPr>
          <p:cNvPr id="11" name="Text 9"/>
          <p:cNvSpPr/>
          <p:nvPr/>
        </p:nvSpPr>
        <p:spPr>
          <a:xfrm>
            <a:off x="960120" y="2450592"/>
            <a:ext cx="822960" cy="594360"/>
          </a:xfrm>
          <a:prstGeom prst="rect">
            <a:avLst/>
          </a:prstGeom>
          <a:noFill/>
          <a:ln/>
        </p:spPr>
        <p:txBody>
          <a:bodyPr wrap="square" lIns="0" tIns="0" rIns="0" bIns="0" rtlCol="0" anchor="ctr"/>
          <a:lstStyle/>
          <a:p>
            <a:pPr marL="0" indent="0">
              <a:buNone/>
            </a:pPr>
            <a:r>
              <a:rPr lang="en-US" sz="2000" b="1" dirty="0">
                <a:solidFill>
                  <a:srgbClr val="06B6D4"/>
                </a:solidFill>
                <a:latin typeface="Georgia" pitchFamily="34" charset="0"/>
                <a:ea typeface="Georgia" pitchFamily="34" charset="-122"/>
                <a:cs typeface="Georgia" pitchFamily="34" charset="-120"/>
              </a:rPr>
              <a:t>L5</a:t>
            </a:r>
            <a:endParaRPr lang="en-US" sz="2000" dirty="0"/>
          </a:p>
        </p:txBody>
      </p:sp>
      <p:sp>
        <p:nvSpPr>
          <p:cNvPr id="12" name="Text 10"/>
          <p:cNvSpPr/>
          <p:nvPr/>
        </p:nvSpPr>
        <p:spPr>
          <a:xfrm>
            <a:off x="1920240" y="2450592"/>
            <a:ext cx="3200400" cy="594360"/>
          </a:xfrm>
          <a:prstGeom prst="rect">
            <a:avLst/>
          </a:prstGeom>
          <a:noFill/>
          <a:ln/>
        </p:spPr>
        <p:txBody>
          <a:bodyPr wrap="square" lIns="0" tIns="0" rIns="0" bIns="0" rtlCol="0" anchor="ctr"/>
          <a:lstStyle/>
          <a:p>
            <a:pPr marL="0" indent="0">
              <a:buNone/>
            </a:pPr>
            <a:r>
              <a:rPr lang="en-US" sz="1600" b="1" dirty="0">
                <a:solidFill>
                  <a:srgbClr val="E8F1FF"/>
                </a:solidFill>
                <a:latin typeface="Calibri" pitchFamily="34" charset="0"/>
                <a:ea typeface="Calibri" pitchFamily="34" charset="-122"/>
                <a:cs typeface="Calibri" pitchFamily="34" charset="-120"/>
              </a:rPr>
              <a:t>Evaluation &amp; Observability</a:t>
            </a:r>
            <a:endParaRPr lang="en-US" sz="1600" dirty="0"/>
          </a:p>
        </p:txBody>
      </p:sp>
      <p:sp>
        <p:nvSpPr>
          <p:cNvPr id="13" name="Text 11"/>
          <p:cNvSpPr/>
          <p:nvPr/>
        </p:nvSpPr>
        <p:spPr>
          <a:xfrm>
            <a:off x="5166360" y="2450592"/>
            <a:ext cx="4023360" cy="594360"/>
          </a:xfrm>
          <a:prstGeom prst="rect">
            <a:avLst/>
          </a:prstGeom>
          <a:noFill/>
          <a:ln/>
        </p:spPr>
        <p:txBody>
          <a:bodyPr wrap="square" lIns="0" tIns="0" rIns="0" bIns="0" rtlCol="0" anchor="ctr"/>
          <a:lstStyle/>
          <a:p>
            <a:pPr marL="0" indent="0">
              <a:buNone/>
            </a:pPr>
            <a:r>
              <a:rPr lang="en-US" sz="1400" i="1" dirty="0">
                <a:solidFill>
                  <a:srgbClr val="B8C9E0"/>
                </a:solidFill>
                <a:latin typeface="Calibri" pitchFamily="34" charset="0"/>
                <a:ea typeface="Calibri" pitchFamily="34" charset="-122"/>
                <a:cs typeface="Calibri" pitchFamily="34" charset="-120"/>
              </a:rPr>
              <a:t>Monitoring, logs, eval harnesses, red-team regression</a:t>
            </a:r>
            <a:endParaRPr lang="en-US" sz="1400" dirty="0"/>
          </a:p>
        </p:txBody>
      </p:sp>
      <p:sp>
        <p:nvSpPr>
          <p:cNvPr id="14" name="Shape 12">
            <a:extLst>
              <a:ext uri="{C183D7F6-B498-43B3-948B-1728B52AA6E4}">
                <adec:decorative xmlns:adec="http://schemas.microsoft.com/office/drawing/2017/decorative" val="1"/>
              </a:ext>
            </a:extLst>
          </p:cNvPr>
          <p:cNvSpPr/>
          <p:nvPr/>
        </p:nvSpPr>
        <p:spPr>
          <a:xfrm>
            <a:off x="640080" y="3118104"/>
            <a:ext cx="8686800" cy="594360"/>
          </a:xfrm>
          <a:prstGeom prst="rect">
            <a:avLst/>
          </a:prstGeom>
          <a:solidFill>
            <a:srgbClr val="1A2B47"/>
          </a:solidFill>
          <a:ln/>
        </p:spPr>
        <p:txBody>
          <a:bodyPr/>
          <a:lstStyle/>
          <a:p>
            <a:endParaRPr lang="en-US"/>
          </a:p>
        </p:txBody>
      </p:sp>
      <p:sp>
        <p:nvSpPr>
          <p:cNvPr id="15" name="Shape 13">
            <a:extLst>
              <a:ext uri="{C183D7F6-B498-43B3-948B-1728B52AA6E4}">
                <adec:decorative xmlns:adec="http://schemas.microsoft.com/office/drawing/2017/decorative" val="1"/>
              </a:ext>
            </a:extLst>
          </p:cNvPr>
          <p:cNvSpPr/>
          <p:nvPr/>
        </p:nvSpPr>
        <p:spPr>
          <a:xfrm>
            <a:off x="640080" y="3118104"/>
            <a:ext cx="137160" cy="594360"/>
          </a:xfrm>
          <a:prstGeom prst="rect">
            <a:avLst/>
          </a:prstGeom>
          <a:solidFill>
            <a:srgbClr val="06B6D4"/>
          </a:solidFill>
          <a:ln/>
        </p:spPr>
        <p:txBody>
          <a:bodyPr/>
          <a:lstStyle/>
          <a:p>
            <a:endParaRPr lang="en-US"/>
          </a:p>
        </p:txBody>
      </p:sp>
      <p:sp>
        <p:nvSpPr>
          <p:cNvPr id="16" name="Text 14"/>
          <p:cNvSpPr/>
          <p:nvPr/>
        </p:nvSpPr>
        <p:spPr>
          <a:xfrm>
            <a:off x="960120" y="3118104"/>
            <a:ext cx="822960" cy="594360"/>
          </a:xfrm>
          <a:prstGeom prst="rect">
            <a:avLst/>
          </a:prstGeom>
          <a:noFill/>
          <a:ln/>
        </p:spPr>
        <p:txBody>
          <a:bodyPr wrap="square" lIns="0" tIns="0" rIns="0" bIns="0" rtlCol="0" anchor="ctr"/>
          <a:lstStyle/>
          <a:p>
            <a:pPr marL="0" indent="0">
              <a:buNone/>
            </a:pPr>
            <a:r>
              <a:rPr lang="en-US" sz="2000" b="1" dirty="0">
                <a:solidFill>
                  <a:srgbClr val="06B6D4"/>
                </a:solidFill>
                <a:latin typeface="Georgia" pitchFamily="34" charset="0"/>
                <a:ea typeface="Georgia" pitchFamily="34" charset="-122"/>
                <a:cs typeface="Georgia" pitchFamily="34" charset="-120"/>
              </a:rPr>
              <a:t>L4</a:t>
            </a:r>
            <a:endParaRPr lang="en-US" sz="2000" dirty="0"/>
          </a:p>
        </p:txBody>
      </p:sp>
      <p:sp>
        <p:nvSpPr>
          <p:cNvPr id="17" name="Text 15"/>
          <p:cNvSpPr/>
          <p:nvPr/>
        </p:nvSpPr>
        <p:spPr>
          <a:xfrm>
            <a:off x="1920240" y="3118104"/>
            <a:ext cx="3200400" cy="594360"/>
          </a:xfrm>
          <a:prstGeom prst="rect">
            <a:avLst/>
          </a:prstGeom>
          <a:noFill/>
          <a:ln/>
        </p:spPr>
        <p:txBody>
          <a:bodyPr wrap="square" lIns="0" tIns="0" rIns="0" bIns="0" rtlCol="0" anchor="ctr"/>
          <a:lstStyle/>
          <a:p>
            <a:pPr marL="0" indent="0">
              <a:buNone/>
            </a:pPr>
            <a:r>
              <a:rPr lang="en-US" sz="1600" b="1" dirty="0">
                <a:solidFill>
                  <a:srgbClr val="E8F1FF"/>
                </a:solidFill>
                <a:latin typeface="Calibri" pitchFamily="34" charset="0"/>
                <a:ea typeface="Calibri" pitchFamily="34" charset="-122"/>
                <a:cs typeface="Calibri" pitchFamily="34" charset="-120"/>
              </a:rPr>
              <a:t>Deployment &amp; Infrastructure</a:t>
            </a:r>
            <a:endParaRPr lang="en-US" sz="1600" dirty="0"/>
          </a:p>
        </p:txBody>
      </p:sp>
      <p:sp>
        <p:nvSpPr>
          <p:cNvPr id="18" name="Text 16"/>
          <p:cNvSpPr/>
          <p:nvPr/>
        </p:nvSpPr>
        <p:spPr>
          <a:xfrm>
            <a:off x="5166360" y="3118104"/>
            <a:ext cx="4023360" cy="594360"/>
          </a:xfrm>
          <a:prstGeom prst="rect">
            <a:avLst/>
          </a:prstGeom>
          <a:noFill/>
          <a:ln/>
        </p:spPr>
        <p:txBody>
          <a:bodyPr wrap="square" lIns="0" tIns="0" rIns="0" bIns="0" rtlCol="0" anchor="ctr"/>
          <a:lstStyle/>
          <a:p>
            <a:pPr marL="0" indent="0">
              <a:buNone/>
            </a:pPr>
            <a:r>
              <a:rPr lang="en-US" sz="1400" i="1" dirty="0">
                <a:solidFill>
                  <a:srgbClr val="B8C9E0"/>
                </a:solidFill>
                <a:latin typeface="Calibri" pitchFamily="34" charset="0"/>
                <a:ea typeface="Calibri" pitchFamily="34" charset="-122"/>
                <a:cs typeface="Calibri" pitchFamily="34" charset="-120"/>
              </a:rPr>
              <a:t>Containers, cloud, network, CI/CD, service accounts</a:t>
            </a:r>
            <a:endParaRPr lang="en-US" sz="1400" dirty="0"/>
          </a:p>
        </p:txBody>
      </p:sp>
      <p:sp>
        <p:nvSpPr>
          <p:cNvPr id="19" name="Shape 17">
            <a:extLst>
              <a:ext uri="{C183D7F6-B498-43B3-948B-1728B52AA6E4}">
                <adec:decorative xmlns:adec="http://schemas.microsoft.com/office/drawing/2017/decorative" val="1"/>
              </a:ext>
            </a:extLst>
          </p:cNvPr>
          <p:cNvSpPr/>
          <p:nvPr/>
        </p:nvSpPr>
        <p:spPr>
          <a:xfrm>
            <a:off x="640080" y="3785616"/>
            <a:ext cx="8686800" cy="594360"/>
          </a:xfrm>
          <a:prstGeom prst="rect">
            <a:avLst/>
          </a:prstGeom>
          <a:solidFill>
            <a:srgbClr val="1A2B47"/>
          </a:solidFill>
          <a:ln/>
        </p:spPr>
        <p:txBody>
          <a:bodyPr/>
          <a:lstStyle/>
          <a:p>
            <a:endParaRPr lang="en-US"/>
          </a:p>
        </p:txBody>
      </p:sp>
      <p:sp>
        <p:nvSpPr>
          <p:cNvPr id="20" name="Shape 18">
            <a:extLst>
              <a:ext uri="{C183D7F6-B498-43B3-948B-1728B52AA6E4}">
                <adec:decorative xmlns:adec="http://schemas.microsoft.com/office/drawing/2017/decorative" val="1"/>
              </a:ext>
            </a:extLst>
          </p:cNvPr>
          <p:cNvSpPr/>
          <p:nvPr/>
        </p:nvSpPr>
        <p:spPr>
          <a:xfrm>
            <a:off x="640080" y="3785616"/>
            <a:ext cx="137160" cy="594360"/>
          </a:xfrm>
          <a:prstGeom prst="rect">
            <a:avLst/>
          </a:prstGeom>
          <a:solidFill>
            <a:srgbClr val="06B6D4"/>
          </a:solidFill>
          <a:ln/>
        </p:spPr>
        <p:txBody>
          <a:bodyPr/>
          <a:lstStyle/>
          <a:p>
            <a:endParaRPr lang="en-US"/>
          </a:p>
        </p:txBody>
      </p:sp>
      <p:sp>
        <p:nvSpPr>
          <p:cNvPr id="21" name="Text 19"/>
          <p:cNvSpPr/>
          <p:nvPr/>
        </p:nvSpPr>
        <p:spPr>
          <a:xfrm>
            <a:off x="960120" y="3785616"/>
            <a:ext cx="822960" cy="594360"/>
          </a:xfrm>
          <a:prstGeom prst="rect">
            <a:avLst/>
          </a:prstGeom>
          <a:noFill/>
          <a:ln/>
        </p:spPr>
        <p:txBody>
          <a:bodyPr wrap="square" lIns="0" tIns="0" rIns="0" bIns="0" rtlCol="0" anchor="ctr"/>
          <a:lstStyle/>
          <a:p>
            <a:pPr marL="0" indent="0">
              <a:buNone/>
            </a:pPr>
            <a:r>
              <a:rPr lang="en-US" sz="2000" b="1" dirty="0">
                <a:solidFill>
                  <a:srgbClr val="06B6D4"/>
                </a:solidFill>
                <a:latin typeface="Georgia" pitchFamily="34" charset="0"/>
                <a:ea typeface="Georgia" pitchFamily="34" charset="-122"/>
                <a:cs typeface="Georgia" pitchFamily="34" charset="-120"/>
              </a:rPr>
              <a:t>L3</a:t>
            </a:r>
            <a:endParaRPr lang="en-US" sz="2000" dirty="0"/>
          </a:p>
        </p:txBody>
      </p:sp>
      <p:sp>
        <p:nvSpPr>
          <p:cNvPr id="22" name="Text 20"/>
          <p:cNvSpPr/>
          <p:nvPr/>
        </p:nvSpPr>
        <p:spPr>
          <a:xfrm>
            <a:off x="1920240" y="3785616"/>
            <a:ext cx="3200400" cy="594360"/>
          </a:xfrm>
          <a:prstGeom prst="rect">
            <a:avLst/>
          </a:prstGeom>
          <a:noFill/>
          <a:ln/>
        </p:spPr>
        <p:txBody>
          <a:bodyPr wrap="square" lIns="0" tIns="0" rIns="0" bIns="0" rtlCol="0" anchor="ctr"/>
          <a:lstStyle/>
          <a:p>
            <a:pPr marL="0" indent="0">
              <a:buNone/>
            </a:pPr>
            <a:r>
              <a:rPr lang="en-US" sz="1600" b="1" dirty="0">
                <a:solidFill>
                  <a:srgbClr val="E8F1FF"/>
                </a:solidFill>
                <a:latin typeface="Calibri" pitchFamily="34" charset="0"/>
                <a:ea typeface="Calibri" pitchFamily="34" charset="-122"/>
                <a:cs typeface="Calibri" pitchFamily="34" charset="-120"/>
              </a:rPr>
              <a:t>Agent Frameworks</a:t>
            </a:r>
            <a:endParaRPr lang="en-US" sz="1600" dirty="0"/>
          </a:p>
        </p:txBody>
      </p:sp>
      <p:sp>
        <p:nvSpPr>
          <p:cNvPr id="23" name="Text 21"/>
          <p:cNvSpPr/>
          <p:nvPr/>
        </p:nvSpPr>
        <p:spPr>
          <a:xfrm>
            <a:off x="5166360" y="3785616"/>
            <a:ext cx="4023360" cy="594360"/>
          </a:xfrm>
          <a:prstGeom prst="rect">
            <a:avLst/>
          </a:prstGeom>
          <a:noFill/>
          <a:ln/>
        </p:spPr>
        <p:txBody>
          <a:bodyPr wrap="square" lIns="0" tIns="0" rIns="0" bIns="0" rtlCol="0" anchor="ctr"/>
          <a:lstStyle/>
          <a:p>
            <a:pPr marL="0" indent="0">
              <a:buNone/>
            </a:pPr>
            <a:r>
              <a:rPr lang="en-US" sz="1400" i="1" dirty="0">
                <a:solidFill>
                  <a:srgbClr val="B8C9E0"/>
                </a:solidFill>
                <a:latin typeface="Calibri" pitchFamily="34" charset="0"/>
                <a:ea typeface="Calibri" pitchFamily="34" charset="-122"/>
                <a:cs typeface="Calibri" pitchFamily="34" charset="-120"/>
              </a:rPr>
              <a:t>LangChain, AutoGen, orchestration, tool calling, planning</a:t>
            </a:r>
            <a:endParaRPr lang="en-US" sz="1400" dirty="0"/>
          </a:p>
        </p:txBody>
      </p:sp>
      <p:sp>
        <p:nvSpPr>
          <p:cNvPr id="24" name="Shape 22">
            <a:extLst>
              <a:ext uri="{C183D7F6-B498-43B3-948B-1728B52AA6E4}">
                <adec:decorative xmlns:adec="http://schemas.microsoft.com/office/drawing/2017/decorative" val="1"/>
              </a:ext>
            </a:extLst>
          </p:cNvPr>
          <p:cNvSpPr/>
          <p:nvPr/>
        </p:nvSpPr>
        <p:spPr>
          <a:xfrm>
            <a:off x="640080" y="4453128"/>
            <a:ext cx="8686800" cy="594360"/>
          </a:xfrm>
          <a:prstGeom prst="rect">
            <a:avLst/>
          </a:prstGeom>
          <a:solidFill>
            <a:srgbClr val="1A2B47"/>
          </a:solidFill>
          <a:ln/>
        </p:spPr>
        <p:txBody>
          <a:bodyPr/>
          <a:lstStyle/>
          <a:p>
            <a:endParaRPr lang="en-US"/>
          </a:p>
        </p:txBody>
      </p:sp>
      <p:sp>
        <p:nvSpPr>
          <p:cNvPr id="25" name="Shape 23">
            <a:extLst>
              <a:ext uri="{C183D7F6-B498-43B3-948B-1728B52AA6E4}">
                <adec:decorative xmlns:adec="http://schemas.microsoft.com/office/drawing/2017/decorative" val="1"/>
              </a:ext>
            </a:extLst>
          </p:cNvPr>
          <p:cNvSpPr/>
          <p:nvPr/>
        </p:nvSpPr>
        <p:spPr>
          <a:xfrm>
            <a:off x="640080" y="4453128"/>
            <a:ext cx="137160" cy="594360"/>
          </a:xfrm>
          <a:prstGeom prst="rect">
            <a:avLst/>
          </a:prstGeom>
          <a:solidFill>
            <a:srgbClr val="06B6D4"/>
          </a:solidFill>
          <a:ln/>
        </p:spPr>
        <p:txBody>
          <a:bodyPr/>
          <a:lstStyle/>
          <a:p>
            <a:endParaRPr lang="en-US"/>
          </a:p>
        </p:txBody>
      </p:sp>
      <p:sp>
        <p:nvSpPr>
          <p:cNvPr id="26" name="Text 24"/>
          <p:cNvSpPr/>
          <p:nvPr/>
        </p:nvSpPr>
        <p:spPr>
          <a:xfrm>
            <a:off x="960120" y="4453128"/>
            <a:ext cx="822960" cy="594360"/>
          </a:xfrm>
          <a:prstGeom prst="rect">
            <a:avLst/>
          </a:prstGeom>
          <a:noFill/>
          <a:ln/>
        </p:spPr>
        <p:txBody>
          <a:bodyPr wrap="square" lIns="0" tIns="0" rIns="0" bIns="0" rtlCol="0" anchor="ctr"/>
          <a:lstStyle/>
          <a:p>
            <a:pPr marL="0" indent="0">
              <a:buNone/>
            </a:pPr>
            <a:r>
              <a:rPr lang="en-US" sz="2000" b="1" dirty="0">
                <a:solidFill>
                  <a:srgbClr val="06B6D4"/>
                </a:solidFill>
                <a:latin typeface="Georgia" pitchFamily="34" charset="0"/>
                <a:ea typeface="Georgia" pitchFamily="34" charset="-122"/>
                <a:cs typeface="Georgia" pitchFamily="34" charset="-120"/>
              </a:rPr>
              <a:t>L2</a:t>
            </a:r>
            <a:endParaRPr lang="en-US" sz="2000" dirty="0"/>
          </a:p>
        </p:txBody>
      </p:sp>
      <p:sp>
        <p:nvSpPr>
          <p:cNvPr id="27" name="Text 25"/>
          <p:cNvSpPr/>
          <p:nvPr/>
        </p:nvSpPr>
        <p:spPr>
          <a:xfrm>
            <a:off x="1920240" y="4453128"/>
            <a:ext cx="3200400" cy="594360"/>
          </a:xfrm>
          <a:prstGeom prst="rect">
            <a:avLst/>
          </a:prstGeom>
          <a:noFill/>
          <a:ln/>
        </p:spPr>
        <p:txBody>
          <a:bodyPr wrap="square" lIns="0" tIns="0" rIns="0" bIns="0" rtlCol="0" anchor="ctr"/>
          <a:lstStyle/>
          <a:p>
            <a:pPr marL="0" indent="0">
              <a:buNone/>
            </a:pPr>
            <a:r>
              <a:rPr lang="en-US" sz="1600" b="1" dirty="0">
                <a:solidFill>
                  <a:srgbClr val="E8F1FF"/>
                </a:solidFill>
                <a:latin typeface="Calibri" pitchFamily="34" charset="0"/>
                <a:ea typeface="Calibri" pitchFamily="34" charset="-122"/>
                <a:cs typeface="Calibri" pitchFamily="34" charset="-120"/>
              </a:rPr>
              <a:t>Data Operations</a:t>
            </a:r>
            <a:endParaRPr lang="en-US" sz="1600" dirty="0"/>
          </a:p>
        </p:txBody>
      </p:sp>
      <p:sp>
        <p:nvSpPr>
          <p:cNvPr id="28" name="Text 26"/>
          <p:cNvSpPr/>
          <p:nvPr/>
        </p:nvSpPr>
        <p:spPr>
          <a:xfrm>
            <a:off x="5166360" y="4453128"/>
            <a:ext cx="4023360" cy="594360"/>
          </a:xfrm>
          <a:prstGeom prst="rect">
            <a:avLst/>
          </a:prstGeom>
          <a:noFill/>
          <a:ln/>
        </p:spPr>
        <p:txBody>
          <a:bodyPr wrap="square" lIns="0" tIns="0" rIns="0" bIns="0" rtlCol="0" anchor="ctr"/>
          <a:lstStyle/>
          <a:p>
            <a:pPr marL="0" indent="0">
              <a:buNone/>
            </a:pPr>
            <a:r>
              <a:rPr lang="en-US" sz="1400" i="1" dirty="0">
                <a:solidFill>
                  <a:srgbClr val="B8C9E0"/>
                </a:solidFill>
                <a:latin typeface="Calibri" pitchFamily="34" charset="0"/>
                <a:ea typeface="Calibri" pitchFamily="34" charset="-122"/>
                <a:cs typeface="Calibri" pitchFamily="34" charset="-120"/>
              </a:rPr>
              <a:t>RAG pipelines, vector DBs, embeddings, training data</a:t>
            </a:r>
            <a:endParaRPr lang="en-US" sz="1400" dirty="0"/>
          </a:p>
        </p:txBody>
      </p:sp>
      <p:sp>
        <p:nvSpPr>
          <p:cNvPr id="29" name="Shape 27">
            <a:extLst>
              <a:ext uri="{C183D7F6-B498-43B3-948B-1728B52AA6E4}">
                <adec:decorative xmlns:adec="http://schemas.microsoft.com/office/drawing/2017/decorative" val="1"/>
              </a:ext>
            </a:extLst>
          </p:cNvPr>
          <p:cNvSpPr/>
          <p:nvPr/>
        </p:nvSpPr>
        <p:spPr>
          <a:xfrm>
            <a:off x="640080" y="5120640"/>
            <a:ext cx="8686800" cy="594360"/>
          </a:xfrm>
          <a:prstGeom prst="rect">
            <a:avLst/>
          </a:prstGeom>
          <a:solidFill>
            <a:srgbClr val="1A2B47"/>
          </a:solidFill>
          <a:ln/>
        </p:spPr>
        <p:txBody>
          <a:bodyPr/>
          <a:lstStyle/>
          <a:p>
            <a:endParaRPr lang="en-US"/>
          </a:p>
        </p:txBody>
      </p:sp>
      <p:sp>
        <p:nvSpPr>
          <p:cNvPr id="30" name="Shape 28">
            <a:extLst>
              <a:ext uri="{C183D7F6-B498-43B3-948B-1728B52AA6E4}">
                <adec:decorative xmlns:adec="http://schemas.microsoft.com/office/drawing/2017/decorative" val="1"/>
              </a:ext>
            </a:extLst>
          </p:cNvPr>
          <p:cNvSpPr/>
          <p:nvPr/>
        </p:nvSpPr>
        <p:spPr>
          <a:xfrm>
            <a:off x="640080" y="5120640"/>
            <a:ext cx="137160" cy="594360"/>
          </a:xfrm>
          <a:prstGeom prst="rect">
            <a:avLst/>
          </a:prstGeom>
          <a:solidFill>
            <a:srgbClr val="06B6D4"/>
          </a:solidFill>
          <a:ln/>
        </p:spPr>
        <p:txBody>
          <a:bodyPr/>
          <a:lstStyle/>
          <a:p>
            <a:endParaRPr lang="en-US"/>
          </a:p>
        </p:txBody>
      </p:sp>
      <p:sp>
        <p:nvSpPr>
          <p:cNvPr id="31" name="Text 29"/>
          <p:cNvSpPr/>
          <p:nvPr/>
        </p:nvSpPr>
        <p:spPr>
          <a:xfrm>
            <a:off x="960120" y="5120640"/>
            <a:ext cx="822960" cy="594360"/>
          </a:xfrm>
          <a:prstGeom prst="rect">
            <a:avLst/>
          </a:prstGeom>
          <a:noFill/>
          <a:ln/>
        </p:spPr>
        <p:txBody>
          <a:bodyPr wrap="square" lIns="0" tIns="0" rIns="0" bIns="0" rtlCol="0" anchor="ctr"/>
          <a:lstStyle/>
          <a:p>
            <a:pPr marL="0" indent="0">
              <a:buNone/>
            </a:pPr>
            <a:r>
              <a:rPr lang="en-US" sz="2000" b="1" dirty="0">
                <a:solidFill>
                  <a:srgbClr val="06B6D4"/>
                </a:solidFill>
                <a:latin typeface="Georgia" pitchFamily="34" charset="0"/>
                <a:ea typeface="Georgia" pitchFamily="34" charset="-122"/>
                <a:cs typeface="Georgia" pitchFamily="34" charset="-120"/>
              </a:rPr>
              <a:t>L1</a:t>
            </a:r>
            <a:endParaRPr lang="en-US" sz="2000" dirty="0"/>
          </a:p>
        </p:txBody>
      </p:sp>
      <p:sp>
        <p:nvSpPr>
          <p:cNvPr id="32" name="Text 30"/>
          <p:cNvSpPr/>
          <p:nvPr/>
        </p:nvSpPr>
        <p:spPr>
          <a:xfrm>
            <a:off x="1920240" y="5120640"/>
            <a:ext cx="3200400" cy="594360"/>
          </a:xfrm>
          <a:prstGeom prst="rect">
            <a:avLst/>
          </a:prstGeom>
          <a:noFill/>
          <a:ln/>
        </p:spPr>
        <p:txBody>
          <a:bodyPr wrap="square" lIns="0" tIns="0" rIns="0" bIns="0" rtlCol="0" anchor="ctr"/>
          <a:lstStyle/>
          <a:p>
            <a:pPr marL="0" indent="0">
              <a:buNone/>
            </a:pPr>
            <a:r>
              <a:rPr lang="en-US" sz="1600" b="1" dirty="0">
                <a:solidFill>
                  <a:srgbClr val="E8F1FF"/>
                </a:solidFill>
                <a:latin typeface="Calibri" pitchFamily="34" charset="0"/>
                <a:ea typeface="Calibri" pitchFamily="34" charset="-122"/>
                <a:cs typeface="Calibri" pitchFamily="34" charset="-120"/>
              </a:rPr>
              <a:t>Foundation Models</a:t>
            </a:r>
            <a:endParaRPr lang="en-US" sz="1600" dirty="0"/>
          </a:p>
        </p:txBody>
      </p:sp>
      <p:sp>
        <p:nvSpPr>
          <p:cNvPr id="33" name="Text 31"/>
          <p:cNvSpPr/>
          <p:nvPr/>
        </p:nvSpPr>
        <p:spPr>
          <a:xfrm>
            <a:off x="5166360" y="5120640"/>
            <a:ext cx="4023360" cy="594360"/>
          </a:xfrm>
          <a:prstGeom prst="rect">
            <a:avLst/>
          </a:prstGeom>
          <a:noFill/>
          <a:ln/>
        </p:spPr>
        <p:txBody>
          <a:bodyPr wrap="square" lIns="0" tIns="0" rIns="0" bIns="0" rtlCol="0" anchor="ctr"/>
          <a:lstStyle/>
          <a:p>
            <a:pPr marL="0" indent="0">
              <a:buNone/>
            </a:pPr>
            <a:r>
              <a:rPr lang="en-US" sz="1400" i="1" dirty="0">
                <a:solidFill>
                  <a:srgbClr val="B8C9E0"/>
                </a:solidFill>
                <a:latin typeface="Calibri" pitchFamily="34" charset="0"/>
                <a:ea typeface="Calibri" pitchFamily="34" charset="-122"/>
                <a:cs typeface="Calibri" pitchFamily="34" charset="-120"/>
              </a:rPr>
              <a:t>LLMs, the core reasoning and inference engine</a:t>
            </a:r>
            <a:endParaRPr lang="en-US" sz="1400" dirty="0"/>
          </a:p>
        </p:txBody>
      </p:sp>
      <p:sp>
        <p:nvSpPr>
          <p:cNvPr id="34" name="Shape 32">
            <a:extLst>
              <a:ext uri="{C183D7F6-B498-43B3-948B-1728B52AA6E4}">
                <adec:decorative xmlns:adec="http://schemas.microsoft.com/office/drawing/2017/decorative" val="1"/>
              </a:ext>
            </a:extLst>
          </p:cNvPr>
          <p:cNvSpPr/>
          <p:nvPr/>
        </p:nvSpPr>
        <p:spPr>
          <a:xfrm>
            <a:off x="9601200" y="1783080"/>
            <a:ext cx="2286000" cy="3931920"/>
          </a:xfrm>
          <a:prstGeom prst="rect">
            <a:avLst/>
          </a:prstGeom>
          <a:solidFill>
            <a:srgbClr val="F97066"/>
          </a:solidFill>
          <a:ln/>
        </p:spPr>
        <p:txBody>
          <a:bodyPr/>
          <a:lstStyle/>
          <a:p>
            <a:endParaRPr lang="en-US"/>
          </a:p>
        </p:txBody>
      </p:sp>
      <p:sp>
        <p:nvSpPr>
          <p:cNvPr id="35" name="Text 33"/>
          <p:cNvSpPr/>
          <p:nvPr/>
        </p:nvSpPr>
        <p:spPr>
          <a:xfrm>
            <a:off x="9601200" y="1920240"/>
            <a:ext cx="228600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L6</a:t>
            </a:r>
            <a:endParaRPr lang="en-US" sz="2200" dirty="0"/>
          </a:p>
        </p:txBody>
      </p:sp>
      <p:sp>
        <p:nvSpPr>
          <p:cNvPr id="36" name="Text 34"/>
          <p:cNvSpPr/>
          <p:nvPr/>
        </p:nvSpPr>
        <p:spPr>
          <a:xfrm>
            <a:off x="9692640" y="2697480"/>
            <a:ext cx="2103120" cy="10972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Security &amp; Compliance</a:t>
            </a:r>
            <a:endParaRPr lang="en-US" sz="1600" dirty="0"/>
          </a:p>
        </p:txBody>
      </p:sp>
      <p:sp>
        <p:nvSpPr>
          <p:cNvPr id="37" name="Text 35"/>
          <p:cNvSpPr/>
          <p:nvPr/>
        </p:nvSpPr>
        <p:spPr>
          <a:xfrm>
            <a:off x="9692640" y="3794760"/>
            <a:ext cx="2103120" cy="731520"/>
          </a:xfrm>
          <a:prstGeom prst="rect">
            <a:avLst/>
          </a:prstGeom>
          <a:noFill/>
          <a:ln/>
        </p:spPr>
        <p:txBody>
          <a:bodyPr wrap="square" lIns="0" tIns="0" rIns="0" bIns="0"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vertical — </a:t>
            </a:r>
          </a:p>
          <a:p>
            <a:pPr marL="0" indent="0" algn="ctr">
              <a:buNone/>
            </a:pPr>
            <a:r>
              <a:rPr lang="en-US" sz="1400" i="1" dirty="0">
                <a:solidFill>
                  <a:srgbClr val="FFFFFF"/>
                </a:solidFill>
                <a:latin typeface="Calibri" pitchFamily="34" charset="0"/>
                <a:ea typeface="Calibri" pitchFamily="34" charset="-122"/>
                <a:cs typeface="Calibri" pitchFamily="34" charset="-120"/>
              </a:rPr>
              <a:t>touches every layer</a:t>
            </a:r>
            <a:endParaRPr lang="en-US" sz="1400" dirty="0"/>
          </a:p>
        </p:txBody>
      </p:sp>
      <p:pic>
        <p:nvPicPr>
          <p:cNvPr id="38" name="Image 0" descr="preencoded.png"/>
          <p:cNvPicPr>
            <a:picLocks noChangeAspect="1"/>
          </p:cNvPicPr>
          <p:nvPr/>
        </p:nvPicPr>
        <p:blipFill>
          <a:blip r:embed="rId3"/>
          <a:stretch>
            <a:fillRect/>
          </a:stretch>
        </p:blipFill>
        <p:spPr>
          <a:xfrm>
            <a:off x="10424160" y="4892040"/>
            <a:ext cx="640080" cy="640080"/>
          </a:xfrm>
          <a:prstGeom prst="rect">
            <a:avLst/>
          </a:prstGeom>
        </p:spPr>
      </p:pic>
      <p:sp>
        <p:nvSpPr>
          <p:cNvPr id="39" name="Text 36"/>
          <p:cNvSpPr/>
          <p:nvPr/>
        </p:nvSpPr>
        <p:spPr>
          <a:xfrm>
            <a:off x="640080" y="6080760"/>
            <a:ext cx="10972800" cy="365760"/>
          </a:xfrm>
          <a:prstGeom prst="rect">
            <a:avLst/>
          </a:prstGeom>
          <a:noFill/>
          <a:ln/>
        </p:spPr>
        <p:txBody>
          <a:bodyPr wrap="square" rtlCol="0" anchor="ctr"/>
          <a:lstStyle/>
          <a:p>
            <a:pPr marL="0" indent="0" algn="ctr">
              <a:buNone/>
            </a:pPr>
            <a:r>
              <a:rPr lang="en-US" sz="2000" i="1" dirty="0">
                <a:solidFill>
                  <a:srgbClr val="F0B429"/>
                </a:solidFill>
                <a:latin typeface="Calibri" pitchFamily="34" charset="0"/>
                <a:ea typeface="Calibri" pitchFamily="34" charset="-122"/>
                <a:cs typeface="Calibri" pitchFamily="34" charset="-120"/>
              </a:rPr>
              <a:t>Security is the spine, not “above” or “below” the others. It threads through everything.</a:t>
            </a:r>
            <a:endParaRPr lang="en-US" sz="2000" dirty="0"/>
          </a:p>
        </p:txBody>
      </p:sp>
      <p:sp>
        <p:nvSpPr>
          <p:cNvPr id="41" name="Text 38"/>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B8C9E0"/>
                </a:solidFill>
                <a:latin typeface="Calibri" pitchFamily="34" charset="0"/>
                <a:ea typeface="Calibri" pitchFamily="34" charset="-122"/>
                <a:cs typeface="Calibri" pitchFamily="34" charset="-120"/>
              </a:rPr>
              <a:t>Beyond STRIDE</a:t>
            </a:r>
            <a:endParaRPr lang="en-US" sz="1000" dirty="0"/>
          </a:p>
        </p:txBody>
      </p:sp>
      <p:sp>
        <p:nvSpPr>
          <p:cNvPr id="42" name="TextBox 41"/>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19 / 43</a:t>
            </a:r>
          </a:p>
        </p:txBody>
      </p:sp>
    </p:spTree>
  </p:cSld>
  <p:clrMapOvr>
    <a:masterClrMapping/>
  </p:clrMapOvr>
  <mc:AlternateContent xmlns:mc="http://schemas.openxmlformats.org/markup-compatibility/2006">
    <mc:Choice xmlns:p14="http://schemas.microsoft.com/office/powerpoint/2010/main" Requires="p14">
      <p:transition spd="slow" p14:dur="2000" advTm="39764"/>
    </mc:Choice>
    <mc:Fallback>
      <p:transition spd="slow" advTm="3976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rtlCol="0" anchor="ctr"/>
          <a:lstStyle/>
          <a:p>
            <a:r>
              <a:rPr lang="en-US" sz="1400" b="1" kern="0" spc="400" dirty="0">
                <a:solidFill>
                  <a:srgbClr val="06B6D4"/>
                </a:solidFill>
                <a:latin typeface="Calibri" pitchFamily="34" charset="0"/>
                <a:ea typeface="Calibri" pitchFamily="34" charset="-122"/>
                <a:cs typeface="Calibri" pitchFamily="34" charset="-120"/>
              </a:rPr>
              <a:t>LAYER 7</a:t>
            </a:r>
            <a:endParaRPr lang="en-US" sz="1400" b="1" kern="0" spc="400" dirty="0">
              <a:solidFill>
                <a:srgbClr val="06B6D4"/>
              </a:solidFill>
              <a:latin typeface="Calibri" pitchFamily="34" charset="0"/>
              <a:cs typeface="Calibri" pitchFamily="34" charset="-120"/>
            </a:endParaRPr>
          </a:p>
          <a:p>
            <a:pPr marL="0" indent="0">
              <a:buNone/>
            </a:pPr>
            <a:r>
              <a:rPr lang="en-US" sz="1100" b="1" kern="0" spc="400" dirty="0">
                <a:solidFill>
                  <a:srgbClr val="06B6D4"/>
                </a:solidFill>
                <a:latin typeface="Calibri" pitchFamily="34" charset="0"/>
                <a:ea typeface="Calibri" pitchFamily="34" charset="-122"/>
                <a:cs typeface="Calibri" pitchFamily="34" charset="-120"/>
              </a:rPr>
              <a:t> </a:t>
            </a:r>
            <a:endParaRPr lang="en-US" sz="1100" dirty="0"/>
          </a:p>
        </p:txBody>
      </p:sp>
      <p:sp>
        <p:nvSpPr>
          <p:cNvPr id="3" name="Text 1"/>
          <p:cNvSpPr/>
          <p:nvPr/>
        </p:nvSpPr>
        <p:spPr>
          <a:xfrm>
            <a:off x="640080" y="777240"/>
            <a:ext cx="10058400" cy="822960"/>
          </a:xfrm>
          <a:prstGeom prst="rect">
            <a:avLst/>
          </a:prstGeom>
          <a:noFill/>
          <a:ln/>
        </p:spPr>
        <p:txBody>
          <a:bodyPr wrap="square" lIns="0" tIns="0" rIns="0" bIns="0" rtlCol="0" anchor="ctr"/>
          <a:lstStyle/>
          <a:p>
            <a:pPr marL="0" indent="0">
              <a:buNone/>
            </a:pPr>
            <a:r>
              <a:rPr lang="en-US" sz="3800" b="1" dirty="0">
                <a:solidFill>
                  <a:srgbClr val="1E293B"/>
                </a:solidFill>
                <a:latin typeface="Georgia" pitchFamily="34" charset="0"/>
                <a:ea typeface="Georgia" pitchFamily="34" charset="-122"/>
                <a:cs typeface="Georgia" pitchFamily="34" charset="-120"/>
              </a:rPr>
              <a:t>Agent Ecosystem</a:t>
            </a:r>
            <a:endParaRPr lang="en-US" sz="3800" dirty="0"/>
          </a:p>
        </p:txBody>
      </p:sp>
      <p:sp>
        <p:nvSpPr>
          <p:cNvPr id="4" name="Text 2"/>
          <p:cNvSpPr/>
          <p:nvPr/>
        </p:nvSpPr>
        <p:spPr>
          <a:xfrm>
            <a:off x="10058400" y="502920"/>
            <a:ext cx="1645920" cy="1280160"/>
          </a:xfrm>
          <a:prstGeom prst="rect">
            <a:avLst/>
          </a:prstGeom>
          <a:noFill/>
          <a:ln/>
        </p:spPr>
        <p:txBody>
          <a:bodyPr wrap="square" lIns="0" tIns="0" rIns="0" bIns="0" rtlCol="0" anchor="ctr"/>
          <a:lstStyle/>
          <a:p>
            <a:pPr marL="0" indent="0" algn="r">
              <a:buNone/>
            </a:pPr>
            <a:r>
              <a:rPr lang="en-US" sz="8000" b="1" dirty="0">
                <a:solidFill>
                  <a:srgbClr val="06B6D4"/>
                </a:solidFill>
                <a:latin typeface="Georgia" pitchFamily="34" charset="0"/>
                <a:ea typeface="Georgia" pitchFamily="34" charset="-122"/>
                <a:cs typeface="Georgia" pitchFamily="34" charset="-120"/>
              </a:rPr>
              <a:t>L7</a:t>
            </a:r>
            <a:endParaRPr lang="en-US" sz="8000" dirty="0"/>
          </a:p>
        </p:txBody>
      </p:sp>
      <p:sp>
        <p:nvSpPr>
          <p:cNvPr id="5" name="Text 3"/>
          <p:cNvSpPr/>
          <p:nvPr/>
        </p:nvSpPr>
        <p:spPr>
          <a:xfrm>
            <a:off x="640080" y="1691640"/>
            <a:ext cx="10058400" cy="457200"/>
          </a:xfrm>
          <a:prstGeom prst="rect">
            <a:avLst/>
          </a:prstGeom>
          <a:noFill/>
          <a:ln/>
        </p:spPr>
        <p:txBody>
          <a:bodyPr wrap="square" lIns="0" tIns="0" rIns="0" bIns="0" rtlCol="0" anchor="ctr"/>
          <a:lstStyle/>
          <a:p>
            <a:pPr marL="0" indent="0">
              <a:buNone/>
            </a:pPr>
            <a:r>
              <a:rPr lang="en-US" i="1" dirty="0">
                <a:solidFill>
                  <a:srgbClr val="475569"/>
                </a:solidFill>
                <a:latin typeface="Calibri" pitchFamily="34" charset="0"/>
                <a:ea typeface="Calibri" pitchFamily="34" charset="-122"/>
                <a:cs typeface="Calibri" pitchFamily="34" charset="-120"/>
              </a:rPr>
              <a:t>The top of the stack. Where your agent meets other agents, users, marketplaces, and the wild outside world. We’re inventing this layer in real time.</a:t>
            </a:r>
            <a:endParaRPr lang="en-US" dirty="0"/>
          </a:p>
        </p:txBody>
      </p:sp>
      <p:sp>
        <p:nvSpPr>
          <p:cNvPr id="6" name="Shape 4">
            <a:extLst>
              <a:ext uri="{C183D7F6-B498-43B3-948B-1728B52AA6E4}">
                <adec:decorative xmlns:adec="http://schemas.microsoft.com/office/drawing/2017/decorative" val="1"/>
              </a:ext>
            </a:extLst>
          </p:cNvPr>
          <p:cNvSpPr/>
          <p:nvPr/>
        </p:nvSpPr>
        <p:spPr>
          <a:xfrm>
            <a:off x="640080" y="2194560"/>
            <a:ext cx="10972800" cy="457200"/>
          </a:xfrm>
          <a:prstGeom prst="rect">
            <a:avLst/>
          </a:prstGeom>
          <a:solidFill>
            <a:srgbClr val="F8FAFC"/>
          </a:solidFill>
          <a:ln/>
        </p:spPr>
        <p:txBody>
          <a:bodyPr/>
          <a:lstStyle/>
          <a:p>
            <a:endParaRPr lang="en-US"/>
          </a:p>
        </p:txBody>
      </p:sp>
      <p:sp>
        <p:nvSpPr>
          <p:cNvPr id="7" name="Text 5"/>
          <p:cNvSpPr/>
          <p:nvPr/>
        </p:nvSpPr>
        <p:spPr>
          <a:xfrm>
            <a:off x="777240" y="2194560"/>
            <a:ext cx="1371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Examples</a:t>
            </a:r>
            <a:r>
              <a:rPr lang="en-US" sz="1200" b="1" dirty="0">
                <a:solidFill>
                  <a:srgbClr val="1E293B"/>
                </a:solidFill>
                <a:latin typeface="Calibri" pitchFamily="34" charset="0"/>
                <a:ea typeface="Calibri" pitchFamily="34" charset="-122"/>
                <a:cs typeface="Calibri" pitchFamily="34" charset="-120"/>
              </a:rPr>
              <a:t>:  </a:t>
            </a:r>
            <a:endParaRPr lang="en-US" sz="1200" dirty="0"/>
          </a:p>
        </p:txBody>
      </p:sp>
      <p:sp>
        <p:nvSpPr>
          <p:cNvPr id="8" name="Text 6"/>
          <p:cNvSpPr/>
          <p:nvPr/>
        </p:nvSpPr>
        <p:spPr>
          <a:xfrm>
            <a:off x="1691640" y="2194560"/>
            <a:ext cx="9601200" cy="457200"/>
          </a:xfrm>
          <a:prstGeom prst="rect">
            <a:avLst/>
          </a:prstGeom>
          <a:noFill/>
          <a:ln/>
        </p:spPr>
        <p:txBody>
          <a:bodyPr wrap="square" lIns="0" tIns="0" rIns="0" bIns="0" rtlCol="0" anchor="ctr"/>
          <a:lstStyle/>
          <a:p>
            <a:pPr marL="0" indent="0">
              <a:buNone/>
            </a:pPr>
            <a:r>
              <a:rPr lang="en-US" sz="1400" dirty="0">
                <a:solidFill>
                  <a:srgbClr val="475569"/>
                </a:solidFill>
                <a:latin typeface="Consolas" pitchFamily="34" charset="0"/>
                <a:ea typeface="Consolas" pitchFamily="34" charset="-122"/>
                <a:cs typeface="Consolas" pitchFamily="34" charset="-120"/>
              </a:rPr>
              <a:t>MCP servers - A2A protocols - agent marketplaces - third-party tool registries </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40080" y="2834640"/>
            <a:ext cx="5440680" cy="3017520"/>
          </a:xfrm>
          <a:prstGeom prst="rect">
            <a:avLst/>
          </a:prstGeom>
          <a:solidFill>
            <a:srgbClr val="F8FAFC"/>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640080" y="2834640"/>
            <a:ext cx="73152" cy="3017520"/>
          </a:xfrm>
          <a:prstGeom prst="rect">
            <a:avLst/>
          </a:prstGeom>
          <a:solidFill>
            <a:srgbClr val="F97066"/>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868680" y="3063240"/>
            <a:ext cx="365760" cy="365760"/>
          </a:xfrm>
          <a:prstGeom prst="rect">
            <a:avLst/>
          </a:prstGeom>
        </p:spPr>
      </p:pic>
      <p:sp>
        <p:nvSpPr>
          <p:cNvPr id="12" name="Text 9"/>
          <p:cNvSpPr/>
          <p:nvPr/>
        </p:nvSpPr>
        <p:spPr>
          <a:xfrm>
            <a:off x="1325880" y="3063240"/>
            <a:ext cx="3657600" cy="365760"/>
          </a:xfrm>
          <a:prstGeom prst="rect">
            <a:avLst/>
          </a:prstGeom>
          <a:noFill/>
          <a:ln/>
        </p:spPr>
        <p:txBody>
          <a:bodyPr wrap="square" lIns="0" tIns="0" rIns="0" bIns="0" rtlCol="0" anchor="ctr"/>
          <a:lstStyle/>
          <a:p>
            <a:pPr marL="0" indent="0">
              <a:buNone/>
            </a:pPr>
            <a:r>
              <a:rPr lang="en-US" sz="1600" b="1" kern="0" spc="300" dirty="0">
                <a:solidFill>
                  <a:srgbClr val="F97066"/>
                </a:solidFill>
                <a:latin typeface="Calibri" pitchFamily="34" charset="0"/>
                <a:ea typeface="Calibri" pitchFamily="34" charset="-122"/>
                <a:cs typeface="Calibri" pitchFamily="34" charset="-120"/>
              </a:rPr>
              <a:t>THREATS</a:t>
            </a:r>
            <a:endParaRPr lang="en-US" sz="1600" dirty="0"/>
          </a:p>
        </p:txBody>
      </p:sp>
      <p:sp>
        <p:nvSpPr>
          <p:cNvPr id="13" name="Text 10"/>
          <p:cNvSpPr/>
          <p:nvPr/>
        </p:nvSpPr>
        <p:spPr>
          <a:xfrm>
            <a:off x="86868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Agent impersonation — malicious agent posing as a trusted partner</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Marketplace manipulation — your agent supply chain is now external</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Collusion — agents coordinate to defraud (by design or accident)</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Cascading goal misalignment — A’s drift amplified by B and C. There’s no attacker here, just agents.</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Cross-agent data leaks — multi-tenant agent ecosystems</a:t>
            </a:r>
            <a:endParaRPr lang="en-US" sz="1400" dirty="0"/>
          </a:p>
        </p:txBody>
      </p:sp>
      <p:sp>
        <p:nvSpPr>
          <p:cNvPr id="14" name="Shape 11">
            <a:extLst>
              <a:ext uri="{C183D7F6-B498-43B3-948B-1728B52AA6E4}">
                <adec:decorative xmlns:adec="http://schemas.microsoft.com/office/drawing/2017/decorative" val="1"/>
              </a:ext>
            </a:extLst>
          </p:cNvPr>
          <p:cNvSpPr/>
          <p:nvPr/>
        </p:nvSpPr>
        <p:spPr>
          <a:xfrm>
            <a:off x="6492240" y="2880360"/>
            <a:ext cx="5440680" cy="3017520"/>
          </a:xfrm>
          <a:prstGeom prst="rect">
            <a:avLst/>
          </a:prstGeom>
          <a:solidFill>
            <a:srgbClr val="F8FAFC"/>
          </a:solidFill>
          <a:ln/>
        </p:spPr>
        <p:txBody>
          <a:bodyPr/>
          <a:lstStyle/>
          <a:p>
            <a:endParaRPr lang="en-US"/>
          </a:p>
        </p:txBody>
      </p:sp>
      <p:sp>
        <p:nvSpPr>
          <p:cNvPr id="15" name="Shape 12">
            <a:extLst>
              <a:ext uri="{C183D7F6-B498-43B3-948B-1728B52AA6E4}">
                <adec:decorative xmlns:adec="http://schemas.microsoft.com/office/drawing/2017/decorative" val="1"/>
              </a:ext>
            </a:extLst>
          </p:cNvPr>
          <p:cNvSpPr/>
          <p:nvPr/>
        </p:nvSpPr>
        <p:spPr>
          <a:xfrm>
            <a:off x="6446520" y="2834640"/>
            <a:ext cx="73152" cy="3017520"/>
          </a:xfrm>
          <a:prstGeom prst="rect">
            <a:avLst/>
          </a:prstGeom>
          <a:solidFill>
            <a:srgbClr val="06B6D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675120" y="3063240"/>
            <a:ext cx="365760" cy="365760"/>
          </a:xfrm>
          <a:prstGeom prst="rect">
            <a:avLst/>
          </a:prstGeom>
        </p:spPr>
      </p:pic>
      <p:sp>
        <p:nvSpPr>
          <p:cNvPr id="17" name="Text 13"/>
          <p:cNvSpPr/>
          <p:nvPr/>
        </p:nvSpPr>
        <p:spPr>
          <a:xfrm>
            <a:off x="7132320" y="3063240"/>
            <a:ext cx="3657600" cy="365760"/>
          </a:xfrm>
          <a:prstGeom prst="rect">
            <a:avLst/>
          </a:prstGeom>
          <a:noFill/>
          <a:ln/>
        </p:spPr>
        <p:txBody>
          <a:bodyPr wrap="square" lIns="0" tIns="0" rIns="0" bIns="0" rtlCol="0" anchor="ctr"/>
          <a:lstStyle/>
          <a:p>
            <a:pPr marL="0" indent="0">
              <a:buNone/>
            </a:pPr>
            <a:r>
              <a:rPr lang="en-US" sz="1600" b="1" kern="0" spc="300" dirty="0">
                <a:solidFill>
                  <a:srgbClr val="06B6D4"/>
                </a:solidFill>
                <a:latin typeface="Calibri" pitchFamily="34" charset="0"/>
                <a:ea typeface="Calibri" pitchFamily="34" charset="-122"/>
                <a:cs typeface="Calibri" pitchFamily="34" charset="-120"/>
              </a:rPr>
              <a:t>MITIGATIONS</a:t>
            </a:r>
            <a:endParaRPr lang="en-US" sz="1600" dirty="0"/>
          </a:p>
        </p:txBody>
      </p:sp>
      <p:sp>
        <p:nvSpPr>
          <p:cNvPr id="18" name="Text 14"/>
          <p:cNvSpPr/>
          <p:nvPr/>
        </p:nvSpPr>
        <p:spPr>
          <a:xfrm>
            <a:off x="667512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Agent vetting and sandboxing for new agents/tools</a:t>
            </a:r>
            <a:endParaRPr lang="en-US" sz="1400" b="1"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Cryptographic trust models (signed agent identities)</a:t>
            </a:r>
            <a:endParaRPr lang="en-US" sz="1400" b="1"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Circuit breakers on multi-agent feedback loops</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Simulation environments to test emergent behavior</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Ecosystem-level governance and interaction policies</a:t>
            </a:r>
            <a:endParaRPr lang="en-US" sz="1400" dirty="0"/>
          </a:p>
        </p:txBody>
      </p:sp>
      <p:sp>
        <p:nvSpPr>
          <p:cNvPr id="19" name="Shape 15">
            <a:extLst>
              <a:ext uri="{C183D7F6-B498-43B3-948B-1728B52AA6E4}">
                <adec:decorative xmlns:adec="http://schemas.microsoft.com/office/drawing/2017/decorative" val="1"/>
              </a:ext>
            </a:extLst>
          </p:cNvPr>
          <p:cNvSpPr/>
          <p:nvPr/>
        </p:nvSpPr>
        <p:spPr>
          <a:xfrm>
            <a:off x="640080" y="5989320"/>
            <a:ext cx="10972800" cy="411480"/>
          </a:xfrm>
          <a:prstGeom prst="rect">
            <a:avLst/>
          </a:prstGeom>
          <a:solidFill>
            <a:srgbClr val="0A1628"/>
          </a:solidFill>
          <a:ln/>
        </p:spPr>
        <p:txBody>
          <a:bodyPr/>
          <a:lstStyle/>
          <a:p>
            <a:endParaRPr lang="en-US"/>
          </a:p>
        </p:txBody>
      </p:sp>
      <p:sp>
        <p:nvSpPr>
          <p:cNvPr id="20" name="Text 16"/>
          <p:cNvSpPr/>
          <p:nvPr/>
        </p:nvSpPr>
        <p:spPr>
          <a:xfrm>
            <a:off x="457200" y="5989320"/>
            <a:ext cx="11292840" cy="411480"/>
          </a:xfrm>
          <a:prstGeom prst="rect">
            <a:avLst/>
          </a:prstGeom>
          <a:noFill/>
          <a:ln/>
        </p:spPr>
        <p:txBody>
          <a:bodyPr wrap="square" lIns="0" tIns="0" rIns="0" bIns="0" rtlCol="0" anchor="ctr"/>
          <a:lstStyle/>
          <a:p>
            <a:pPr marL="0" indent="0" algn="ctr">
              <a:buNone/>
            </a:pPr>
            <a:r>
              <a:rPr lang="en-US" sz="1600" i="1" dirty="0">
                <a:solidFill>
                  <a:srgbClr val="F0B429"/>
                </a:solidFill>
                <a:latin typeface="Calibri" pitchFamily="34" charset="0"/>
                <a:ea typeface="Calibri" pitchFamily="34" charset="-122"/>
                <a:cs typeface="Calibri" pitchFamily="34" charset="-120"/>
              </a:rPr>
              <a:t>Banking example: a fraud agent and a payments agent in a feedback loop can take ACH offline by lunch. No attacker required.</a:t>
            </a:r>
            <a:endParaRPr lang="en-US" sz="1600" dirty="0"/>
          </a:p>
        </p:txBody>
      </p:sp>
      <p:sp>
        <p:nvSpPr>
          <p:cNvPr id="22" name="Text 18"/>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3" name="Text 1">
            <a:extLst>
              <a:ext uri="{FF2B5EF4-FFF2-40B4-BE49-F238E27FC236}">
                <a16:creationId xmlns:a16="http://schemas.microsoft.com/office/drawing/2014/main" id="{60F0898D-DD1F-9E8E-03EF-49B6AB8BA27D}"/>
              </a:ext>
            </a:extLst>
          </p:cNvPr>
          <p:cNvSpPr/>
          <p:nvPr/>
        </p:nvSpPr>
        <p:spPr>
          <a:xfrm>
            <a:off x="9692640" y="1545336"/>
            <a:ext cx="2011680" cy="274320"/>
          </a:xfrm>
          <a:prstGeom prst="rect">
            <a:avLst/>
          </a:prstGeom>
          <a:noFill/>
          <a:ln/>
        </p:spPr>
        <p:txBody>
          <a:bodyPr wrap="square" lIns="0" tIns="0" rIns="0" bIns="0" rtlCol="0" anchor="ctr"/>
          <a:lstStyle/>
          <a:p>
            <a:pPr marL="0" indent="0">
              <a:buNone/>
            </a:pPr>
            <a:endParaRPr lang="en-US" sz="1200" dirty="0"/>
          </a:p>
        </p:txBody>
      </p:sp>
      <p:sp>
        <p:nvSpPr>
          <p:cNvPr id="24" name="TextBox 23"/>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20 / 43</a:t>
            </a:r>
          </a:p>
        </p:txBody>
      </p:sp>
    </p:spTree>
  </p:cSld>
  <p:clrMapOvr>
    <a:masterClrMapping/>
  </p:clrMapOvr>
  <mc:AlternateContent xmlns:mc="http://schemas.openxmlformats.org/markup-compatibility/2006">
    <mc:Choice xmlns:p14="http://schemas.microsoft.com/office/powerpoint/2010/main" Requires="p14">
      <p:transition spd="slow" p14:dur="2000" advTm="132326"/>
    </mc:Choice>
    <mc:Fallback>
      <p:transition spd="slow" advTm="13232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3" name="Text 1"/>
          <p:cNvSpPr/>
          <p:nvPr/>
        </p:nvSpPr>
        <p:spPr>
          <a:xfrm>
            <a:off x="9692640" y="1545336"/>
            <a:ext cx="2011680" cy="274320"/>
          </a:xfrm>
          <a:prstGeom prst="rect">
            <a:avLst/>
          </a:prstGeom>
          <a:noFill/>
          <a:ln/>
        </p:spPr>
        <p:txBody>
          <a:bodyPr wrap="square" lIns="0" tIns="0" rIns="0" bIns="0" rtlCol="0" anchor="ctr"/>
          <a:lstStyle/>
          <a:p>
            <a:pPr marL="0" indent="0">
              <a:buNone/>
            </a:pPr>
            <a:r>
              <a:rPr lang="en-US" sz="1200" b="1" kern="0" spc="400" dirty="0">
                <a:solidFill>
                  <a:srgbClr val="8B1A2B"/>
                </a:solidFill>
                <a:latin typeface="Calibri" pitchFamily="34" charset="0"/>
                <a:ea typeface="Calibri" pitchFamily="34" charset="-122"/>
                <a:cs typeface="Calibri" pitchFamily="34" charset="-120"/>
              </a:rPr>
              <a:t>AGENT ECOSYSTEM</a:t>
            </a:r>
            <a:endParaRPr lang="en-US" sz="1200" dirty="0"/>
          </a:p>
        </p:txBody>
      </p:sp>
      <p:sp>
        <p:nvSpPr>
          <p:cNvPr id="4" name="Text 2"/>
          <p:cNvSpPr/>
          <p:nvPr/>
        </p:nvSpPr>
        <p:spPr>
          <a:xfrm>
            <a:off x="731520" y="640080"/>
            <a:ext cx="11155680" cy="758952"/>
          </a:xfrm>
          <a:prstGeom prst="rect">
            <a:avLst/>
          </a:prstGeom>
          <a:noFill/>
          <a:ln/>
        </p:spPr>
        <p:txBody>
          <a:bodyPr wrap="square" lIns="0" tIns="0" rIns="0" bIns="0" rtlCol="0" anchor="ctr"/>
          <a:lstStyle/>
          <a:p>
            <a:pPr marL="0" indent="0">
              <a:buNone/>
            </a:pPr>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a:t>
            </a:r>
          </a:p>
          <a:p>
            <a:pPr marL="0" indent="0">
              <a:buNone/>
            </a:pPr>
            <a:r>
              <a:rPr lang="en-US" sz="3000" b="1" dirty="0">
                <a:solidFill>
                  <a:srgbClr val="1A1A2E"/>
                </a:solidFill>
                <a:latin typeface="Georgia" pitchFamily="34" charset="0"/>
                <a:ea typeface="Georgia" pitchFamily="34" charset="-122"/>
                <a:cs typeface="Georgia" pitchFamily="34" charset="-120"/>
              </a:rPr>
              <a:t>Every Integration Is a New Inbound Channel</a:t>
            </a:r>
            <a:endParaRPr lang="en-US" sz="3000" dirty="0"/>
          </a:p>
        </p:txBody>
      </p:sp>
      <p:sp>
        <p:nvSpPr>
          <p:cNvPr id="5" name="Text 3"/>
          <p:cNvSpPr/>
          <p:nvPr/>
        </p:nvSpPr>
        <p:spPr>
          <a:xfrm>
            <a:off x="731520" y="1536192"/>
            <a:ext cx="10698480" cy="292608"/>
          </a:xfrm>
          <a:prstGeom prst="rect">
            <a:avLst/>
          </a:prstGeom>
          <a:noFill/>
          <a:ln/>
        </p:spPr>
        <p:txBody>
          <a:bodyPr wrap="square" lIns="0" tIns="0" rIns="0" bIns="0" rtlCol="0" anchor="ctr"/>
          <a:lstStyle/>
          <a:p>
            <a:pPr marL="0" indent="0">
              <a:buNone/>
            </a:pPr>
            <a:r>
              <a:rPr lang="en-US" sz="1400" i="1" dirty="0">
                <a:solidFill>
                  <a:srgbClr val="5C5C6E"/>
                </a:solidFill>
                <a:latin typeface="Calibri" pitchFamily="34" charset="0"/>
                <a:ea typeface="Calibri" pitchFamily="34" charset="-122"/>
                <a:cs typeface="Calibri" pitchFamily="34" charset="-120"/>
              </a:rPr>
              <a:t>Copilot doesn't live in one app. It lives in every door the world can knock on.</a:t>
            </a:r>
            <a:endParaRPr lang="en-US" sz="1400"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Text 5"/>
          <p:cNvSpPr/>
          <p:nvPr/>
        </p:nvSpPr>
        <p:spPr>
          <a:xfrm>
            <a:off x="731520" y="2075690"/>
            <a:ext cx="64008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WHAT MAESTRO FINDS</a:t>
            </a:r>
            <a:endParaRPr lang="en-US" sz="1100" dirty="0"/>
          </a:p>
        </p:txBody>
      </p:sp>
      <p:sp>
        <p:nvSpPr>
          <p:cNvPr id="9" name="Text 7"/>
          <p:cNvSpPr/>
          <p:nvPr/>
        </p:nvSpPr>
        <p:spPr>
          <a:xfrm>
            <a:off x="7680960" y="2103120"/>
            <a:ext cx="402336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THREAT CLASSES</a:t>
            </a:r>
            <a:endParaRPr lang="en-US" sz="1100" dirty="0"/>
          </a:p>
        </p:txBody>
      </p:sp>
      <p:pic>
        <p:nvPicPr>
          <p:cNvPr id="11" name="Image 0" descr="preencoded.png"/>
          <p:cNvPicPr>
            <a:picLocks noChangeAspect="1"/>
          </p:cNvPicPr>
          <p:nvPr/>
        </p:nvPicPr>
        <p:blipFill>
          <a:blip r:embed="rId3"/>
          <a:stretch>
            <a:fillRect/>
          </a:stretch>
        </p:blipFill>
        <p:spPr>
          <a:xfrm>
            <a:off x="7909560" y="2624328"/>
            <a:ext cx="365760" cy="365760"/>
          </a:xfrm>
          <a:prstGeom prst="rect">
            <a:avLst/>
          </a:prstGeom>
        </p:spPr>
      </p:pic>
      <p:sp>
        <p:nvSpPr>
          <p:cNvPr id="12" name="Text 9"/>
          <p:cNvSpPr/>
          <p:nvPr/>
        </p:nvSpPr>
        <p:spPr>
          <a:xfrm>
            <a:off x="8458200" y="2496312"/>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Unbounded input surface</a:t>
            </a:r>
            <a:endParaRPr lang="en-US" sz="1300" dirty="0"/>
          </a:p>
        </p:txBody>
      </p:sp>
      <p:sp>
        <p:nvSpPr>
          <p:cNvPr id="13" name="Text 10"/>
          <p:cNvSpPr/>
          <p:nvPr/>
        </p:nvSpPr>
        <p:spPr>
          <a:xfrm>
            <a:off x="8458200" y="2807208"/>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Every connected app is a write path into the agent.</a:t>
            </a:r>
            <a:endParaRPr lang="en-US" sz="1200" dirty="0"/>
          </a:p>
        </p:txBody>
      </p:sp>
      <p:pic>
        <p:nvPicPr>
          <p:cNvPr id="15" name="Image 1" descr="preencoded.png"/>
          <p:cNvPicPr>
            <a:picLocks noChangeAspect="1"/>
          </p:cNvPicPr>
          <p:nvPr/>
        </p:nvPicPr>
        <p:blipFill>
          <a:blip r:embed="rId4"/>
          <a:stretch>
            <a:fillRect/>
          </a:stretch>
        </p:blipFill>
        <p:spPr>
          <a:xfrm>
            <a:off x="7909560" y="3529584"/>
            <a:ext cx="365760" cy="365760"/>
          </a:xfrm>
          <a:prstGeom prst="rect">
            <a:avLst/>
          </a:prstGeom>
        </p:spPr>
      </p:pic>
      <p:sp>
        <p:nvSpPr>
          <p:cNvPr id="16" name="Text 12"/>
          <p:cNvSpPr/>
          <p:nvPr/>
        </p:nvSpPr>
        <p:spPr>
          <a:xfrm>
            <a:off x="8458200" y="3401568"/>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No external-write trust zone</a:t>
            </a:r>
            <a:endParaRPr lang="en-US" sz="1300" dirty="0"/>
          </a:p>
        </p:txBody>
      </p:sp>
      <p:sp>
        <p:nvSpPr>
          <p:cNvPr id="17" name="Text 13"/>
          <p:cNvSpPr/>
          <p:nvPr/>
        </p:nvSpPr>
        <p:spPr>
          <a:xfrm>
            <a:off x="8458200" y="3712464"/>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Outside data treated like internal data.</a:t>
            </a:r>
            <a:endParaRPr lang="en-US" sz="1200" dirty="0"/>
          </a:p>
        </p:txBody>
      </p:sp>
      <p:pic>
        <p:nvPicPr>
          <p:cNvPr id="19" name="Image 2" descr="preencoded.png"/>
          <p:cNvPicPr>
            <a:picLocks noChangeAspect="1"/>
          </p:cNvPicPr>
          <p:nvPr/>
        </p:nvPicPr>
        <p:blipFill>
          <a:blip r:embed="rId5"/>
          <a:stretch>
            <a:fillRect/>
          </a:stretch>
        </p:blipFill>
        <p:spPr>
          <a:xfrm>
            <a:off x="7909560" y="4434840"/>
            <a:ext cx="365760" cy="365760"/>
          </a:xfrm>
          <a:prstGeom prst="rect">
            <a:avLst/>
          </a:prstGeom>
        </p:spPr>
      </p:pic>
      <p:sp>
        <p:nvSpPr>
          <p:cNvPr id="20" name="Text 15"/>
          <p:cNvSpPr/>
          <p:nvPr/>
        </p:nvSpPr>
        <p:spPr>
          <a:xfrm>
            <a:off x="8458200" y="4306824"/>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Federation risk</a:t>
            </a:r>
            <a:endParaRPr lang="en-US" sz="1300" dirty="0"/>
          </a:p>
        </p:txBody>
      </p:sp>
      <p:sp>
        <p:nvSpPr>
          <p:cNvPr id="21" name="Text 16"/>
          <p:cNvSpPr/>
          <p:nvPr/>
        </p:nvSpPr>
        <p:spPr>
          <a:xfrm>
            <a:off x="8458200" y="4617720"/>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Cross-tenant Teams and calendars extend the surface.</a:t>
            </a:r>
            <a:endParaRPr lang="en-US" sz="1200" dirty="0"/>
          </a:p>
        </p:txBody>
      </p:sp>
      <p:pic>
        <p:nvPicPr>
          <p:cNvPr id="23" name="Image 3" descr="preencoded.png"/>
          <p:cNvPicPr>
            <a:picLocks noChangeAspect="1"/>
          </p:cNvPicPr>
          <p:nvPr/>
        </p:nvPicPr>
        <p:blipFill>
          <a:blip r:embed="rId6"/>
          <a:stretch>
            <a:fillRect/>
          </a:stretch>
        </p:blipFill>
        <p:spPr>
          <a:xfrm>
            <a:off x="7909560" y="5340096"/>
            <a:ext cx="365760" cy="365760"/>
          </a:xfrm>
          <a:prstGeom prst="rect">
            <a:avLst/>
          </a:prstGeom>
        </p:spPr>
      </p:pic>
      <p:sp>
        <p:nvSpPr>
          <p:cNvPr id="24" name="Text 18"/>
          <p:cNvSpPr/>
          <p:nvPr/>
        </p:nvSpPr>
        <p:spPr>
          <a:xfrm>
            <a:off x="8458200" y="5212080"/>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Supply chain risk</a:t>
            </a:r>
            <a:endParaRPr lang="en-US" sz="1300" dirty="0"/>
          </a:p>
        </p:txBody>
      </p:sp>
      <p:sp>
        <p:nvSpPr>
          <p:cNvPr id="25" name="Text 19"/>
          <p:cNvSpPr/>
          <p:nvPr/>
        </p:nvSpPr>
        <p:spPr>
          <a:xfrm>
            <a:off x="8458200" y="5522976"/>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Compromise of one integration compromises the agent.</a:t>
            </a:r>
            <a:endParaRPr lang="en-US" sz="1200" dirty="0"/>
          </a:p>
        </p:txBody>
      </p:sp>
      <p:sp>
        <p:nvSpPr>
          <p:cNvPr id="26" name="Shape 20"/>
          <p:cNvSpPr/>
          <p:nvPr/>
        </p:nvSpPr>
        <p:spPr>
          <a:xfrm>
            <a:off x="731520" y="6172200"/>
            <a:ext cx="10698480" cy="457200"/>
          </a:xfrm>
          <a:prstGeom prst="rect">
            <a:avLst/>
          </a:prstGeom>
          <a:solidFill>
            <a:srgbClr val="1A1A2E"/>
          </a:solidFill>
          <a:ln w="12700">
            <a:solidFill>
              <a:srgbClr val="1A1A2E"/>
            </a:solidFill>
            <a:prstDash val="solid"/>
          </a:ln>
        </p:spPr>
        <p:txBody>
          <a:bodyPr/>
          <a:lstStyle/>
          <a:p>
            <a:endParaRPr lang="en-US"/>
          </a:p>
        </p:txBody>
      </p:sp>
      <p:sp>
        <p:nvSpPr>
          <p:cNvPr id="27" name="Text 21"/>
          <p:cNvSpPr/>
          <p:nvPr/>
        </p:nvSpPr>
        <p:spPr>
          <a:xfrm>
            <a:off x="914400" y="6172200"/>
            <a:ext cx="103327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lesson:  </a:t>
            </a:r>
            <a:r>
              <a:rPr lang="en-US" sz="1600" dirty="0">
                <a:solidFill>
                  <a:srgbClr val="FFFFFF"/>
                </a:solidFill>
                <a:latin typeface="Calibri" pitchFamily="34" charset="0"/>
                <a:ea typeface="Calibri" pitchFamily="34" charset="-122"/>
                <a:cs typeface="Calibri" pitchFamily="34" charset="-120"/>
              </a:rPr>
              <a:t>The agent ecosystem's value is its connectedness. So is its risk. Trust zones must follow the connections.</a:t>
            </a:r>
            <a:endParaRPr lang="en-US" sz="1600" dirty="0"/>
          </a:p>
        </p:txBody>
      </p:sp>
      <p:sp>
        <p:nvSpPr>
          <p:cNvPr id="29" name="Text 2">
            <a:extLst>
              <a:ext uri="{FF2B5EF4-FFF2-40B4-BE49-F238E27FC236}">
                <a16:creationId xmlns:a16="http://schemas.microsoft.com/office/drawing/2014/main" id="{EC77DFAF-D724-1721-F745-0012695FAC3F}"/>
              </a:ext>
            </a:extLst>
          </p:cNvPr>
          <p:cNvSpPr/>
          <p:nvPr/>
        </p:nvSpPr>
        <p:spPr>
          <a:xfrm>
            <a:off x="10058400" y="402336"/>
            <a:ext cx="1645920" cy="1280160"/>
          </a:xfrm>
          <a:prstGeom prst="rect">
            <a:avLst/>
          </a:prstGeom>
          <a:noFill/>
          <a:ln/>
        </p:spPr>
        <p:txBody>
          <a:bodyPr wrap="square" lIns="0" tIns="0" rIns="0" bIns="0" rtlCol="0" anchor="ctr"/>
          <a:lstStyle/>
          <a:p>
            <a:pPr marL="0" indent="0" algn="r">
              <a:buNone/>
            </a:pPr>
            <a:r>
              <a:rPr lang="en-US" sz="8000" b="1" dirty="0">
                <a:solidFill>
                  <a:srgbClr val="8B1A2B"/>
                </a:solidFill>
                <a:latin typeface="Georgia" pitchFamily="34" charset="0"/>
                <a:ea typeface="Georgia" pitchFamily="34" charset="-122"/>
                <a:cs typeface="Georgia" pitchFamily="34" charset="-120"/>
              </a:rPr>
              <a:t>L7</a:t>
            </a:r>
            <a:endParaRPr lang="en-US" sz="8000" dirty="0">
              <a:solidFill>
                <a:srgbClr val="8B1A2B"/>
              </a:solidFill>
            </a:endParaRPr>
          </a:p>
        </p:txBody>
      </p:sp>
      <p:sp>
        <p:nvSpPr>
          <p:cNvPr id="30" name="TextBox 29"/>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21 / 43</a:t>
            </a:r>
          </a:p>
        </p:txBody>
      </p:sp>
      <p:sp>
        <p:nvSpPr>
          <p:cNvPr id="28" name="Shape 2">
            <a:extLst>
              <a:ext uri="{FF2B5EF4-FFF2-40B4-BE49-F238E27FC236}">
                <a16:creationId xmlns:a16="http://schemas.microsoft.com/office/drawing/2014/main" id="{E34FACBF-A961-24B9-57DF-FF9BC688EC6A}"/>
              </a:ext>
              <a:ext uri="{C183D7F6-B498-43B3-948B-1728B52AA6E4}">
                <adec:decorative xmlns:adec="http://schemas.microsoft.com/office/drawing/2017/decorative" val="1"/>
              </a:ext>
            </a:extLst>
          </p:cNvPr>
          <p:cNvSpPr/>
          <p:nvPr/>
        </p:nvSpPr>
        <p:spPr>
          <a:xfrm>
            <a:off x="822960" y="2423160"/>
            <a:ext cx="6675120" cy="1115567"/>
          </a:xfrm>
          <a:prstGeom prst="rect">
            <a:avLst/>
          </a:prstGeom>
          <a:solidFill>
            <a:srgbClr val="8B1A2B"/>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en-US" u="sng" dirty="0"/>
              <a:t>Attack Surface</a:t>
            </a:r>
          </a:p>
          <a:p>
            <a:r>
              <a:rPr lang="en-US" sz="1600" dirty="0">
                <a:solidFill>
                  <a:schemeClr val="bg1"/>
                </a:solidFill>
                <a:latin typeface="Calibri" pitchFamily="34" charset="0"/>
                <a:ea typeface="Calibri" pitchFamily="34" charset="-122"/>
                <a:cs typeface="Calibri" pitchFamily="34" charset="-120"/>
              </a:rPr>
              <a:t>Copilot is wired into Outlook, SharePoint, OneDrive, Teams, and the broader Microsoft Graph. Each of those is a productivity win — and an attack surface.</a:t>
            </a:r>
            <a:endParaRPr lang="en-US" sz="1600" dirty="0">
              <a:solidFill>
                <a:schemeClr val="bg1"/>
              </a:solidFill>
            </a:endParaRPr>
          </a:p>
          <a:p>
            <a:endParaRPr lang="en-US" dirty="0"/>
          </a:p>
        </p:txBody>
      </p:sp>
      <p:sp>
        <p:nvSpPr>
          <p:cNvPr id="31" name="Shape 2">
            <a:extLst>
              <a:ext uri="{FF2B5EF4-FFF2-40B4-BE49-F238E27FC236}">
                <a16:creationId xmlns:a16="http://schemas.microsoft.com/office/drawing/2014/main" id="{1E58D171-3E84-C076-FAFD-CDACE2AEA34A}"/>
              </a:ext>
              <a:ext uri="{C183D7F6-B498-43B3-948B-1728B52AA6E4}">
                <adec:decorative xmlns:adec="http://schemas.microsoft.com/office/drawing/2017/decorative" val="1"/>
              </a:ext>
            </a:extLst>
          </p:cNvPr>
          <p:cNvSpPr/>
          <p:nvPr/>
        </p:nvSpPr>
        <p:spPr>
          <a:xfrm>
            <a:off x="822960" y="3794759"/>
            <a:ext cx="6675120" cy="877824"/>
          </a:xfrm>
          <a:prstGeom prst="rect">
            <a:avLst/>
          </a:prstGeom>
          <a:solidFill>
            <a:srgbClr val="8B1A2B"/>
          </a:solidFill>
          <a:ln w="12700">
            <a:solidFill>
              <a:srgbClr val="E2E8F0"/>
            </a:solidFill>
            <a:prstDash val="solid"/>
          </a:ln>
        </p:spPr>
        <p:txBody>
          <a:bodyPr/>
          <a:lstStyle/>
          <a:p>
            <a:r>
              <a:rPr lang="en-US" u="sng" dirty="0">
                <a:solidFill>
                  <a:schemeClr val="bg1"/>
                </a:solidFill>
              </a:rPr>
              <a:t>Attack</a:t>
            </a:r>
          </a:p>
          <a:p>
            <a:pPr>
              <a:spcAft>
                <a:spcPts val="400"/>
              </a:spcAft>
            </a:pPr>
            <a:r>
              <a:rPr lang="en-US" sz="1600" dirty="0">
                <a:solidFill>
                  <a:schemeClr val="bg1"/>
                </a:solidFill>
                <a:latin typeface="Calibri" pitchFamily="34" charset="0"/>
                <a:ea typeface="Calibri" pitchFamily="34" charset="-122"/>
                <a:cs typeface="Calibri" pitchFamily="34" charset="-120"/>
              </a:rPr>
              <a:t>Anyone on the internet who can email the user can write into the AI's context window.</a:t>
            </a:r>
            <a:endParaRPr lang="en-US" sz="1600" dirty="0">
              <a:solidFill>
                <a:schemeClr val="bg1"/>
              </a:solidFill>
            </a:endParaRPr>
          </a:p>
        </p:txBody>
      </p:sp>
      <p:sp>
        <p:nvSpPr>
          <p:cNvPr id="32" name="Shape 2">
            <a:extLst>
              <a:ext uri="{FF2B5EF4-FFF2-40B4-BE49-F238E27FC236}">
                <a16:creationId xmlns:a16="http://schemas.microsoft.com/office/drawing/2014/main" id="{D679FA39-477F-FC9B-2C9B-0CE32A50B01A}"/>
              </a:ext>
              <a:ext uri="{C183D7F6-B498-43B3-948B-1728B52AA6E4}">
                <adec:decorative xmlns:adec="http://schemas.microsoft.com/office/drawing/2017/decorative" val="1"/>
              </a:ext>
            </a:extLst>
          </p:cNvPr>
          <p:cNvSpPr/>
          <p:nvPr/>
        </p:nvSpPr>
        <p:spPr>
          <a:xfrm>
            <a:off x="822960" y="4914900"/>
            <a:ext cx="6675120" cy="886967"/>
          </a:xfrm>
          <a:prstGeom prst="rect">
            <a:avLst/>
          </a:prstGeom>
          <a:solidFill>
            <a:srgbClr val="8B1A2B"/>
          </a:solidFill>
          <a:ln w="12700">
            <a:solidFill>
              <a:srgbClr val="E2E8F0"/>
            </a:solidFill>
            <a:prstDash val="solid"/>
          </a:ln>
        </p:spPr>
        <p:txBody>
          <a:bodyPr/>
          <a:lstStyle/>
          <a:p>
            <a:r>
              <a:rPr lang="en-US" u="sng" dirty="0">
                <a:solidFill>
                  <a:schemeClr val="bg1"/>
                </a:solidFill>
              </a:rPr>
              <a:t>No Trust Zones </a:t>
            </a:r>
          </a:p>
          <a:p>
            <a:pPr>
              <a:spcAft>
                <a:spcPts val="400"/>
              </a:spcAft>
            </a:pPr>
            <a:r>
              <a:rPr lang="en-US" sz="1600" dirty="0">
                <a:solidFill>
                  <a:schemeClr val="bg1"/>
                </a:solidFill>
                <a:latin typeface="Calibri" pitchFamily="34" charset="0"/>
                <a:ea typeface="Calibri" pitchFamily="34" charset="-122"/>
                <a:cs typeface="Calibri" pitchFamily="34" charset="-120"/>
              </a:rPr>
              <a:t>Every integration is an inbound channel for untrusted data, and the agent treats them all as equally authoritative.</a:t>
            </a:r>
          </a:p>
        </p:txBody>
      </p:sp>
    </p:spTree>
  </p:cSld>
  <p:clrMapOvr>
    <a:masterClrMapping/>
  </p:clrMapOvr>
  <mc:AlternateContent xmlns:mc="http://schemas.openxmlformats.org/markup-compatibility/2006">
    <mc:Choice xmlns:p14="http://schemas.microsoft.com/office/powerpoint/2010/main" Requires="p14">
      <p:transition spd="slow" p14:dur="2000" advTm="88066"/>
    </mc:Choice>
    <mc:Fallback>
      <p:transition spd="slow" advTm="8806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rtlCol="0" anchor="ctr"/>
          <a:lstStyle/>
          <a:p>
            <a:pPr marL="0" indent="0">
              <a:buNone/>
            </a:pPr>
            <a:r>
              <a:rPr lang="en-US" sz="1400" b="1" kern="0" spc="400" dirty="0">
                <a:solidFill>
                  <a:srgbClr val="06B6D4"/>
                </a:solidFill>
                <a:latin typeface="Calibri" pitchFamily="34" charset="0"/>
                <a:ea typeface="Calibri" pitchFamily="34" charset="-122"/>
                <a:cs typeface="Calibri" pitchFamily="34" charset="-120"/>
              </a:rPr>
              <a:t>LAYER 6</a:t>
            </a:r>
            <a:endParaRPr lang="en-US" sz="1400" dirty="0"/>
          </a:p>
        </p:txBody>
      </p:sp>
      <p:sp>
        <p:nvSpPr>
          <p:cNvPr id="3" name="Text 1"/>
          <p:cNvSpPr/>
          <p:nvPr/>
        </p:nvSpPr>
        <p:spPr>
          <a:xfrm>
            <a:off x="640080" y="777240"/>
            <a:ext cx="10058400" cy="822960"/>
          </a:xfrm>
          <a:prstGeom prst="rect">
            <a:avLst/>
          </a:prstGeom>
          <a:noFill/>
          <a:ln/>
        </p:spPr>
        <p:txBody>
          <a:bodyPr wrap="square" lIns="0" tIns="0" rIns="0" bIns="0" rtlCol="0" anchor="ctr"/>
          <a:lstStyle/>
          <a:p>
            <a:pPr marL="0" indent="0">
              <a:buNone/>
            </a:pPr>
            <a:r>
              <a:rPr lang="en-US" sz="3800" b="1" dirty="0">
                <a:solidFill>
                  <a:srgbClr val="1E293B"/>
                </a:solidFill>
                <a:latin typeface="Georgia" pitchFamily="34" charset="0"/>
                <a:ea typeface="Georgia" pitchFamily="34" charset="-122"/>
                <a:cs typeface="Georgia" pitchFamily="34" charset="-120"/>
              </a:rPr>
              <a:t>Security &amp; Compliance  ⟷</a:t>
            </a:r>
            <a:endParaRPr lang="en-US" sz="3800" dirty="0"/>
          </a:p>
        </p:txBody>
      </p:sp>
      <p:sp>
        <p:nvSpPr>
          <p:cNvPr id="4" name="Text 2"/>
          <p:cNvSpPr/>
          <p:nvPr/>
        </p:nvSpPr>
        <p:spPr>
          <a:xfrm>
            <a:off x="10058400" y="502920"/>
            <a:ext cx="1645920" cy="1280160"/>
          </a:xfrm>
          <a:prstGeom prst="rect">
            <a:avLst/>
          </a:prstGeom>
          <a:noFill/>
          <a:ln/>
        </p:spPr>
        <p:txBody>
          <a:bodyPr wrap="square" lIns="0" tIns="0" rIns="0" bIns="0" rtlCol="0" anchor="ctr"/>
          <a:lstStyle/>
          <a:p>
            <a:pPr marL="0" indent="0" algn="r">
              <a:buNone/>
            </a:pPr>
            <a:r>
              <a:rPr lang="en-US" sz="8000" b="1" dirty="0">
                <a:solidFill>
                  <a:srgbClr val="06B6D4"/>
                </a:solidFill>
                <a:latin typeface="Georgia" pitchFamily="34" charset="0"/>
                <a:ea typeface="Georgia" pitchFamily="34" charset="-122"/>
                <a:cs typeface="Georgia" pitchFamily="34" charset="-120"/>
              </a:rPr>
              <a:t>L6</a:t>
            </a:r>
            <a:endParaRPr lang="en-US" sz="8000" dirty="0"/>
          </a:p>
        </p:txBody>
      </p:sp>
      <p:sp>
        <p:nvSpPr>
          <p:cNvPr id="5" name="Text 3"/>
          <p:cNvSpPr/>
          <p:nvPr/>
        </p:nvSpPr>
        <p:spPr>
          <a:xfrm>
            <a:off x="640080" y="1691640"/>
            <a:ext cx="10058400" cy="457200"/>
          </a:xfrm>
          <a:prstGeom prst="rect">
            <a:avLst/>
          </a:prstGeom>
          <a:noFill/>
          <a:ln/>
        </p:spPr>
        <p:txBody>
          <a:bodyPr wrap="square" lIns="0" tIns="0" rIns="0" bIns="0" rtlCol="0" anchor="ctr"/>
          <a:lstStyle/>
          <a:p>
            <a:pPr marL="0" indent="0">
              <a:buNone/>
            </a:pPr>
            <a:r>
              <a:rPr lang="en-US" i="1" dirty="0">
                <a:solidFill>
                  <a:srgbClr val="475569"/>
                </a:solidFill>
                <a:latin typeface="Calibri" pitchFamily="34" charset="0"/>
                <a:ea typeface="Calibri" pitchFamily="34" charset="-122"/>
                <a:cs typeface="Calibri" pitchFamily="34" charset="-120"/>
              </a:rPr>
              <a:t>The vertical layer. The spine. It threads through every other layer because every other layer needs it.</a:t>
            </a:r>
            <a:endParaRPr lang="en-US" dirty="0"/>
          </a:p>
        </p:txBody>
      </p:sp>
      <p:sp>
        <p:nvSpPr>
          <p:cNvPr id="6" name="Shape 4">
            <a:extLst>
              <a:ext uri="{C183D7F6-B498-43B3-948B-1728B52AA6E4}">
                <adec:decorative xmlns:adec="http://schemas.microsoft.com/office/drawing/2017/decorative" val="1"/>
              </a:ext>
            </a:extLst>
          </p:cNvPr>
          <p:cNvSpPr/>
          <p:nvPr/>
        </p:nvSpPr>
        <p:spPr>
          <a:xfrm>
            <a:off x="640080" y="2194560"/>
            <a:ext cx="10972800" cy="457200"/>
          </a:xfrm>
          <a:prstGeom prst="rect">
            <a:avLst/>
          </a:prstGeom>
          <a:solidFill>
            <a:srgbClr val="F8FAFC"/>
          </a:solidFill>
          <a:ln/>
        </p:spPr>
        <p:txBody>
          <a:bodyPr/>
          <a:lstStyle/>
          <a:p>
            <a:endParaRPr lang="en-US" dirty="0"/>
          </a:p>
        </p:txBody>
      </p:sp>
      <p:sp>
        <p:nvSpPr>
          <p:cNvPr id="7" name="Text 5"/>
          <p:cNvSpPr/>
          <p:nvPr/>
        </p:nvSpPr>
        <p:spPr>
          <a:xfrm>
            <a:off x="777240" y="2194560"/>
            <a:ext cx="1371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Examples</a:t>
            </a:r>
            <a:r>
              <a:rPr lang="en-US" sz="1200" b="1" dirty="0">
                <a:solidFill>
                  <a:srgbClr val="1E293B"/>
                </a:solidFill>
                <a:latin typeface="Calibri" pitchFamily="34" charset="0"/>
                <a:ea typeface="Calibri" pitchFamily="34" charset="-122"/>
                <a:cs typeface="Calibri" pitchFamily="34" charset="-120"/>
              </a:rPr>
              <a:t>:  </a:t>
            </a:r>
            <a:endParaRPr lang="en-US" sz="1200" dirty="0"/>
          </a:p>
        </p:txBody>
      </p:sp>
      <p:sp>
        <p:nvSpPr>
          <p:cNvPr id="8" name="Text 6"/>
          <p:cNvSpPr/>
          <p:nvPr/>
        </p:nvSpPr>
        <p:spPr>
          <a:xfrm>
            <a:off x="1691640" y="2194560"/>
            <a:ext cx="9601200" cy="457200"/>
          </a:xfrm>
          <a:prstGeom prst="rect">
            <a:avLst/>
          </a:prstGeom>
          <a:noFill/>
          <a:ln/>
        </p:spPr>
        <p:txBody>
          <a:bodyPr wrap="square" lIns="0" tIns="0" rIns="0" bIns="0" rtlCol="0" anchor="ctr"/>
          <a:lstStyle/>
          <a:p>
            <a:pPr marL="0" indent="0">
              <a:buNone/>
            </a:pPr>
            <a:r>
              <a:rPr lang="en-US" sz="1400" dirty="0">
                <a:solidFill>
                  <a:srgbClr val="475569"/>
                </a:solidFill>
                <a:latin typeface="Consolas" pitchFamily="34" charset="0"/>
                <a:ea typeface="Consolas" pitchFamily="34" charset="-122"/>
                <a:cs typeface="Consolas" pitchFamily="34" charset="-120"/>
              </a:rPr>
              <a:t>IAM - Vault - Audit Logs - GDPR - HIPAA - SOC 2 – Cryptography – GRC - Risk Assessment</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40080" y="2834640"/>
            <a:ext cx="5440680" cy="3017520"/>
          </a:xfrm>
          <a:prstGeom prst="rect">
            <a:avLst/>
          </a:prstGeom>
          <a:solidFill>
            <a:srgbClr val="F8FAFC"/>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640080" y="2834640"/>
            <a:ext cx="73152" cy="3017520"/>
          </a:xfrm>
          <a:prstGeom prst="rect">
            <a:avLst/>
          </a:prstGeom>
          <a:solidFill>
            <a:srgbClr val="F97066"/>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868680" y="3063240"/>
            <a:ext cx="365760" cy="365760"/>
          </a:xfrm>
          <a:prstGeom prst="rect">
            <a:avLst/>
          </a:prstGeom>
        </p:spPr>
      </p:pic>
      <p:sp>
        <p:nvSpPr>
          <p:cNvPr id="12" name="Text 9"/>
          <p:cNvSpPr/>
          <p:nvPr/>
        </p:nvSpPr>
        <p:spPr>
          <a:xfrm>
            <a:off x="1325880" y="3063240"/>
            <a:ext cx="3657600" cy="365760"/>
          </a:xfrm>
          <a:prstGeom prst="rect">
            <a:avLst/>
          </a:prstGeom>
          <a:noFill/>
          <a:ln/>
        </p:spPr>
        <p:txBody>
          <a:bodyPr wrap="square" lIns="0" tIns="0" rIns="0" bIns="0" rtlCol="0" anchor="ctr"/>
          <a:lstStyle/>
          <a:p>
            <a:pPr marL="0" indent="0">
              <a:buNone/>
            </a:pPr>
            <a:r>
              <a:rPr lang="en-US" sz="1600" b="1" kern="0" spc="300" dirty="0">
                <a:solidFill>
                  <a:srgbClr val="F97066"/>
                </a:solidFill>
                <a:latin typeface="Calibri" pitchFamily="34" charset="0"/>
                <a:ea typeface="Calibri" pitchFamily="34" charset="-122"/>
                <a:cs typeface="Calibri" pitchFamily="34" charset="-120"/>
              </a:rPr>
              <a:t>THREATS</a:t>
            </a:r>
            <a:endParaRPr lang="en-US" sz="1600" dirty="0"/>
          </a:p>
        </p:txBody>
      </p:sp>
      <p:sp>
        <p:nvSpPr>
          <p:cNvPr id="13" name="Text 10"/>
          <p:cNvSpPr/>
          <p:nvPr/>
        </p:nvSpPr>
        <p:spPr>
          <a:xfrm>
            <a:off x="86868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Identity spoofing across agents — agent A impersonates agent B</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Privilege escalation through the agent — read-only user, admin agent</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Compliance drift — model updates silently change risk posture</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Audit gaps — “the model decided” is not a legal defense</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Regulatory non-compliance — GDPR, HIPAA, EU AI Act all apply</a:t>
            </a:r>
            <a:endParaRPr lang="en-US" sz="1400" b="1" dirty="0"/>
          </a:p>
        </p:txBody>
      </p:sp>
      <p:sp>
        <p:nvSpPr>
          <p:cNvPr id="14" name="Shape 11">
            <a:extLst>
              <a:ext uri="{C183D7F6-B498-43B3-948B-1728B52AA6E4}">
                <adec:decorative xmlns:adec="http://schemas.microsoft.com/office/drawing/2017/decorative" val="1"/>
              </a:ext>
            </a:extLst>
          </p:cNvPr>
          <p:cNvSpPr/>
          <p:nvPr/>
        </p:nvSpPr>
        <p:spPr>
          <a:xfrm>
            <a:off x="6446520" y="2834640"/>
            <a:ext cx="5440680" cy="3017520"/>
          </a:xfrm>
          <a:prstGeom prst="rect">
            <a:avLst/>
          </a:prstGeom>
          <a:solidFill>
            <a:srgbClr val="F8FAFC"/>
          </a:solidFill>
          <a:ln/>
        </p:spPr>
        <p:txBody>
          <a:bodyPr/>
          <a:lstStyle/>
          <a:p>
            <a:endParaRPr lang="en-US"/>
          </a:p>
        </p:txBody>
      </p:sp>
      <p:sp>
        <p:nvSpPr>
          <p:cNvPr id="15" name="Shape 12">
            <a:extLst>
              <a:ext uri="{C183D7F6-B498-43B3-948B-1728B52AA6E4}">
                <adec:decorative xmlns:adec="http://schemas.microsoft.com/office/drawing/2017/decorative" val="1"/>
              </a:ext>
            </a:extLst>
          </p:cNvPr>
          <p:cNvSpPr/>
          <p:nvPr/>
        </p:nvSpPr>
        <p:spPr>
          <a:xfrm>
            <a:off x="6446520" y="2834640"/>
            <a:ext cx="73152" cy="3017520"/>
          </a:xfrm>
          <a:prstGeom prst="rect">
            <a:avLst/>
          </a:prstGeom>
          <a:solidFill>
            <a:srgbClr val="06B6D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675120" y="3063240"/>
            <a:ext cx="365760" cy="365760"/>
          </a:xfrm>
          <a:prstGeom prst="rect">
            <a:avLst/>
          </a:prstGeom>
        </p:spPr>
      </p:pic>
      <p:sp>
        <p:nvSpPr>
          <p:cNvPr id="17" name="Text 13"/>
          <p:cNvSpPr/>
          <p:nvPr/>
        </p:nvSpPr>
        <p:spPr>
          <a:xfrm>
            <a:off x="7132320" y="3063240"/>
            <a:ext cx="3657600" cy="365760"/>
          </a:xfrm>
          <a:prstGeom prst="rect">
            <a:avLst/>
          </a:prstGeom>
          <a:noFill/>
          <a:ln/>
        </p:spPr>
        <p:txBody>
          <a:bodyPr wrap="square" lIns="0" tIns="0" rIns="0" bIns="0" rtlCol="0" anchor="ctr"/>
          <a:lstStyle/>
          <a:p>
            <a:pPr marL="0" indent="0">
              <a:buNone/>
            </a:pPr>
            <a:r>
              <a:rPr lang="en-US" sz="1600" b="1" kern="0" spc="300" dirty="0">
                <a:solidFill>
                  <a:srgbClr val="06B6D4"/>
                </a:solidFill>
                <a:latin typeface="Calibri" pitchFamily="34" charset="0"/>
                <a:ea typeface="Calibri" pitchFamily="34" charset="-122"/>
                <a:cs typeface="Calibri" pitchFamily="34" charset="-120"/>
              </a:rPr>
              <a:t>MITIGATIONS</a:t>
            </a:r>
            <a:endParaRPr lang="en-US" sz="1600" dirty="0"/>
          </a:p>
        </p:txBody>
      </p:sp>
      <p:sp>
        <p:nvSpPr>
          <p:cNvPr id="18" name="Text 14"/>
          <p:cNvSpPr/>
          <p:nvPr/>
        </p:nvSpPr>
        <p:spPr>
          <a:xfrm>
            <a:off x="667512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Distinct identity per agent, no shared service accounts</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Fine-grained RBAC (role based) and ABAC (attribute based) at every tool call boundary</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Policy-as-code — OPA, Cedar, or equivalent</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Immutable, signed audit trails of agent actions</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Explainability requirements for high-stakes decisions</a:t>
            </a:r>
            <a:endParaRPr lang="en-US" sz="1400" dirty="0"/>
          </a:p>
        </p:txBody>
      </p:sp>
      <p:sp>
        <p:nvSpPr>
          <p:cNvPr id="19" name="Shape 15">
            <a:extLst>
              <a:ext uri="{C183D7F6-B498-43B3-948B-1728B52AA6E4}">
                <adec:decorative xmlns:adec="http://schemas.microsoft.com/office/drawing/2017/decorative" val="1"/>
              </a:ext>
            </a:extLst>
          </p:cNvPr>
          <p:cNvSpPr/>
          <p:nvPr/>
        </p:nvSpPr>
        <p:spPr>
          <a:xfrm>
            <a:off x="640080" y="5989320"/>
            <a:ext cx="10972800" cy="411480"/>
          </a:xfrm>
          <a:prstGeom prst="rect">
            <a:avLst/>
          </a:prstGeom>
          <a:solidFill>
            <a:srgbClr val="0A1628"/>
          </a:solidFill>
          <a:ln/>
        </p:spPr>
        <p:txBody>
          <a:bodyPr/>
          <a:lstStyle/>
          <a:p>
            <a:endParaRPr lang="en-US"/>
          </a:p>
        </p:txBody>
      </p:sp>
      <p:sp>
        <p:nvSpPr>
          <p:cNvPr id="20" name="Text 16"/>
          <p:cNvSpPr/>
          <p:nvPr/>
        </p:nvSpPr>
        <p:spPr>
          <a:xfrm>
            <a:off x="777240" y="5989320"/>
            <a:ext cx="10698480" cy="411480"/>
          </a:xfrm>
          <a:prstGeom prst="rect">
            <a:avLst/>
          </a:prstGeom>
          <a:noFill/>
          <a:ln/>
        </p:spPr>
        <p:txBody>
          <a:bodyPr wrap="square" lIns="0" tIns="0" rIns="0" bIns="0" rtlCol="0" anchor="ctr"/>
          <a:lstStyle/>
          <a:p>
            <a:pPr marL="0" indent="0" algn="ctr">
              <a:buNone/>
            </a:pPr>
            <a:r>
              <a:rPr lang="en-US" i="1" dirty="0">
                <a:solidFill>
                  <a:srgbClr val="F0B429"/>
                </a:solidFill>
                <a:latin typeface="Calibri" pitchFamily="34" charset="0"/>
                <a:ea typeface="Calibri" pitchFamily="34" charset="-122"/>
                <a:cs typeface="Calibri" pitchFamily="34" charset="-120"/>
              </a:rPr>
              <a:t>If your audit trail’s explanation is “well, the model decided,” your GRC team is going to be very sad.</a:t>
            </a:r>
            <a:endParaRPr lang="en-US" dirty="0"/>
          </a:p>
        </p:txBody>
      </p:sp>
      <p:sp>
        <p:nvSpPr>
          <p:cNvPr id="22" name="Text 18"/>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3" name="TextBox 22"/>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22 / 43</a:t>
            </a:r>
          </a:p>
        </p:txBody>
      </p:sp>
    </p:spTree>
  </p:cSld>
  <p:clrMapOvr>
    <a:masterClrMapping/>
  </p:clrMapOvr>
  <mc:AlternateContent xmlns:mc="http://schemas.openxmlformats.org/markup-compatibility/2006">
    <mc:Choice xmlns:p14="http://schemas.microsoft.com/office/powerpoint/2010/main" Requires="p14">
      <p:transition spd="slow" p14:dur="2000" advTm="67660"/>
    </mc:Choice>
    <mc:Fallback>
      <p:transition spd="slow" advTm="6766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4" name="Text 2"/>
          <p:cNvSpPr/>
          <p:nvPr/>
        </p:nvSpPr>
        <p:spPr>
          <a:xfrm>
            <a:off x="731520" y="742002"/>
            <a:ext cx="11155680" cy="640080"/>
          </a:xfrm>
          <a:prstGeom prst="rect">
            <a:avLst/>
          </a:prstGeom>
          <a:noFill/>
          <a:ln/>
        </p:spPr>
        <p:txBody>
          <a:bodyPr wrap="square" lIns="0" tIns="0" rIns="0" bIns="0" rtlCol="0" anchor="ctr"/>
          <a:lstStyle/>
          <a:p>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 </a:t>
            </a:r>
          </a:p>
          <a:p>
            <a:r>
              <a:rPr lang="en-US" sz="3000" b="1" dirty="0">
                <a:solidFill>
                  <a:srgbClr val="1A1A2E"/>
                </a:solidFill>
                <a:latin typeface="Georgia" pitchFamily="34" charset="0"/>
                <a:ea typeface="Georgia" pitchFamily="34" charset="-122"/>
                <a:cs typeface="Georgia" pitchFamily="34" charset="-120"/>
              </a:rPr>
              <a:t>The Agent Has Your Privileges. </a:t>
            </a:r>
          </a:p>
          <a:p>
            <a:pPr marL="0" indent="0">
              <a:buNone/>
            </a:pPr>
            <a:r>
              <a:rPr lang="en-US" sz="3000" b="1" dirty="0">
                <a:solidFill>
                  <a:srgbClr val="1A1A2E"/>
                </a:solidFill>
                <a:latin typeface="Georgia" pitchFamily="34" charset="0"/>
                <a:ea typeface="Georgia" pitchFamily="34" charset="-122"/>
                <a:cs typeface="Georgia" pitchFamily="34" charset="-120"/>
              </a:rPr>
              <a:t>The Attacker Has Your Agent.</a:t>
            </a:r>
            <a:endParaRPr lang="en-US" sz="3000"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Text 5"/>
          <p:cNvSpPr/>
          <p:nvPr/>
        </p:nvSpPr>
        <p:spPr>
          <a:xfrm>
            <a:off x="731520" y="2103120"/>
            <a:ext cx="64008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WHAT MAESTRO FINDS</a:t>
            </a:r>
            <a:endParaRPr lang="en-US" sz="1100" dirty="0"/>
          </a:p>
        </p:txBody>
      </p:sp>
      <p:sp>
        <p:nvSpPr>
          <p:cNvPr id="9" name="Text 7"/>
          <p:cNvSpPr/>
          <p:nvPr/>
        </p:nvSpPr>
        <p:spPr>
          <a:xfrm>
            <a:off x="7680960" y="2103120"/>
            <a:ext cx="402336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THREAT CLASSES</a:t>
            </a:r>
            <a:endParaRPr lang="en-US" sz="1100" dirty="0"/>
          </a:p>
        </p:txBody>
      </p:sp>
      <p:pic>
        <p:nvPicPr>
          <p:cNvPr id="11" name="Image 0" descr="preencoded.png"/>
          <p:cNvPicPr>
            <a:picLocks noChangeAspect="1"/>
          </p:cNvPicPr>
          <p:nvPr/>
        </p:nvPicPr>
        <p:blipFill>
          <a:blip r:embed="rId3"/>
          <a:stretch>
            <a:fillRect/>
          </a:stretch>
        </p:blipFill>
        <p:spPr>
          <a:xfrm>
            <a:off x="7909560" y="2624328"/>
            <a:ext cx="365760" cy="365760"/>
          </a:xfrm>
          <a:prstGeom prst="rect">
            <a:avLst/>
          </a:prstGeom>
        </p:spPr>
      </p:pic>
      <p:sp>
        <p:nvSpPr>
          <p:cNvPr id="12" name="Text 9"/>
          <p:cNvSpPr/>
          <p:nvPr/>
        </p:nvSpPr>
        <p:spPr>
          <a:xfrm>
            <a:off x="8458200" y="2496312"/>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Privilege confusion</a:t>
            </a:r>
            <a:endParaRPr lang="en-US" sz="1300" dirty="0"/>
          </a:p>
        </p:txBody>
      </p:sp>
      <p:sp>
        <p:nvSpPr>
          <p:cNvPr id="13" name="Text 10"/>
          <p:cNvSpPr/>
          <p:nvPr/>
        </p:nvSpPr>
        <p:spPr>
          <a:xfrm>
            <a:off x="8458200" y="2807208"/>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Agent acts with user's authority, on attacker's intent.</a:t>
            </a:r>
            <a:endParaRPr lang="en-US" sz="1200" dirty="0"/>
          </a:p>
        </p:txBody>
      </p:sp>
      <p:pic>
        <p:nvPicPr>
          <p:cNvPr id="15" name="Image 1" descr="preencoded.png"/>
          <p:cNvPicPr>
            <a:picLocks noChangeAspect="1"/>
          </p:cNvPicPr>
          <p:nvPr/>
        </p:nvPicPr>
        <p:blipFill>
          <a:blip r:embed="rId4"/>
          <a:stretch>
            <a:fillRect/>
          </a:stretch>
        </p:blipFill>
        <p:spPr>
          <a:xfrm>
            <a:off x="7909560" y="3529584"/>
            <a:ext cx="365760" cy="365760"/>
          </a:xfrm>
          <a:prstGeom prst="rect">
            <a:avLst/>
          </a:prstGeom>
        </p:spPr>
      </p:pic>
      <p:sp>
        <p:nvSpPr>
          <p:cNvPr id="16" name="Text 12"/>
          <p:cNvSpPr/>
          <p:nvPr/>
        </p:nvSpPr>
        <p:spPr>
          <a:xfrm>
            <a:off x="8458200" y="3401568"/>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No privilege separation</a:t>
            </a:r>
            <a:endParaRPr lang="en-US" sz="1300" dirty="0"/>
          </a:p>
        </p:txBody>
      </p:sp>
      <p:sp>
        <p:nvSpPr>
          <p:cNvPr id="17" name="Text 13"/>
          <p:cNvSpPr/>
          <p:nvPr/>
        </p:nvSpPr>
        <p:spPr>
          <a:xfrm>
            <a:off x="8458200" y="3712464"/>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Agent has no narrowed scope distinct from user.</a:t>
            </a:r>
            <a:endParaRPr lang="en-US" sz="1200" dirty="0"/>
          </a:p>
        </p:txBody>
      </p:sp>
      <p:pic>
        <p:nvPicPr>
          <p:cNvPr id="19" name="Image 2" descr="preencoded.png"/>
          <p:cNvPicPr>
            <a:picLocks noChangeAspect="1"/>
          </p:cNvPicPr>
          <p:nvPr/>
        </p:nvPicPr>
        <p:blipFill>
          <a:blip r:embed="rId5"/>
          <a:stretch>
            <a:fillRect/>
          </a:stretch>
        </p:blipFill>
        <p:spPr>
          <a:xfrm>
            <a:off x="7909560" y="4434840"/>
            <a:ext cx="365760" cy="365760"/>
          </a:xfrm>
          <a:prstGeom prst="rect">
            <a:avLst/>
          </a:prstGeom>
        </p:spPr>
      </p:pic>
      <p:sp>
        <p:nvSpPr>
          <p:cNvPr id="20" name="Text 15"/>
          <p:cNvSpPr/>
          <p:nvPr/>
        </p:nvSpPr>
        <p:spPr>
          <a:xfrm>
            <a:off x="8458200" y="4306824"/>
            <a:ext cx="3108960" cy="292608"/>
          </a:xfrm>
          <a:prstGeom prst="rect">
            <a:avLst/>
          </a:prstGeom>
          <a:noFill/>
          <a:ln/>
        </p:spPr>
        <p:txBody>
          <a:bodyPr wrap="square" lIns="0" tIns="0" rIns="0" bIns="0" rtlCol="0" anchor="t"/>
          <a:lstStyle/>
          <a:p>
            <a:r>
              <a:rPr lang="en-US" sz="1300" b="1" dirty="0">
                <a:solidFill>
                  <a:srgbClr val="1A1A2E"/>
                </a:solidFill>
                <a:latin typeface="Georgia" pitchFamily="34" charset="0"/>
                <a:ea typeface="Georgia" pitchFamily="34" charset="-122"/>
                <a:cs typeface="Georgia" pitchFamily="34" charset="-120"/>
              </a:rPr>
              <a:t>Bypassing Guardrails</a:t>
            </a:r>
            <a:endParaRPr lang="en-US" sz="1300" dirty="0"/>
          </a:p>
        </p:txBody>
      </p:sp>
      <p:sp>
        <p:nvSpPr>
          <p:cNvPr id="21" name="Text 16"/>
          <p:cNvSpPr/>
          <p:nvPr/>
        </p:nvSpPr>
        <p:spPr>
          <a:xfrm>
            <a:off x="8458200" y="4617720"/>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String-matching guardrails reliably bypassed.</a:t>
            </a:r>
            <a:endParaRPr lang="en-US" sz="1200" dirty="0"/>
          </a:p>
        </p:txBody>
      </p:sp>
      <p:pic>
        <p:nvPicPr>
          <p:cNvPr id="23" name="Image 3" descr="preencoded.png"/>
          <p:cNvPicPr>
            <a:picLocks noChangeAspect="1"/>
          </p:cNvPicPr>
          <p:nvPr/>
        </p:nvPicPr>
        <p:blipFill>
          <a:blip r:embed="rId6"/>
          <a:stretch>
            <a:fillRect/>
          </a:stretch>
        </p:blipFill>
        <p:spPr>
          <a:xfrm>
            <a:off x="7909560" y="5340096"/>
            <a:ext cx="365760" cy="365760"/>
          </a:xfrm>
          <a:prstGeom prst="rect">
            <a:avLst/>
          </a:prstGeom>
        </p:spPr>
      </p:pic>
      <p:sp>
        <p:nvSpPr>
          <p:cNvPr id="24" name="Text 18"/>
          <p:cNvSpPr/>
          <p:nvPr/>
        </p:nvSpPr>
        <p:spPr>
          <a:xfrm>
            <a:off x="8458200" y="5212080"/>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Sensitive Data exposure</a:t>
            </a:r>
            <a:endParaRPr lang="en-US" sz="1300" dirty="0"/>
          </a:p>
        </p:txBody>
      </p:sp>
      <p:sp>
        <p:nvSpPr>
          <p:cNvPr id="25" name="Text 19"/>
          <p:cNvSpPr/>
          <p:nvPr/>
        </p:nvSpPr>
        <p:spPr>
          <a:xfrm>
            <a:off x="8458200" y="5522976"/>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Leaked data may include PII, PHI, financial records.</a:t>
            </a:r>
            <a:endParaRPr lang="en-US" sz="1200" dirty="0"/>
          </a:p>
        </p:txBody>
      </p:sp>
      <p:sp>
        <p:nvSpPr>
          <p:cNvPr id="26" name="Shape 20"/>
          <p:cNvSpPr/>
          <p:nvPr/>
        </p:nvSpPr>
        <p:spPr>
          <a:xfrm>
            <a:off x="731520" y="6172200"/>
            <a:ext cx="10698480" cy="457200"/>
          </a:xfrm>
          <a:prstGeom prst="rect">
            <a:avLst/>
          </a:prstGeom>
          <a:solidFill>
            <a:srgbClr val="1A1A2E"/>
          </a:solidFill>
          <a:ln w="12700">
            <a:solidFill>
              <a:srgbClr val="1A1A2E"/>
            </a:solidFill>
            <a:prstDash val="solid"/>
          </a:ln>
        </p:spPr>
        <p:txBody>
          <a:bodyPr/>
          <a:lstStyle/>
          <a:p>
            <a:endParaRPr lang="en-US"/>
          </a:p>
        </p:txBody>
      </p:sp>
      <p:sp>
        <p:nvSpPr>
          <p:cNvPr id="27" name="Text 21"/>
          <p:cNvSpPr/>
          <p:nvPr/>
        </p:nvSpPr>
        <p:spPr>
          <a:xfrm>
            <a:off x="914400" y="6172200"/>
            <a:ext cx="103327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lesson:  </a:t>
            </a:r>
            <a:r>
              <a:rPr lang="en-US" sz="1600" dirty="0">
                <a:solidFill>
                  <a:srgbClr val="FFFFFF"/>
                </a:solidFill>
                <a:latin typeface="Calibri" pitchFamily="34" charset="0"/>
                <a:ea typeface="Calibri" pitchFamily="34" charset="-122"/>
                <a:cs typeface="Calibri" pitchFamily="34" charset="-120"/>
              </a:rPr>
              <a:t>An agent that reads from untrusted inputs should never run with its operator's full privileges.</a:t>
            </a:r>
            <a:endParaRPr lang="en-US" sz="1600" dirty="0"/>
          </a:p>
        </p:txBody>
      </p:sp>
      <p:sp>
        <p:nvSpPr>
          <p:cNvPr id="29" name="Text 2">
            <a:extLst>
              <a:ext uri="{FF2B5EF4-FFF2-40B4-BE49-F238E27FC236}">
                <a16:creationId xmlns:a16="http://schemas.microsoft.com/office/drawing/2014/main" id="{FCC5F87E-AA52-86B2-5029-C8A3FADA6D02}"/>
              </a:ext>
            </a:extLst>
          </p:cNvPr>
          <p:cNvSpPr/>
          <p:nvPr/>
        </p:nvSpPr>
        <p:spPr>
          <a:xfrm>
            <a:off x="10012680" y="387393"/>
            <a:ext cx="1645920" cy="1280160"/>
          </a:xfrm>
          <a:prstGeom prst="rect">
            <a:avLst/>
          </a:prstGeom>
          <a:noFill/>
          <a:ln/>
        </p:spPr>
        <p:txBody>
          <a:bodyPr wrap="square" lIns="0" tIns="0" rIns="0" bIns="0" rtlCol="0" anchor="ctr"/>
          <a:lstStyle/>
          <a:p>
            <a:pPr marL="0" indent="0" algn="r">
              <a:buNone/>
            </a:pPr>
            <a:r>
              <a:rPr lang="en-US" sz="8000" b="1" dirty="0">
                <a:solidFill>
                  <a:srgbClr val="8B1A2B"/>
                </a:solidFill>
                <a:latin typeface="Georgia" pitchFamily="34" charset="0"/>
                <a:ea typeface="Georgia" pitchFamily="34" charset="-122"/>
                <a:cs typeface="Georgia" pitchFamily="34" charset="-120"/>
              </a:rPr>
              <a:t>L6</a:t>
            </a:r>
            <a:endParaRPr lang="en-US" sz="8000" dirty="0">
              <a:solidFill>
                <a:srgbClr val="8B1A2B"/>
              </a:solidFill>
            </a:endParaRPr>
          </a:p>
        </p:txBody>
      </p:sp>
      <p:sp>
        <p:nvSpPr>
          <p:cNvPr id="30" name="Text 1">
            <a:extLst>
              <a:ext uri="{FF2B5EF4-FFF2-40B4-BE49-F238E27FC236}">
                <a16:creationId xmlns:a16="http://schemas.microsoft.com/office/drawing/2014/main" id="{84527744-B86E-2A92-EF62-218565941129}"/>
              </a:ext>
            </a:extLst>
          </p:cNvPr>
          <p:cNvSpPr/>
          <p:nvPr/>
        </p:nvSpPr>
        <p:spPr>
          <a:xfrm>
            <a:off x="8888265" y="1517904"/>
            <a:ext cx="3114164" cy="274320"/>
          </a:xfrm>
          <a:prstGeom prst="rect">
            <a:avLst/>
          </a:prstGeom>
          <a:noFill/>
          <a:ln/>
        </p:spPr>
        <p:txBody>
          <a:bodyPr wrap="square" lIns="0" tIns="0" rIns="0" bIns="0" rtlCol="0" anchor="ctr"/>
          <a:lstStyle/>
          <a:p>
            <a:pPr marL="0" indent="0">
              <a:buNone/>
            </a:pPr>
            <a:r>
              <a:rPr lang="en-US" sz="1200" b="1" kern="0" spc="400" dirty="0">
                <a:solidFill>
                  <a:srgbClr val="8B1A2B"/>
                </a:solidFill>
                <a:latin typeface="Calibri" pitchFamily="34" charset="0"/>
                <a:ea typeface="Calibri" pitchFamily="34" charset="-122"/>
                <a:cs typeface="Calibri" pitchFamily="34" charset="-120"/>
              </a:rPr>
              <a:t>SECURITY &amp; COMPLIANCE</a:t>
            </a:r>
            <a:endParaRPr lang="en-US" sz="1200" dirty="0"/>
          </a:p>
        </p:txBody>
      </p:sp>
      <p:sp>
        <p:nvSpPr>
          <p:cNvPr id="31" name="TextBox 30"/>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23 / 43</a:t>
            </a:r>
          </a:p>
        </p:txBody>
      </p:sp>
      <p:sp>
        <p:nvSpPr>
          <p:cNvPr id="3" name="Shape 2">
            <a:extLst>
              <a:ext uri="{FF2B5EF4-FFF2-40B4-BE49-F238E27FC236}">
                <a16:creationId xmlns:a16="http://schemas.microsoft.com/office/drawing/2014/main" id="{67593325-FE9D-41ED-1268-E9D9EAFD4B2B}"/>
              </a:ext>
              <a:ext uri="{C183D7F6-B498-43B3-948B-1728B52AA6E4}">
                <adec:decorative xmlns:adec="http://schemas.microsoft.com/office/drawing/2017/decorative" val="1"/>
              </a:ext>
            </a:extLst>
          </p:cNvPr>
          <p:cNvSpPr/>
          <p:nvPr/>
        </p:nvSpPr>
        <p:spPr>
          <a:xfrm>
            <a:off x="822960" y="2423160"/>
            <a:ext cx="6675120" cy="1115567"/>
          </a:xfrm>
          <a:prstGeom prst="rect">
            <a:avLst/>
          </a:prstGeom>
          <a:solidFill>
            <a:srgbClr val="8B1A2B"/>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en-US" u="sng" dirty="0"/>
              <a:t>Priv Escalation</a:t>
            </a:r>
          </a:p>
          <a:p>
            <a:pPr>
              <a:spcAft>
                <a:spcPts val="400"/>
              </a:spcAft>
            </a:pPr>
            <a:r>
              <a:rPr lang="en-US" sz="1600" dirty="0">
                <a:solidFill>
                  <a:schemeClr val="bg1"/>
                </a:solidFill>
                <a:latin typeface="Calibri" pitchFamily="34" charset="0"/>
                <a:ea typeface="Calibri" pitchFamily="34" charset="-122"/>
                <a:cs typeface="Calibri" pitchFamily="34" charset="-120"/>
              </a:rPr>
              <a:t>Copilot inherits the user's full access privileges - every email, file, calendar, and chat the user can reach. </a:t>
            </a:r>
            <a:endParaRPr lang="en-US" dirty="0"/>
          </a:p>
        </p:txBody>
      </p:sp>
      <p:sp>
        <p:nvSpPr>
          <p:cNvPr id="5" name="Shape 2">
            <a:extLst>
              <a:ext uri="{FF2B5EF4-FFF2-40B4-BE49-F238E27FC236}">
                <a16:creationId xmlns:a16="http://schemas.microsoft.com/office/drawing/2014/main" id="{993D6134-6EAB-FE7C-0D85-84575A9BF3DA}"/>
              </a:ext>
              <a:ext uri="{C183D7F6-B498-43B3-948B-1728B52AA6E4}">
                <adec:decorative xmlns:adec="http://schemas.microsoft.com/office/drawing/2017/decorative" val="1"/>
              </a:ext>
            </a:extLst>
          </p:cNvPr>
          <p:cNvSpPr/>
          <p:nvPr/>
        </p:nvSpPr>
        <p:spPr>
          <a:xfrm>
            <a:off x="822960" y="3794759"/>
            <a:ext cx="6675120" cy="877824"/>
          </a:xfrm>
          <a:prstGeom prst="rect">
            <a:avLst/>
          </a:prstGeom>
          <a:solidFill>
            <a:srgbClr val="8B1A2B"/>
          </a:solidFill>
          <a:ln w="12700">
            <a:solidFill>
              <a:srgbClr val="E2E8F0"/>
            </a:solidFill>
            <a:prstDash val="solid"/>
          </a:ln>
        </p:spPr>
        <p:txBody>
          <a:bodyPr/>
          <a:lstStyle/>
          <a:p>
            <a:r>
              <a:rPr lang="en-US" u="sng" dirty="0">
                <a:solidFill>
                  <a:schemeClr val="bg1"/>
                </a:solidFill>
              </a:rPr>
              <a:t>Attack</a:t>
            </a:r>
          </a:p>
          <a:p>
            <a:pPr>
              <a:spcAft>
                <a:spcPts val="400"/>
              </a:spcAft>
            </a:pPr>
            <a:r>
              <a:rPr lang="en-US" sz="1600" dirty="0">
                <a:solidFill>
                  <a:schemeClr val="bg1"/>
                </a:solidFill>
                <a:latin typeface="Calibri" pitchFamily="34" charset="0"/>
                <a:ea typeface="Calibri" pitchFamily="34" charset="-122"/>
                <a:cs typeface="Calibri" pitchFamily="34" charset="-120"/>
              </a:rPr>
              <a:t>The agent processes attacker-controlled instructions.</a:t>
            </a:r>
            <a:endParaRPr lang="en-US" sz="1600" dirty="0">
              <a:solidFill>
                <a:schemeClr val="bg1"/>
              </a:solidFill>
            </a:endParaRPr>
          </a:p>
        </p:txBody>
      </p:sp>
      <p:sp>
        <p:nvSpPr>
          <p:cNvPr id="28" name="Shape 2">
            <a:extLst>
              <a:ext uri="{FF2B5EF4-FFF2-40B4-BE49-F238E27FC236}">
                <a16:creationId xmlns:a16="http://schemas.microsoft.com/office/drawing/2014/main" id="{AC0800C4-F4BA-2456-CA34-E3A55EAFABDC}"/>
              </a:ext>
              <a:ext uri="{C183D7F6-B498-43B3-948B-1728B52AA6E4}">
                <adec:decorative xmlns:adec="http://schemas.microsoft.com/office/drawing/2017/decorative" val="1"/>
              </a:ext>
            </a:extLst>
          </p:cNvPr>
          <p:cNvSpPr/>
          <p:nvPr/>
        </p:nvSpPr>
        <p:spPr>
          <a:xfrm>
            <a:off x="822960" y="4914900"/>
            <a:ext cx="6675120" cy="886967"/>
          </a:xfrm>
          <a:prstGeom prst="rect">
            <a:avLst/>
          </a:prstGeom>
          <a:solidFill>
            <a:srgbClr val="8B1A2B"/>
          </a:solidFill>
          <a:ln w="12700">
            <a:solidFill>
              <a:srgbClr val="E2E8F0"/>
            </a:solidFill>
            <a:prstDash val="solid"/>
          </a:ln>
        </p:spPr>
        <p:txBody>
          <a:bodyPr/>
          <a:lstStyle/>
          <a:p>
            <a:r>
              <a:rPr lang="en-US" u="sng" dirty="0">
                <a:solidFill>
                  <a:schemeClr val="bg1"/>
                </a:solidFill>
              </a:rPr>
              <a:t>Control Failure</a:t>
            </a:r>
          </a:p>
          <a:p>
            <a:r>
              <a:rPr lang="en-US" sz="1600" dirty="0">
                <a:solidFill>
                  <a:schemeClr val="bg1"/>
                </a:solidFill>
                <a:latin typeface="Calibri" pitchFamily="34" charset="0"/>
                <a:ea typeface="Calibri" pitchFamily="34" charset="-122"/>
                <a:cs typeface="Calibri" pitchFamily="34" charset="-120"/>
              </a:rPr>
              <a:t>Careful phrasing slipped past XPIA classifiers for prompt injection protection.</a:t>
            </a:r>
            <a:endParaRPr lang="en-US" sz="1600" dirty="0">
              <a:solidFill>
                <a:schemeClr val="bg1"/>
              </a:solidFill>
            </a:endParaRPr>
          </a:p>
          <a:p>
            <a:endParaRPr lang="en-US" u="sng"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75448"/>
    </mc:Choice>
    <mc:Fallback>
      <p:transition spd="slow" advTm="75448"/>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rtlCol="0" anchor="ctr"/>
          <a:lstStyle/>
          <a:p>
            <a:pPr marL="0" indent="0">
              <a:buNone/>
            </a:pPr>
            <a:r>
              <a:rPr lang="en-US" sz="1400" b="1" kern="0" spc="400" dirty="0">
                <a:solidFill>
                  <a:srgbClr val="06B6D4"/>
                </a:solidFill>
                <a:latin typeface="Calibri" pitchFamily="34" charset="0"/>
                <a:ea typeface="Calibri" pitchFamily="34" charset="-122"/>
                <a:cs typeface="Calibri" pitchFamily="34" charset="-120"/>
              </a:rPr>
              <a:t>LAYER 5</a:t>
            </a:r>
            <a:endParaRPr lang="en-US" sz="1400" dirty="0"/>
          </a:p>
        </p:txBody>
      </p:sp>
      <p:sp>
        <p:nvSpPr>
          <p:cNvPr id="3" name="Text 1"/>
          <p:cNvSpPr/>
          <p:nvPr/>
        </p:nvSpPr>
        <p:spPr>
          <a:xfrm>
            <a:off x="640080" y="777240"/>
            <a:ext cx="10058400" cy="822960"/>
          </a:xfrm>
          <a:prstGeom prst="rect">
            <a:avLst/>
          </a:prstGeom>
          <a:noFill/>
          <a:ln/>
        </p:spPr>
        <p:txBody>
          <a:bodyPr wrap="square" lIns="0" tIns="0" rIns="0" bIns="0" rtlCol="0" anchor="ctr"/>
          <a:lstStyle/>
          <a:p>
            <a:pPr marL="0" indent="0">
              <a:buNone/>
            </a:pPr>
            <a:r>
              <a:rPr lang="en-US" sz="3800" b="1" dirty="0">
                <a:solidFill>
                  <a:srgbClr val="1E293B"/>
                </a:solidFill>
                <a:latin typeface="Georgia" pitchFamily="34" charset="0"/>
                <a:ea typeface="Georgia" pitchFamily="34" charset="-122"/>
                <a:cs typeface="Georgia" pitchFamily="34" charset="-120"/>
              </a:rPr>
              <a:t>Evaluation &amp; Observability</a:t>
            </a:r>
            <a:endParaRPr lang="en-US" sz="3800" dirty="0"/>
          </a:p>
        </p:txBody>
      </p:sp>
      <p:sp>
        <p:nvSpPr>
          <p:cNvPr id="4" name="Text 2"/>
          <p:cNvSpPr/>
          <p:nvPr/>
        </p:nvSpPr>
        <p:spPr>
          <a:xfrm>
            <a:off x="10058400" y="502920"/>
            <a:ext cx="1645920" cy="1280160"/>
          </a:xfrm>
          <a:prstGeom prst="rect">
            <a:avLst/>
          </a:prstGeom>
          <a:noFill/>
          <a:ln/>
        </p:spPr>
        <p:txBody>
          <a:bodyPr wrap="square" lIns="0" tIns="0" rIns="0" bIns="0" rtlCol="0" anchor="ctr"/>
          <a:lstStyle/>
          <a:p>
            <a:pPr marL="0" indent="0" algn="r">
              <a:buNone/>
            </a:pPr>
            <a:r>
              <a:rPr lang="en-US" sz="8000" b="1" dirty="0">
                <a:solidFill>
                  <a:srgbClr val="06B6D4"/>
                </a:solidFill>
                <a:latin typeface="Georgia" pitchFamily="34" charset="0"/>
                <a:ea typeface="Georgia" pitchFamily="34" charset="-122"/>
                <a:cs typeface="Georgia" pitchFamily="34" charset="-120"/>
              </a:rPr>
              <a:t>L5</a:t>
            </a:r>
            <a:endParaRPr lang="en-US" sz="8000" dirty="0"/>
          </a:p>
        </p:txBody>
      </p:sp>
      <p:sp>
        <p:nvSpPr>
          <p:cNvPr id="5" name="Text 3"/>
          <p:cNvSpPr/>
          <p:nvPr/>
        </p:nvSpPr>
        <p:spPr>
          <a:xfrm>
            <a:off x="640080" y="1691640"/>
            <a:ext cx="10058400" cy="457200"/>
          </a:xfrm>
          <a:prstGeom prst="rect">
            <a:avLst/>
          </a:prstGeom>
          <a:noFill/>
          <a:ln/>
        </p:spPr>
        <p:txBody>
          <a:bodyPr wrap="square" lIns="0" tIns="0" rIns="0" bIns="0" rtlCol="0" anchor="ctr"/>
          <a:lstStyle/>
          <a:p>
            <a:pPr marL="0" indent="0">
              <a:buNone/>
            </a:pPr>
            <a:r>
              <a:rPr lang="en-US" i="1" dirty="0">
                <a:solidFill>
                  <a:srgbClr val="475569"/>
                </a:solidFill>
                <a:latin typeface="Calibri" pitchFamily="34" charset="0"/>
                <a:ea typeface="Calibri" pitchFamily="34" charset="-122"/>
                <a:cs typeface="Calibri" pitchFamily="34" charset="-120"/>
              </a:rPr>
              <a:t>How you know what your agent is doing. Logs, traces, metrics, eval harnesses, red-team regression. Massively under-invested.</a:t>
            </a:r>
            <a:endParaRPr lang="en-US" dirty="0"/>
          </a:p>
        </p:txBody>
      </p:sp>
      <p:sp>
        <p:nvSpPr>
          <p:cNvPr id="6" name="Shape 4">
            <a:extLst>
              <a:ext uri="{C183D7F6-B498-43B3-948B-1728B52AA6E4}">
                <adec:decorative xmlns:adec="http://schemas.microsoft.com/office/drawing/2017/decorative" val="1"/>
              </a:ext>
            </a:extLst>
          </p:cNvPr>
          <p:cNvSpPr/>
          <p:nvPr/>
        </p:nvSpPr>
        <p:spPr>
          <a:xfrm>
            <a:off x="640080" y="2194560"/>
            <a:ext cx="10972800" cy="457200"/>
          </a:xfrm>
          <a:prstGeom prst="rect">
            <a:avLst/>
          </a:prstGeom>
          <a:solidFill>
            <a:srgbClr val="F8FAFC"/>
          </a:solidFill>
          <a:ln/>
        </p:spPr>
        <p:txBody>
          <a:bodyPr/>
          <a:lstStyle/>
          <a:p>
            <a:endParaRPr lang="en-US" dirty="0"/>
          </a:p>
        </p:txBody>
      </p:sp>
      <p:sp>
        <p:nvSpPr>
          <p:cNvPr id="7" name="Text 5"/>
          <p:cNvSpPr/>
          <p:nvPr/>
        </p:nvSpPr>
        <p:spPr>
          <a:xfrm>
            <a:off x="777240" y="2194560"/>
            <a:ext cx="1371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Examples</a:t>
            </a:r>
            <a:r>
              <a:rPr lang="en-US" sz="1200" b="1" dirty="0">
                <a:solidFill>
                  <a:srgbClr val="1E293B"/>
                </a:solidFill>
                <a:latin typeface="Calibri" pitchFamily="34" charset="0"/>
                <a:ea typeface="Calibri" pitchFamily="34" charset="-122"/>
                <a:cs typeface="Calibri" pitchFamily="34" charset="-120"/>
              </a:rPr>
              <a:t>:  </a:t>
            </a:r>
            <a:endParaRPr lang="en-US" sz="1200" dirty="0"/>
          </a:p>
        </p:txBody>
      </p:sp>
      <p:sp>
        <p:nvSpPr>
          <p:cNvPr id="8" name="Text 6"/>
          <p:cNvSpPr/>
          <p:nvPr/>
        </p:nvSpPr>
        <p:spPr>
          <a:xfrm>
            <a:off x="1691640" y="2194560"/>
            <a:ext cx="9601200" cy="457200"/>
          </a:xfrm>
          <a:prstGeom prst="rect">
            <a:avLst/>
          </a:prstGeom>
          <a:noFill/>
          <a:ln/>
        </p:spPr>
        <p:txBody>
          <a:bodyPr wrap="square" lIns="0" tIns="0" rIns="0" bIns="0" rtlCol="0" anchor="ctr"/>
          <a:lstStyle/>
          <a:p>
            <a:pPr marL="0" indent="0">
              <a:buNone/>
            </a:pPr>
            <a:r>
              <a:rPr lang="en-US" sz="1400" dirty="0" err="1">
                <a:solidFill>
                  <a:srgbClr val="475569"/>
                </a:solidFill>
                <a:latin typeface="Consolas" pitchFamily="34" charset="0"/>
                <a:ea typeface="Consolas" pitchFamily="34" charset="-122"/>
                <a:cs typeface="Consolas" pitchFamily="34" charset="-120"/>
              </a:rPr>
              <a:t>OpenTelemetry</a:t>
            </a:r>
            <a:r>
              <a:rPr lang="en-US" sz="1400" dirty="0">
                <a:solidFill>
                  <a:srgbClr val="475569"/>
                </a:solidFill>
                <a:latin typeface="Consolas" pitchFamily="34" charset="0"/>
                <a:ea typeface="Consolas" pitchFamily="34" charset="-122"/>
                <a:cs typeface="Consolas" pitchFamily="34" charset="-120"/>
              </a:rPr>
              <a:t> - Datadog - Splunk - custom eval harnesses - SOC</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40080" y="2834640"/>
            <a:ext cx="5440680" cy="3017520"/>
          </a:xfrm>
          <a:prstGeom prst="rect">
            <a:avLst/>
          </a:prstGeom>
          <a:solidFill>
            <a:srgbClr val="F8FAFC"/>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640080" y="2834640"/>
            <a:ext cx="73152" cy="3017520"/>
          </a:xfrm>
          <a:prstGeom prst="rect">
            <a:avLst/>
          </a:prstGeom>
          <a:solidFill>
            <a:srgbClr val="F97066"/>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868680" y="3063240"/>
            <a:ext cx="365760" cy="365760"/>
          </a:xfrm>
          <a:prstGeom prst="rect">
            <a:avLst/>
          </a:prstGeom>
        </p:spPr>
      </p:pic>
      <p:sp>
        <p:nvSpPr>
          <p:cNvPr id="12" name="Text 9"/>
          <p:cNvSpPr/>
          <p:nvPr/>
        </p:nvSpPr>
        <p:spPr>
          <a:xfrm>
            <a:off x="1325880" y="3063240"/>
            <a:ext cx="3657600" cy="365760"/>
          </a:xfrm>
          <a:prstGeom prst="rect">
            <a:avLst/>
          </a:prstGeom>
          <a:noFill/>
          <a:ln/>
        </p:spPr>
        <p:txBody>
          <a:bodyPr wrap="square" lIns="0" tIns="0" rIns="0" bIns="0" rtlCol="0" anchor="ctr"/>
          <a:lstStyle/>
          <a:p>
            <a:pPr marL="0" indent="0">
              <a:buNone/>
            </a:pPr>
            <a:r>
              <a:rPr lang="en-US" sz="1600" b="1" kern="0" spc="300" dirty="0">
                <a:solidFill>
                  <a:srgbClr val="F97066"/>
                </a:solidFill>
                <a:latin typeface="Calibri" pitchFamily="34" charset="0"/>
                <a:ea typeface="Calibri" pitchFamily="34" charset="-122"/>
                <a:cs typeface="Calibri" pitchFamily="34" charset="-120"/>
              </a:rPr>
              <a:t>THREATS</a:t>
            </a:r>
            <a:endParaRPr lang="en-US" sz="1600" dirty="0"/>
          </a:p>
        </p:txBody>
      </p:sp>
      <p:sp>
        <p:nvSpPr>
          <p:cNvPr id="13" name="Text 10"/>
          <p:cNvSpPr/>
          <p:nvPr/>
        </p:nvSpPr>
        <p:spPr>
          <a:xfrm>
            <a:off x="86868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Manipulation of evaluation metrics — gaming the benchmarks</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Compromised observability tools — logs and dashboards lying</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Evasion of detection — agent learns alert thresholds, stays under them</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Data leakage through observability — full prompts in logs = GDPR risk</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Poisoning observability data — flooding signals to mask real behavior</a:t>
            </a:r>
            <a:endParaRPr lang="en-US" sz="1400" b="1" dirty="0"/>
          </a:p>
        </p:txBody>
      </p:sp>
      <p:sp>
        <p:nvSpPr>
          <p:cNvPr id="14" name="Shape 11">
            <a:extLst>
              <a:ext uri="{C183D7F6-B498-43B3-948B-1728B52AA6E4}">
                <adec:decorative xmlns:adec="http://schemas.microsoft.com/office/drawing/2017/decorative" val="1"/>
              </a:ext>
            </a:extLst>
          </p:cNvPr>
          <p:cNvSpPr/>
          <p:nvPr/>
        </p:nvSpPr>
        <p:spPr>
          <a:xfrm>
            <a:off x="6446520" y="2834640"/>
            <a:ext cx="5440680" cy="3017520"/>
          </a:xfrm>
          <a:prstGeom prst="rect">
            <a:avLst/>
          </a:prstGeom>
          <a:solidFill>
            <a:srgbClr val="F8FAFC"/>
          </a:solidFill>
          <a:ln/>
        </p:spPr>
        <p:txBody>
          <a:bodyPr/>
          <a:lstStyle/>
          <a:p>
            <a:endParaRPr lang="en-US"/>
          </a:p>
        </p:txBody>
      </p:sp>
      <p:sp>
        <p:nvSpPr>
          <p:cNvPr id="15" name="Shape 12">
            <a:extLst>
              <a:ext uri="{C183D7F6-B498-43B3-948B-1728B52AA6E4}">
                <adec:decorative xmlns:adec="http://schemas.microsoft.com/office/drawing/2017/decorative" val="1"/>
              </a:ext>
            </a:extLst>
          </p:cNvPr>
          <p:cNvSpPr/>
          <p:nvPr/>
        </p:nvSpPr>
        <p:spPr>
          <a:xfrm>
            <a:off x="6446520" y="2834640"/>
            <a:ext cx="73152" cy="3017520"/>
          </a:xfrm>
          <a:prstGeom prst="rect">
            <a:avLst/>
          </a:prstGeom>
          <a:solidFill>
            <a:srgbClr val="06B6D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675120" y="3063240"/>
            <a:ext cx="365760" cy="365760"/>
          </a:xfrm>
          <a:prstGeom prst="rect">
            <a:avLst/>
          </a:prstGeom>
        </p:spPr>
      </p:pic>
      <p:sp>
        <p:nvSpPr>
          <p:cNvPr id="17" name="Text 13"/>
          <p:cNvSpPr/>
          <p:nvPr/>
        </p:nvSpPr>
        <p:spPr>
          <a:xfrm>
            <a:off x="7132320" y="3063240"/>
            <a:ext cx="3657600" cy="365760"/>
          </a:xfrm>
          <a:prstGeom prst="rect">
            <a:avLst/>
          </a:prstGeom>
          <a:noFill/>
          <a:ln/>
        </p:spPr>
        <p:txBody>
          <a:bodyPr wrap="square" lIns="0" tIns="0" rIns="0" bIns="0" rtlCol="0" anchor="ctr"/>
          <a:lstStyle/>
          <a:p>
            <a:pPr marL="0" indent="0">
              <a:buNone/>
            </a:pPr>
            <a:r>
              <a:rPr lang="en-US" sz="1600" b="1" kern="0" spc="300" dirty="0">
                <a:solidFill>
                  <a:srgbClr val="06B6D4"/>
                </a:solidFill>
                <a:latin typeface="Calibri" pitchFamily="34" charset="0"/>
                <a:ea typeface="Calibri" pitchFamily="34" charset="-122"/>
                <a:cs typeface="Calibri" pitchFamily="34" charset="-120"/>
              </a:rPr>
              <a:t>MITIGATIONS</a:t>
            </a:r>
            <a:endParaRPr lang="en-US" sz="1600" dirty="0"/>
          </a:p>
        </p:txBody>
      </p:sp>
      <p:sp>
        <p:nvSpPr>
          <p:cNvPr id="18" name="Text 14"/>
          <p:cNvSpPr/>
          <p:nvPr/>
        </p:nvSpPr>
        <p:spPr>
          <a:xfrm>
            <a:off x="667512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Tamper-evident, append-only logging</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Separation of duties: who runs the agent ≠ who monitors it</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Redaction in logs for sensitive fields</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Behavioral anomaly detection on the agent itself, not thresholds</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Continuous red-team regression tests in CI</a:t>
            </a:r>
            <a:endParaRPr lang="en-US" sz="1400" dirty="0"/>
          </a:p>
        </p:txBody>
      </p:sp>
      <p:sp>
        <p:nvSpPr>
          <p:cNvPr id="19" name="Shape 15">
            <a:extLst>
              <a:ext uri="{C183D7F6-B498-43B3-948B-1728B52AA6E4}">
                <adec:decorative xmlns:adec="http://schemas.microsoft.com/office/drawing/2017/decorative" val="1"/>
              </a:ext>
            </a:extLst>
          </p:cNvPr>
          <p:cNvSpPr/>
          <p:nvPr/>
        </p:nvSpPr>
        <p:spPr>
          <a:xfrm>
            <a:off x="640080" y="5989320"/>
            <a:ext cx="10972800" cy="411480"/>
          </a:xfrm>
          <a:prstGeom prst="rect">
            <a:avLst/>
          </a:prstGeom>
          <a:solidFill>
            <a:srgbClr val="0A1628"/>
          </a:solidFill>
          <a:ln/>
        </p:spPr>
        <p:txBody>
          <a:bodyPr/>
          <a:lstStyle/>
          <a:p>
            <a:endParaRPr lang="en-US"/>
          </a:p>
        </p:txBody>
      </p:sp>
      <p:sp>
        <p:nvSpPr>
          <p:cNvPr id="20" name="Text 16"/>
          <p:cNvSpPr/>
          <p:nvPr/>
        </p:nvSpPr>
        <p:spPr>
          <a:xfrm>
            <a:off x="777240" y="5989320"/>
            <a:ext cx="10698480" cy="411480"/>
          </a:xfrm>
          <a:prstGeom prst="rect">
            <a:avLst/>
          </a:prstGeom>
          <a:noFill/>
          <a:ln/>
        </p:spPr>
        <p:txBody>
          <a:bodyPr wrap="square" lIns="0" tIns="0" rIns="0" bIns="0" rtlCol="0" anchor="ctr"/>
          <a:lstStyle/>
          <a:p>
            <a:pPr marL="0" indent="0" algn="ctr">
              <a:buNone/>
            </a:pPr>
            <a:r>
              <a:rPr lang="en-US" i="1" dirty="0">
                <a:solidFill>
                  <a:srgbClr val="F0B429"/>
                </a:solidFill>
                <a:latin typeface="Calibri" pitchFamily="34" charset="0"/>
                <a:ea typeface="Calibri" pitchFamily="34" charset="-122"/>
                <a:cs typeface="Calibri" pitchFamily="34" charset="-120"/>
              </a:rPr>
              <a:t>If you can’t tell me what your agent did yesterday at 3:14pm, you don’t have observability — you have hope.</a:t>
            </a:r>
            <a:endParaRPr lang="en-US" dirty="0"/>
          </a:p>
        </p:txBody>
      </p:sp>
      <p:sp>
        <p:nvSpPr>
          <p:cNvPr id="22" name="Text 18"/>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3" name="TextBox 22"/>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24 / 43</a:t>
            </a:r>
          </a:p>
        </p:txBody>
      </p:sp>
    </p:spTree>
  </p:cSld>
  <p:clrMapOvr>
    <a:masterClrMapping/>
  </p:clrMapOvr>
  <mc:AlternateContent xmlns:mc="http://schemas.openxmlformats.org/markup-compatibility/2006">
    <mc:Choice xmlns:p14="http://schemas.microsoft.com/office/powerpoint/2010/main" Requires="p14">
      <p:transition spd="slow" p14:dur="2000" advTm="72319"/>
    </mc:Choice>
    <mc:Fallback>
      <p:transition spd="slow" advTm="72319"/>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3" name="Text 1"/>
          <p:cNvSpPr/>
          <p:nvPr/>
        </p:nvSpPr>
        <p:spPr>
          <a:xfrm>
            <a:off x="8458200" y="1440180"/>
            <a:ext cx="3595153" cy="274320"/>
          </a:xfrm>
          <a:prstGeom prst="rect">
            <a:avLst/>
          </a:prstGeom>
          <a:noFill/>
          <a:ln/>
        </p:spPr>
        <p:txBody>
          <a:bodyPr wrap="square" lIns="0" tIns="0" rIns="0" bIns="0" rtlCol="0" anchor="ctr"/>
          <a:lstStyle/>
          <a:p>
            <a:pPr marL="0" indent="0">
              <a:buNone/>
            </a:pPr>
            <a:r>
              <a:rPr lang="en-US" sz="1200" b="1" kern="0" spc="400" dirty="0">
                <a:solidFill>
                  <a:srgbClr val="8B1A2B"/>
                </a:solidFill>
                <a:latin typeface="Calibri" pitchFamily="34" charset="0"/>
                <a:ea typeface="Calibri" pitchFamily="34" charset="-122"/>
                <a:cs typeface="Calibri" pitchFamily="34" charset="-120"/>
              </a:rPr>
              <a:t>EVALUATION &amp; OBSERVABILITY</a:t>
            </a:r>
            <a:endParaRPr lang="en-US" sz="1200" dirty="0"/>
          </a:p>
        </p:txBody>
      </p:sp>
      <p:sp>
        <p:nvSpPr>
          <p:cNvPr id="4" name="Text 2"/>
          <p:cNvSpPr/>
          <p:nvPr/>
        </p:nvSpPr>
        <p:spPr>
          <a:xfrm>
            <a:off x="731520" y="521208"/>
            <a:ext cx="11155680" cy="640080"/>
          </a:xfrm>
          <a:prstGeom prst="rect">
            <a:avLst/>
          </a:prstGeom>
          <a:noFill/>
          <a:ln/>
        </p:spPr>
        <p:txBody>
          <a:bodyPr wrap="square" lIns="0" tIns="0" rIns="0" bIns="0" rtlCol="0" anchor="ctr"/>
          <a:lstStyle/>
          <a:p>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a:t>
            </a:r>
          </a:p>
          <a:p>
            <a:pPr marL="0" indent="0">
              <a:buNone/>
            </a:pPr>
            <a:r>
              <a:rPr lang="en-US" sz="3000" b="1" dirty="0">
                <a:solidFill>
                  <a:srgbClr val="1A1A2E"/>
                </a:solidFill>
                <a:latin typeface="Georgia" pitchFamily="34" charset="0"/>
                <a:ea typeface="Georgia" pitchFamily="34" charset="-122"/>
                <a:cs typeface="Georgia" pitchFamily="34" charset="-120"/>
              </a:rPr>
              <a:t>The Attack That Generated No Logs</a:t>
            </a:r>
            <a:endParaRPr lang="en-US" sz="3000" dirty="0"/>
          </a:p>
        </p:txBody>
      </p:sp>
      <p:sp>
        <p:nvSpPr>
          <p:cNvPr id="5" name="Text 3"/>
          <p:cNvSpPr/>
          <p:nvPr/>
        </p:nvSpPr>
        <p:spPr>
          <a:xfrm>
            <a:off x="731520" y="1325880"/>
            <a:ext cx="10698480" cy="502920"/>
          </a:xfrm>
          <a:prstGeom prst="rect">
            <a:avLst/>
          </a:prstGeom>
          <a:noFill/>
          <a:ln/>
        </p:spPr>
        <p:txBody>
          <a:bodyPr wrap="square" lIns="0" tIns="0" rIns="0" bIns="0" rtlCol="0" anchor="ctr"/>
          <a:lstStyle/>
          <a:p>
            <a:pPr marL="0" indent="0">
              <a:buNone/>
            </a:pPr>
            <a:r>
              <a:rPr lang="en-US" sz="1400" i="1" dirty="0">
                <a:solidFill>
                  <a:srgbClr val="5C5C6E"/>
                </a:solidFill>
                <a:latin typeface="Calibri" pitchFamily="34" charset="0"/>
                <a:ea typeface="Calibri" pitchFamily="34" charset="-122"/>
                <a:cs typeface="Calibri" pitchFamily="34" charset="-120"/>
              </a:rPr>
              <a:t>From a SIEM's perspective, the user simply asked Copilot a normal question.</a:t>
            </a:r>
            <a:endParaRPr lang="en-US" sz="1400"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Text 5"/>
          <p:cNvSpPr/>
          <p:nvPr/>
        </p:nvSpPr>
        <p:spPr>
          <a:xfrm>
            <a:off x="731520" y="2103120"/>
            <a:ext cx="64008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WHAT MAESTRO FINDS</a:t>
            </a:r>
            <a:endParaRPr lang="en-US" sz="1100" dirty="0"/>
          </a:p>
        </p:txBody>
      </p:sp>
      <p:sp>
        <p:nvSpPr>
          <p:cNvPr id="9" name="Text 7"/>
          <p:cNvSpPr/>
          <p:nvPr/>
        </p:nvSpPr>
        <p:spPr>
          <a:xfrm>
            <a:off x="7680960" y="2103120"/>
            <a:ext cx="402336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THREAT CLASSES</a:t>
            </a:r>
            <a:endParaRPr lang="en-US" sz="1100" dirty="0"/>
          </a:p>
        </p:txBody>
      </p:sp>
      <p:pic>
        <p:nvPicPr>
          <p:cNvPr id="11" name="Image 0" descr="preencoded.png"/>
          <p:cNvPicPr>
            <a:picLocks noChangeAspect="1"/>
          </p:cNvPicPr>
          <p:nvPr/>
        </p:nvPicPr>
        <p:blipFill>
          <a:blip r:embed="rId3"/>
          <a:stretch>
            <a:fillRect/>
          </a:stretch>
        </p:blipFill>
        <p:spPr>
          <a:xfrm>
            <a:off x="7909560" y="2624328"/>
            <a:ext cx="365760" cy="365760"/>
          </a:xfrm>
          <a:prstGeom prst="rect">
            <a:avLst/>
          </a:prstGeom>
        </p:spPr>
      </p:pic>
      <p:sp>
        <p:nvSpPr>
          <p:cNvPr id="12" name="Text 9"/>
          <p:cNvSpPr/>
          <p:nvPr/>
        </p:nvSpPr>
        <p:spPr>
          <a:xfrm>
            <a:off x="8458200" y="2496312"/>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No provenance logging</a:t>
            </a:r>
            <a:endParaRPr lang="en-US" sz="1300" dirty="0"/>
          </a:p>
        </p:txBody>
      </p:sp>
      <p:sp>
        <p:nvSpPr>
          <p:cNvPr id="13" name="Text 10"/>
          <p:cNvSpPr/>
          <p:nvPr/>
        </p:nvSpPr>
        <p:spPr>
          <a:xfrm>
            <a:off x="8458200" y="2807208"/>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Retrieved chunks logged without origin metadata.</a:t>
            </a:r>
            <a:endParaRPr lang="en-US" sz="1200" dirty="0"/>
          </a:p>
        </p:txBody>
      </p:sp>
      <p:pic>
        <p:nvPicPr>
          <p:cNvPr id="15" name="Image 1" descr="preencoded.png"/>
          <p:cNvPicPr>
            <a:picLocks noChangeAspect="1"/>
          </p:cNvPicPr>
          <p:nvPr/>
        </p:nvPicPr>
        <p:blipFill>
          <a:blip r:embed="rId4"/>
          <a:stretch>
            <a:fillRect/>
          </a:stretch>
        </p:blipFill>
        <p:spPr>
          <a:xfrm>
            <a:off x="7909560" y="3529584"/>
            <a:ext cx="365760" cy="365760"/>
          </a:xfrm>
          <a:prstGeom prst="rect">
            <a:avLst/>
          </a:prstGeom>
        </p:spPr>
      </p:pic>
      <p:sp>
        <p:nvSpPr>
          <p:cNvPr id="16" name="Text 12"/>
          <p:cNvSpPr/>
          <p:nvPr/>
        </p:nvSpPr>
        <p:spPr>
          <a:xfrm>
            <a:off x="8458200" y="3401568"/>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No outbound observability</a:t>
            </a:r>
            <a:endParaRPr lang="en-US" sz="1300" dirty="0"/>
          </a:p>
        </p:txBody>
      </p:sp>
      <p:sp>
        <p:nvSpPr>
          <p:cNvPr id="17" name="Text 13"/>
          <p:cNvSpPr/>
          <p:nvPr/>
        </p:nvSpPr>
        <p:spPr>
          <a:xfrm>
            <a:off x="8458200" y="3712464"/>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Agent-driven outbound URLs untracked.</a:t>
            </a:r>
            <a:endParaRPr lang="en-US" sz="1200" dirty="0"/>
          </a:p>
        </p:txBody>
      </p:sp>
      <p:pic>
        <p:nvPicPr>
          <p:cNvPr id="19" name="Image 2" descr="preencoded.png"/>
          <p:cNvPicPr>
            <a:picLocks noChangeAspect="1"/>
          </p:cNvPicPr>
          <p:nvPr/>
        </p:nvPicPr>
        <p:blipFill>
          <a:blip r:embed="rId5"/>
          <a:stretch>
            <a:fillRect/>
          </a:stretch>
        </p:blipFill>
        <p:spPr>
          <a:xfrm>
            <a:off x="7909560" y="4434840"/>
            <a:ext cx="365760" cy="365760"/>
          </a:xfrm>
          <a:prstGeom prst="rect">
            <a:avLst/>
          </a:prstGeom>
        </p:spPr>
      </p:pic>
      <p:sp>
        <p:nvSpPr>
          <p:cNvPr id="20" name="Text 15"/>
          <p:cNvSpPr/>
          <p:nvPr/>
        </p:nvSpPr>
        <p:spPr>
          <a:xfrm>
            <a:off x="8458200" y="4306824"/>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Missing sensitive data detection</a:t>
            </a:r>
            <a:endParaRPr lang="en-US" sz="1300" dirty="0"/>
          </a:p>
        </p:txBody>
      </p:sp>
      <p:sp>
        <p:nvSpPr>
          <p:cNvPr id="21" name="Text 16"/>
          <p:cNvSpPr/>
          <p:nvPr/>
        </p:nvSpPr>
        <p:spPr>
          <a:xfrm>
            <a:off x="8458200" y="4617720"/>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No record of when sensitive data entered a response.</a:t>
            </a:r>
            <a:endParaRPr lang="en-US" sz="1200" dirty="0"/>
          </a:p>
        </p:txBody>
      </p:sp>
      <p:pic>
        <p:nvPicPr>
          <p:cNvPr id="23" name="Image 3" descr="preencoded.png"/>
          <p:cNvPicPr>
            <a:picLocks noChangeAspect="1"/>
          </p:cNvPicPr>
          <p:nvPr/>
        </p:nvPicPr>
        <p:blipFill>
          <a:blip r:embed="rId6"/>
          <a:stretch>
            <a:fillRect/>
          </a:stretch>
        </p:blipFill>
        <p:spPr>
          <a:xfrm>
            <a:off x="7909560" y="5340096"/>
            <a:ext cx="365760" cy="365760"/>
          </a:xfrm>
          <a:prstGeom prst="rect">
            <a:avLst/>
          </a:prstGeom>
        </p:spPr>
      </p:pic>
      <p:sp>
        <p:nvSpPr>
          <p:cNvPr id="24" name="Text 18"/>
          <p:cNvSpPr/>
          <p:nvPr/>
        </p:nvSpPr>
        <p:spPr>
          <a:xfrm>
            <a:off x="8458200" y="5212080"/>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rPr>
              <a:t>Lack of Visibility</a:t>
            </a:r>
            <a:endParaRPr lang="en-US" sz="1300" dirty="0"/>
          </a:p>
        </p:txBody>
      </p:sp>
      <p:sp>
        <p:nvSpPr>
          <p:cNvPr id="25" name="Text 19"/>
          <p:cNvSpPr/>
          <p:nvPr/>
        </p:nvSpPr>
        <p:spPr>
          <a:xfrm>
            <a:off x="8458200" y="5522976"/>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Standard security tools never see the attack happen.</a:t>
            </a:r>
            <a:endParaRPr lang="en-US" sz="1200" dirty="0"/>
          </a:p>
        </p:txBody>
      </p:sp>
      <p:sp>
        <p:nvSpPr>
          <p:cNvPr id="26" name="Shape 20"/>
          <p:cNvSpPr/>
          <p:nvPr/>
        </p:nvSpPr>
        <p:spPr>
          <a:xfrm>
            <a:off x="731520" y="6172200"/>
            <a:ext cx="10698480" cy="457200"/>
          </a:xfrm>
          <a:prstGeom prst="rect">
            <a:avLst/>
          </a:prstGeom>
          <a:solidFill>
            <a:srgbClr val="1A1A2E"/>
          </a:solidFill>
          <a:ln w="12700">
            <a:solidFill>
              <a:srgbClr val="1A1A2E"/>
            </a:solidFill>
            <a:prstDash val="solid"/>
          </a:ln>
        </p:spPr>
        <p:txBody>
          <a:bodyPr/>
          <a:lstStyle/>
          <a:p>
            <a:endParaRPr lang="en-US"/>
          </a:p>
        </p:txBody>
      </p:sp>
      <p:sp>
        <p:nvSpPr>
          <p:cNvPr id="27" name="Text 21"/>
          <p:cNvSpPr/>
          <p:nvPr/>
        </p:nvSpPr>
        <p:spPr>
          <a:xfrm>
            <a:off x="914400" y="6172200"/>
            <a:ext cx="103327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lesson:  </a:t>
            </a:r>
            <a:r>
              <a:rPr lang="en-US" sz="1400" dirty="0">
                <a:solidFill>
                  <a:srgbClr val="FFFFFF"/>
                </a:solidFill>
                <a:latin typeface="Calibri" pitchFamily="34" charset="0"/>
                <a:ea typeface="Calibri" pitchFamily="34" charset="-122"/>
                <a:cs typeface="Calibri" pitchFamily="34" charset="-120"/>
              </a:rPr>
              <a:t>If your telemetry can't answer "what did the agent read, and where did it come from?" — you can't detect this class of attack.</a:t>
            </a:r>
            <a:endParaRPr lang="en-US" sz="1400" dirty="0"/>
          </a:p>
        </p:txBody>
      </p:sp>
      <p:sp>
        <p:nvSpPr>
          <p:cNvPr id="29" name="Text 2">
            <a:extLst>
              <a:ext uri="{FF2B5EF4-FFF2-40B4-BE49-F238E27FC236}">
                <a16:creationId xmlns:a16="http://schemas.microsoft.com/office/drawing/2014/main" id="{04752EB0-3D83-583F-D41B-022B34E5B13B}"/>
              </a:ext>
            </a:extLst>
          </p:cNvPr>
          <p:cNvSpPr/>
          <p:nvPr/>
        </p:nvSpPr>
        <p:spPr>
          <a:xfrm>
            <a:off x="10058400" y="261162"/>
            <a:ext cx="1645920" cy="1280160"/>
          </a:xfrm>
          <a:prstGeom prst="rect">
            <a:avLst/>
          </a:prstGeom>
          <a:noFill/>
          <a:ln/>
        </p:spPr>
        <p:txBody>
          <a:bodyPr wrap="square" lIns="0" tIns="0" rIns="0" bIns="0" rtlCol="0" anchor="ctr"/>
          <a:lstStyle/>
          <a:p>
            <a:pPr marL="0" indent="0" algn="r">
              <a:buNone/>
            </a:pPr>
            <a:r>
              <a:rPr lang="en-US" sz="8000" b="1" dirty="0">
                <a:solidFill>
                  <a:srgbClr val="8B1A2B"/>
                </a:solidFill>
                <a:latin typeface="Georgia" pitchFamily="34" charset="0"/>
                <a:ea typeface="Georgia" pitchFamily="34" charset="-122"/>
                <a:cs typeface="Georgia" pitchFamily="34" charset="-120"/>
              </a:rPr>
              <a:t>L5</a:t>
            </a:r>
            <a:endParaRPr lang="en-US" sz="8000" dirty="0">
              <a:solidFill>
                <a:srgbClr val="8B1A2B"/>
              </a:solidFill>
            </a:endParaRPr>
          </a:p>
        </p:txBody>
      </p:sp>
      <p:sp>
        <p:nvSpPr>
          <p:cNvPr id="30" name="TextBox 29"/>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25 / 43</a:t>
            </a:r>
          </a:p>
        </p:txBody>
      </p:sp>
      <p:sp>
        <p:nvSpPr>
          <p:cNvPr id="28" name="Shape 2">
            <a:extLst>
              <a:ext uri="{FF2B5EF4-FFF2-40B4-BE49-F238E27FC236}">
                <a16:creationId xmlns:a16="http://schemas.microsoft.com/office/drawing/2014/main" id="{57D85585-28C3-63D6-8FA5-C76779D271EC}"/>
              </a:ext>
              <a:ext uri="{C183D7F6-B498-43B3-948B-1728B52AA6E4}">
                <adec:decorative xmlns:adec="http://schemas.microsoft.com/office/drawing/2017/decorative" val="1"/>
              </a:ext>
            </a:extLst>
          </p:cNvPr>
          <p:cNvSpPr/>
          <p:nvPr/>
        </p:nvSpPr>
        <p:spPr>
          <a:xfrm>
            <a:off x="822960" y="2423160"/>
            <a:ext cx="6675120" cy="1115567"/>
          </a:xfrm>
          <a:prstGeom prst="rect">
            <a:avLst/>
          </a:prstGeom>
          <a:solidFill>
            <a:srgbClr val="8B1A2B"/>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en-US" u="sng" dirty="0"/>
              <a:t>Silence</a:t>
            </a:r>
          </a:p>
          <a:p>
            <a:pPr>
              <a:spcAft>
                <a:spcPts val="400"/>
              </a:spcAft>
            </a:pPr>
            <a:r>
              <a:rPr lang="en-US" sz="1600" dirty="0">
                <a:solidFill>
                  <a:schemeClr val="bg1"/>
                </a:solidFill>
                <a:latin typeface="Calibri" pitchFamily="34" charset="0"/>
                <a:ea typeface="Calibri" pitchFamily="34" charset="-122"/>
                <a:cs typeface="Calibri" pitchFamily="34" charset="-120"/>
              </a:rPr>
              <a:t>The entire attack chain ran end-to-end with zero user action and almost no observable signal.</a:t>
            </a:r>
            <a:endParaRPr lang="en-US" sz="1600" dirty="0">
              <a:solidFill>
                <a:schemeClr val="bg1"/>
              </a:solidFill>
            </a:endParaRPr>
          </a:p>
        </p:txBody>
      </p:sp>
      <p:sp>
        <p:nvSpPr>
          <p:cNvPr id="31" name="Shape 2">
            <a:extLst>
              <a:ext uri="{FF2B5EF4-FFF2-40B4-BE49-F238E27FC236}">
                <a16:creationId xmlns:a16="http://schemas.microsoft.com/office/drawing/2014/main" id="{958A015F-5829-ABCE-7DFB-AA09356C2A0F}"/>
              </a:ext>
              <a:ext uri="{C183D7F6-B498-43B3-948B-1728B52AA6E4}">
                <adec:decorative xmlns:adec="http://schemas.microsoft.com/office/drawing/2017/decorative" val="1"/>
              </a:ext>
            </a:extLst>
          </p:cNvPr>
          <p:cNvSpPr/>
          <p:nvPr/>
        </p:nvSpPr>
        <p:spPr>
          <a:xfrm>
            <a:off x="822960" y="3794759"/>
            <a:ext cx="6675120" cy="877824"/>
          </a:xfrm>
          <a:prstGeom prst="rect">
            <a:avLst/>
          </a:prstGeom>
          <a:solidFill>
            <a:srgbClr val="8B1A2B"/>
          </a:solidFill>
          <a:ln w="12700">
            <a:solidFill>
              <a:srgbClr val="E2E8F0"/>
            </a:solidFill>
            <a:prstDash val="solid"/>
          </a:ln>
        </p:spPr>
        <p:txBody>
          <a:bodyPr/>
          <a:lstStyle/>
          <a:p>
            <a:r>
              <a:rPr lang="en-US" u="sng" dirty="0">
                <a:solidFill>
                  <a:schemeClr val="bg1"/>
                </a:solidFill>
              </a:rPr>
              <a:t>Attack</a:t>
            </a:r>
          </a:p>
          <a:p>
            <a:pPr>
              <a:spcAft>
                <a:spcPts val="400"/>
              </a:spcAft>
            </a:pPr>
            <a:r>
              <a:rPr lang="en-US" sz="1600" dirty="0">
                <a:solidFill>
                  <a:schemeClr val="bg1"/>
                </a:solidFill>
                <a:latin typeface="Calibri" pitchFamily="34" charset="0"/>
                <a:ea typeface="Calibri" pitchFamily="34" charset="-122"/>
                <a:cs typeface="Calibri" pitchFamily="34" charset="-120"/>
              </a:rPr>
              <a:t>No link clicked. No auth event. No unusual file open. No alert.</a:t>
            </a:r>
            <a:endParaRPr lang="en-US" sz="1600" dirty="0">
              <a:solidFill>
                <a:schemeClr val="bg1"/>
              </a:solidFill>
            </a:endParaRPr>
          </a:p>
        </p:txBody>
      </p:sp>
      <p:sp>
        <p:nvSpPr>
          <p:cNvPr id="32" name="Shape 2">
            <a:extLst>
              <a:ext uri="{FF2B5EF4-FFF2-40B4-BE49-F238E27FC236}">
                <a16:creationId xmlns:a16="http://schemas.microsoft.com/office/drawing/2014/main" id="{271C9B52-7601-60F3-4554-CD7A806BCDB3}"/>
              </a:ext>
              <a:ext uri="{C183D7F6-B498-43B3-948B-1728B52AA6E4}">
                <adec:decorative xmlns:adec="http://schemas.microsoft.com/office/drawing/2017/decorative" val="1"/>
              </a:ext>
            </a:extLst>
          </p:cNvPr>
          <p:cNvSpPr/>
          <p:nvPr/>
        </p:nvSpPr>
        <p:spPr>
          <a:xfrm>
            <a:off x="822960" y="4914900"/>
            <a:ext cx="6675120" cy="1037843"/>
          </a:xfrm>
          <a:prstGeom prst="rect">
            <a:avLst/>
          </a:prstGeom>
          <a:solidFill>
            <a:srgbClr val="8B1A2B"/>
          </a:solidFill>
          <a:ln w="12700">
            <a:solidFill>
              <a:srgbClr val="E2E8F0"/>
            </a:solidFill>
            <a:prstDash val="solid"/>
          </a:ln>
        </p:spPr>
        <p:txBody>
          <a:bodyPr/>
          <a:lstStyle/>
          <a:p>
            <a:r>
              <a:rPr lang="en-US" u="sng" dirty="0">
                <a:solidFill>
                  <a:schemeClr val="bg1"/>
                </a:solidFill>
              </a:rPr>
              <a:t>No Logs</a:t>
            </a:r>
          </a:p>
          <a:p>
            <a:pPr>
              <a:spcAft>
                <a:spcPts val="400"/>
              </a:spcAft>
            </a:pPr>
            <a:r>
              <a:rPr lang="en-US" sz="1600" dirty="0">
                <a:solidFill>
                  <a:schemeClr val="bg1"/>
                </a:solidFill>
                <a:latin typeface="Calibri" pitchFamily="34" charset="0"/>
                <a:ea typeface="Calibri" pitchFamily="34" charset="-122"/>
                <a:cs typeface="Calibri" pitchFamily="34" charset="-120"/>
              </a:rPr>
              <a:t>There was no log line anywhere that said "Copilot followed an instruction it read in an email," because the system never modeled retrieved content as having an author distinct from the user. </a:t>
            </a:r>
            <a:endParaRPr lang="en-US" sz="1600" dirty="0">
              <a:solidFill>
                <a:schemeClr val="bg1"/>
              </a:solidFill>
            </a:endParaRPr>
          </a:p>
          <a:p>
            <a:endParaRPr lang="en-US" u="sng"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82673"/>
    </mc:Choice>
    <mc:Fallback>
      <p:transition spd="slow" advTm="8267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rtlCol="0" anchor="ctr"/>
          <a:lstStyle/>
          <a:p>
            <a:pPr marL="0" indent="0">
              <a:buNone/>
            </a:pPr>
            <a:r>
              <a:rPr lang="en-US" sz="1400" b="1" kern="0" spc="400" dirty="0">
                <a:solidFill>
                  <a:srgbClr val="06B6D4"/>
                </a:solidFill>
                <a:latin typeface="Calibri" pitchFamily="34" charset="0"/>
                <a:ea typeface="Calibri" pitchFamily="34" charset="-122"/>
                <a:cs typeface="Calibri" pitchFamily="34" charset="-120"/>
              </a:rPr>
              <a:t>LAYER 4</a:t>
            </a:r>
            <a:endParaRPr lang="en-US" sz="1400" dirty="0"/>
          </a:p>
        </p:txBody>
      </p:sp>
      <p:sp>
        <p:nvSpPr>
          <p:cNvPr id="3" name="Text 1"/>
          <p:cNvSpPr/>
          <p:nvPr/>
        </p:nvSpPr>
        <p:spPr>
          <a:xfrm>
            <a:off x="640080" y="777240"/>
            <a:ext cx="10058400" cy="822960"/>
          </a:xfrm>
          <a:prstGeom prst="rect">
            <a:avLst/>
          </a:prstGeom>
          <a:noFill/>
          <a:ln/>
        </p:spPr>
        <p:txBody>
          <a:bodyPr wrap="square" lIns="0" tIns="0" rIns="0" bIns="0" rtlCol="0" anchor="ctr"/>
          <a:lstStyle/>
          <a:p>
            <a:pPr marL="0" indent="0">
              <a:buNone/>
            </a:pPr>
            <a:r>
              <a:rPr lang="en-US" sz="3800" b="1" dirty="0">
                <a:solidFill>
                  <a:srgbClr val="1E293B"/>
                </a:solidFill>
                <a:latin typeface="Georgia" pitchFamily="34" charset="0"/>
                <a:ea typeface="Georgia" pitchFamily="34" charset="-122"/>
                <a:cs typeface="Georgia" pitchFamily="34" charset="-120"/>
              </a:rPr>
              <a:t>Deployment &amp; Infrastructure</a:t>
            </a:r>
            <a:endParaRPr lang="en-US" sz="3800" dirty="0"/>
          </a:p>
        </p:txBody>
      </p:sp>
      <p:sp>
        <p:nvSpPr>
          <p:cNvPr id="4" name="Text 2"/>
          <p:cNvSpPr/>
          <p:nvPr/>
        </p:nvSpPr>
        <p:spPr>
          <a:xfrm>
            <a:off x="10058400" y="502920"/>
            <a:ext cx="1645920" cy="1280160"/>
          </a:xfrm>
          <a:prstGeom prst="rect">
            <a:avLst/>
          </a:prstGeom>
          <a:noFill/>
          <a:ln/>
        </p:spPr>
        <p:txBody>
          <a:bodyPr wrap="square" lIns="0" tIns="0" rIns="0" bIns="0" rtlCol="0" anchor="ctr"/>
          <a:lstStyle/>
          <a:p>
            <a:pPr marL="0" indent="0" algn="r">
              <a:buNone/>
            </a:pPr>
            <a:r>
              <a:rPr lang="en-US" sz="8000" b="1" dirty="0">
                <a:solidFill>
                  <a:srgbClr val="06B6D4"/>
                </a:solidFill>
                <a:latin typeface="Georgia" pitchFamily="34" charset="0"/>
                <a:ea typeface="Georgia" pitchFamily="34" charset="-122"/>
                <a:cs typeface="Georgia" pitchFamily="34" charset="-120"/>
              </a:rPr>
              <a:t>L4</a:t>
            </a:r>
            <a:endParaRPr lang="en-US" sz="8000" dirty="0"/>
          </a:p>
        </p:txBody>
      </p:sp>
      <p:sp>
        <p:nvSpPr>
          <p:cNvPr id="5" name="Text 3"/>
          <p:cNvSpPr/>
          <p:nvPr/>
        </p:nvSpPr>
        <p:spPr>
          <a:xfrm>
            <a:off x="640080" y="1691640"/>
            <a:ext cx="10058400" cy="457200"/>
          </a:xfrm>
          <a:prstGeom prst="rect">
            <a:avLst/>
          </a:prstGeom>
          <a:noFill/>
          <a:ln/>
        </p:spPr>
        <p:txBody>
          <a:bodyPr wrap="square" lIns="0" tIns="0" rIns="0" bIns="0" rtlCol="0" anchor="ctr"/>
          <a:lstStyle/>
          <a:p>
            <a:pPr marL="0" indent="0">
              <a:buNone/>
            </a:pPr>
            <a:r>
              <a:rPr lang="en-US" i="1" dirty="0">
                <a:solidFill>
                  <a:srgbClr val="475569"/>
                </a:solidFill>
                <a:latin typeface="Calibri" pitchFamily="34" charset="0"/>
                <a:ea typeface="Calibri" pitchFamily="34" charset="-122"/>
                <a:cs typeface="Calibri" pitchFamily="34" charset="-120"/>
              </a:rPr>
              <a:t>The boring layer. Containers, Kubernetes, network policies, cloud accounts. You mostly know this — but agents add new wrinkles.</a:t>
            </a:r>
            <a:endParaRPr lang="en-US" dirty="0"/>
          </a:p>
        </p:txBody>
      </p:sp>
      <p:sp>
        <p:nvSpPr>
          <p:cNvPr id="6" name="Shape 4">
            <a:extLst>
              <a:ext uri="{C183D7F6-B498-43B3-948B-1728B52AA6E4}">
                <adec:decorative xmlns:adec="http://schemas.microsoft.com/office/drawing/2017/decorative" val="1"/>
              </a:ext>
            </a:extLst>
          </p:cNvPr>
          <p:cNvSpPr/>
          <p:nvPr/>
        </p:nvSpPr>
        <p:spPr>
          <a:xfrm>
            <a:off x="640080" y="2194560"/>
            <a:ext cx="10972800" cy="457200"/>
          </a:xfrm>
          <a:prstGeom prst="rect">
            <a:avLst/>
          </a:prstGeom>
          <a:solidFill>
            <a:srgbClr val="F8FAFC"/>
          </a:solidFill>
          <a:ln/>
        </p:spPr>
        <p:txBody>
          <a:bodyPr/>
          <a:lstStyle/>
          <a:p>
            <a:endParaRPr lang="en-US"/>
          </a:p>
        </p:txBody>
      </p:sp>
      <p:sp>
        <p:nvSpPr>
          <p:cNvPr id="7" name="Text 5"/>
          <p:cNvSpPr/>
          <p:nvPr/>
        </p:nvSpPr>
        <p:spPr>
          <a:xfrm>
            <a:off x="777240" y="2194560"/>
            <a:ext cx="1371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Examples</a:t>
            </a:r>
            <a:r>
              <a:rPr lang="en-US" sz="1200" b="1" dirty="0">
                <a:solidFill>
                  <a:srgbClr val="1E293B"/>
                </a:solidFill>
                <a:latin typeface="Calibri" pitchFamily="34" charset="0"/>
                <a:ea typeface="Calibri" pitchFamily="34" charset="-122"/>
                <a:cs typeface="Calibri" pitchFamily="34" charset="-120"/>
              </a:rPr>
              <a:t>:  </a:t>
            </a:r>
            <a:endParaRPr lang="en-US" sz="1200" dirty="0"/>
          </a:p>
        </p:txBody>
      </p:sp>
      <p:sp>
        <p:nvSpPr>
          <p:cNvPr id="8" name="Text 6"/>
          <p:cNvSpPr/>
          <p:nvPr/>
        </p:nvSpPr>
        <p:spPr>
          <a:xfrm>
            <a:off x="1691640" y="2194560"/>
            <a:ext cx="9601200" cy="457200"/>
          </a:xfrm>
          <a:prstGeom prst="rect">
            <a:avLst/>
          </a:prstGeom>
          <a:noFill/>
          <a:ln/>
        </p:spPr>
        <p:txBody>
          <a:bodyPr wrap="square" lIns="0" tIns="0" rIns="0" bIns="0" rtlCol="0" anchor="ctr"/>
          <a:lstStyle/>
          <a:p>
            <a:pPr marL="0" indent="0">
              <a:buNone/>
            </a:pPr>
            <a:r>
              <a:rPr lang="en-US" sz="1400" dirty="0">
                <a:solidFill>
                  <a:srgbClr val="475569"/>
                </a:solidFill>
                <a:latin typeface="Consolas" pitchFamily="34" charset="0"/>
                <a:ea typeface="Consolas" pitchFamily="34" charset="-122"/>
                <a:cs typeface="Consolas" pitchFamily="34" charset="-120"/>
              </a:rPr>
              <a:t>Kubernetes - Docker - AWS/Azure/GCP - GitHub Actions - Service Accounts - API gateways</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40080" y="2834640"/>
            <a:ext cx="5440680" cy="3017520"/>
          </a:xfrm>
          <a:prstGeom prst="rect">
            <a:avLst/>
          </a:prstGeom>
          <a:solidFill>
            <a:srgbClr val="F8FAFC"/>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640080" y="2834640"/>
            <a:ext cx="73152" cy="3017520"/>
          </a:xfrm>
          <a:prstGeom prst="rect">
            <a:avLst/>
          </a:prstGeom>
          <a:solidFill>
            <a:srgbClr val="F97066"/>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868680" y="3063240"/>
            <a:ext cx="365760" cy="365760"/>
          </a:xfrm>
          <a:prstGeom prst="rect">
            <a:avLst/>
          </a:prstGeom>
        </p:spPr>
      </p:pic>
      <p:sp>
        <p:nvSpPr>
          <p:cNvPr id="12" name="Text 9"/>
          <p:cNvSpPr/>
          <p:nvPr/>
        </p:nvSpPr>
        <p:spPr>
          <a:xfrm>
            <a:off x="1325880" y="3063240"/>
            <a:ext cx="3657600" cy="365760"/>
          </a:xfrm>
          <a:prstGeom prst="rect">
            <a:avLst/>
          </a:prstGeom>
          <a:noFill/>
          <a:ln/>
        </p:spPr>
        <p:txBody>
          <a:bodyPr wrap="square" lIns="0" tIns="0" rIns="0" bIns="0" rtlCol="0" anchor="ctr"/>
          <a:lstStyle/>
          <a:p>
            <a:pPr marL="0" indent="0">
              <a:buNone/>
            </a:pPr>
            <a:r>
              <a:rPr lang="en-US" sz="1600" b="1" kern="0" spc="300" dirty="0">
                <a:solidFill>
                  <a:srgbClr val="F97066"/>
                </a:solidFill>
                <a:latin typeface="Calibri" pitchFamily="34" charset="0"/>
                <a:ea typeface="Calibri" pitchFamily="34" charset="-122"/>
                <a:cs typeface="Calibri" pitchFamily="34" charset="-120"/>
              </a:rPr>
              <a:t>THREATS</a:t>
            </a:r>
            <a:endParaRPr lang="en-US" sz="1600" dirty="0"/>
          </a:p>
        </p:txBody>
      </p:sp>
      <p:sp>
        <p:nvSpPr>
          <p:cNvPr id="13" name="Text 10"/>
          <p:cNvSpPr/>
          <p:nvPr/>
        </p:nvSpPr>
        <p:spPr>
          <a:xfrm>
            <a:off x="86868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Container escape — agent has more privileges than you realized</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Resource exhaustion — agent in a loop = runaway cloud bill</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CI/CD tampering — pipelines now ship models, not just code</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Lateral movement from the AI — agent creds become attacker creds</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Service account sprawl — privileged, shared, often hardcoded</a:t>
            </a:r>
            <a:endParaRPr lang="en-US" sz="1400" dirty="0"/>
          </a:p>
        </p:txBody>
      </p:sp>
      <p:sp>
        <p:nvSpPr>
          <p:cNvPr id="14" name="Shape 11">
            <a:extLst>
              <a:ext uri="{C183D7F6-B498-43B3-948B-1728B52AA6E4}">
                <adec:decorative xmlns:adec="http://schemas.microsoft.com/office/drawing/2017/decorative" val="1"/>
              </a:ext>
            </a:extLst>
          </p:cNvPr>
          <p:cNvSpPr/>
          <p:nvPr/>
        </p:nvSpPr>
        <p:spPr>
          <a:xfrm>
            <a:off x="6446520" y="2834640"/>
            <a:ext cx="5440680" cy="3017520"/>
          </a:xfrm>
          <a:prstGeom prst="rect">
            <a:avLst/>
          </a:prstGeom>
          <a:solidFill>
            <a:srgbClr val="F8FAFC"/>
          </a:solidFill>
          <a:ln/>
        </p:spPr>
        <p:txBody>
          <a:bodyPr/>
          <a:lstStyle/>
          <a:p>
            <a:endParaRPr lang="en-US"/>
          </a:p>
        </p:txBody>
      </p:sp>
      <p:sp>
        <p:nvSpPr>
          <p:cNvPr id="15" name="Shape 12">
            <a:extLst>
              <a:ext uri="{C183D7F6-B498-43B3-948B-1728B52AA6E4}">
                <adec:decorative xmlns:adec="http://schemas.microsoft.com/office/drawing/2017/decorative" val="1"/>
              </a:ext>
            </a:extLst>
          </p:cNvPr>
          <p:cNvSpPr/>
          <p:nvPr/>
        </p:nvSpPr>
        <p:spPr>
          <a:xfrm>
            <a:off x="6446520" y="2834640"/>
            <a:ext cx="73152" cy="3017520"/>
          </a:xfrm>
          <a:prstGeom prst="rect">
            <a:avLst/>
          </a:prstGeom>
          <a:solidFill>
            <a:srgbClr val="06B6D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675120" y="3063240"/>
            <a:ext cx="365760" cy="365760"/>
          </a:xfrm>
          <a:prstGeom prst="rect">
            <a:avLst/>
          </a:prstGeom>
        </p:spPr>
      </p:pic>
      <p:sp>
        <p:nvSpPr>
          <p:cNvPr id="17" name="Text 13"/>
          <p:cNvSpPr/>
          <p:nvPr/>
        </p:nvSpPr>
        <p:spPr>
          <a:xfrm>
            <a:off x="7132320" y="3063240"/>
            <a:ext cx="3657600" cy="365760"/>
          </a:xfrm>
          <a:prstGeom prst="rect">
            <a:avLst/>
          </a:prstGeom>
          <a:noFill/>
          <a:ln/>
        </p:spPr>
        <p:txBody>
          <a:bodyPr wrap="square" lIns="0" tIns="0" rIns="0" bIns="0" rtlCol="0" anchor="ctr"/>
          <a:lstStyle/>
          <a:p>
            <a:pPr marL="0" indent="0">
              <a:buNone/>
            </a:pPr>
            <a:r>
              <a:rPr lang="en-US" sz="1600" b="1" kern="0" spc="300" dirty="0">
                <a:solidFill>
                  <a:srgbClr val="06B6D4"/>
                </a:solidFill>
                <a:latin typeface="Calibri" pitchFamily="34" charset="0"/>
                <a:ea typeface="Calibri" pitchFamily="34" charset="-122"/>
                <a:cs typeface="Calibri" pitchFamily="34" charset="-120"/>
              </a:rPr>
              <a:t>MITIGATIONS</a:t>
            </a:r>
            <a:endParaRPr lang="en-US" sz="1600" dirty="0"/>
          </a:p>
        </p:txBody>
      </p:sp>
      <p:sp>
        <p:nvSpPr>
          <p:cNvPr id="18" name="Text 14"/>
          <p:cNvSpPr/>
          <p:nvPr/>
        </p:nvSpPr>
        <p:spPr>
          <a:xfrm>
            <a:off x="667512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Infrastructure-as-code scanning (KICS, Checkov, tfsec)</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Hardened container images, distro-less when possible</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Network segmentation between agents and sensitive systems</a:t>
            </a:r>
            <a:endParaRPr lang="en-US" sz="1400" b="1"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Least-privilege service account per agent (no shared creds)</a:t>
            </a:r>
            <a:endParaRPr lang="en-US" sz="1400" b="1"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Secret rotation, short-lived credentials, secret scanners</a:t>
            </a:r>
            <a:endParaRPr lang="en-US" sz="1400" b="1" dirty="0"/>
          </a:p>
        </p:txBody>
      </p:sp>
      <p:sp>
        <p:nvSpPr>
          <p:cNvPr id="19" name="Shape 15">
            <a:extLst>
              <a:ext uri="{C183D7F6-B498-43B3-948B-1728B52AA6E4}">
                <adec:decorative xmlns:adec="http://schemas.microsoft.com/office/drawing/2017/decorative" val="1"/>
              </a:ext>
            </a:extLst>
          </p:cNvPr>
          <p:cNvSpPr/>
          <p:nvPr/>
        </p:nvSpPr>
        <p:spPr>
          <a:xfrm>
            <a:off x="640080" y="5989320"/>
            <a:ext cx="10972800" cy="411480"/>
          </a:xfrm>
          <a:prstGeom prst="rect">
            <a:avLst/>
          </a:prstGeom>
          <a:solidFill>
            <a:srgbClr val="0A1628"/>
          </a:solidFill>
          <a:ln/>
        </p:spPr>
        <p:txBody>
          <a:bodyPr/>
          <a:lstStyle/>
          <a:p>
            <a:endParaRPr lang="en-US"/>
          </a:p>
        </p:txBody>
      </p:sp>
      <p:sp>
        <p:nvSpPr>
          <p:cNvPr id="20" name="Text 16"/>
          <p:cNvSpPr/>
          <p:nvPr/>
        </p:nvSpPr>
        <p:spPr>
          <a:xfrm>
            <a:off x="777240" y="5989320"/>
            <a:ext cx="10698480" cy="411480"/>
          </a:xfrm>
          <a:prstGeom prst="rect">
            <a:avLst/>
          </a:prstGeom>
          <a:noFill/>
          <a:ln/>
        </p:spPr>
        <p:txBody>
          <a:bodyPr wrap="square" lIns="0" tIns="0" rIns="0" bIns="0" rtlCol="0" anchor="ctr"/>
          <a:lstStyle/>
          <a:p>
            <a:pPr algn="ctr"/>
            <a:r>
              <a:rPr lang="en-US" i="1" dirty="0">
                <a:solidFill>
                  <a:srgbClr val="F0B429"/>
                </a:solidFill>
                <a:latin typeface="Calibri" pitchFamily="34" charset="0"/>
                <a:cs typeface="Calibri" pitchFamily="34" charset="-120"/>
              </a:rPr>
              <a:t>Your agent has the keys to prod — and it takes instructions from strangers on the internet.</a:t>
            </a:r>
          </a:p>
        </p:txBody>
      </p:sp>
      <p:sp>
        <p:nvSpPr>
          <p:cNvPr id="22" name="Text 18"/>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3" name="TextBox 22"/>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26 / 43</a:t>
            </a:r>
          </a:p>
        </p:txBody>
      </p:sp>
    </p:spTree>
  </p:cSld>
  <p:clrMapOvr>
    <a:masterClrMapping/>
  </p:clrMapOvr>
  <mc:AlternateContent xmlns:mc="http://schemas.openxmlformats.org/markup-compatibility/2006">
    <mc:Choice xmlns:p14="http://schemas.microsoft.com/office/powerpoint/2010/main" Requires="p14">
      <p:transition spd="slow" p14:dur="2000" advTm="62256"/>
    </mc:Choice>
    <mc:Fallback>
      <p:transition spd="slow" advTm="62256"/>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3" name="Text 1"/>
          <p:cNvSpPr/>
          <p:nvPr/>
        </p:nvSpPr>
        <p:spPr>
          <a:xfrm>
            <a:off x="8356724" y="1460364"/>
            <a:ext cx="3416734" cy="274320"/>
          </a:xfrm>
          <a:prstGeom prst="rect">
            <a:avLst/>
          </a:prstGeom>
          <a:noFill/>
          <a:ln/>
        </p:spPr>
        <p:txBody>
          <a:bodyPr wrap="square" lIns="0" tIns="0" rIns="0" bIns="0" rtlCol="0" anchor="ctr"/>
          <a:lstStyle/>
          <a:p>
            <a:pPr marL="0" indent="0">
              <a:buNone/>
            </a:pPr>
            <a:r>
              <a:rPr lang="en-US" sz="1200" b="1" kern="0" spc="400" dirty="0">
                <a:solidFill>
                  <a:srgbClr val="8B1A2B"/>
                </a:solidFill>
                <a:latin typeface="Calibri" pitchFamily="34" charset="0"/>
                <a:ea typeface="Calibri" pitchFamily="34" charset="-122"/>
                <a:cs typeface="Calibri" pitchFamily="34" charset="-120"/>
              </a:rPr>
              <a:t>DEPLOYMENT INFRASTRUCTURE</a:t>
            </a:r>
            <a:endParaRPr lang="en-US" sz="1200" dirty="0"/>
          </a:p>
        </p:txBody>
      </p:sp>
      <p:sp>
        <p:nvSpPr>
          <p:cNvPr id="4" name="Text 2"/>
          <p:cNvSpPr/>
          <p:nvPr/>
        </p:nvSpPr>
        <p:spPr>
          <a:xfrm>
            <a:off x="731520" y="401444"/>
            <a:ext cx="11155680" cy="878716"/>
          </a:xfrm>
          <a:prstGeom prst="rect">
            <a:avLst/>
          </a:prstGeom>
          <a:noFill/>
          <a:ln/>
        </p:spPr>
        <p:txBody>
          <a:bodyPr wrap="square" lIns="0" tIns="0" rIns="0" bIns="0" rtlCol="0" anchor="ctr"/>
          <a:lstStyle/>
          <a:p>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a:t>
            </a:r>
          </a:p>
          <a:p>
            <a:pPr marL="0" indent="0">
              <a:buNone/>
            </a:pPr>
            <a:r>
              <a:rPr lang="en-US" sz="3000" b="1" dirty="0">
                <a:solidFill>
                  <a:srgbClr val="1A1A2E"/>
                </a:solidFill>
                <a:latin typeface="Georgia" pitchFamily="34" charset="0"/>
                <a:ea typeface="Georgia" pitchFamily="34" charset="-122"/>
                <a:cs typeface="Georgia" pitchFamily="34" charset="-120"/>
              </a:rPr>
              <a:t>Trusted Domains Became the Getaway Car</a:t>
            </a:r>
            <a:endParaRPr lang="en-US" sz="3000" dirty="0"/>
          </a:p>
        </p:txBody>
      </p:sp>
      <p:sp>
        <p:nvSpPr>
          <p:cNvPr id="5" name="Text 3"/>
          <p:cNvSpPr/>
          <p:nvPr/>
        </p:nvSpPr>
        <p:spPr>
          <a:xfrm>
            <a:off x="731520" y="1325880"/>
            <a:ext cx="10698480" cy="502920"/>
          </a:xfrm>
          <a:prstGeom prst="rect">
            <a:avLst/>
          </a:prstGeom>
          <a:noFill/>
          <a:ln/>
        </p:spPr>
        <p:txBody>
          <a:bodyPr wrap="square" lIns="0" tIns="0" rIns="0" bIns="0" rtlCol="0" anchor="ctr"/>
          <a:lstStyle/>
          <a:p>
            <a:pPr marL="0" indent="0">
              <a:buNone/>
            </a:pPr>
            <a:r>
              <a:rPr lang="en-US" sz="1400" i="1" dirty="0">
                <a:solidFill>
                  <a:srgbClr val="5C5C6E"/>
                </a:solidFill>
                <a:latin typeface="Calibri" pitchFamily="34" charset="0"/>
                <a:ea typeface="Calibri" pitchFamily="34" charset="-122"/>
                <a:cs typeface="Calibri" pitchFamily="34" charset="-120"/>
              </a:rPr>
              <a:t>The browser’s CSP was supposed to stop exfiltration. Then the attacker used Microsoft's own domains.</a:t>
            </a:r>
            <a:endParaRPr lang="en-US" sz="1400"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Text 5"/>
          <p:cNvSpPr/>
          <p:nvPr/>
        </p:nvSpPr>
        <p:spPr>
          <a:xfrm>
            <a:off x="731520" y="2103120"/>
            <a:ext cx="64008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WHAT MAESTRO FINDS</a:t>
            </a:r>
            <a:endParaRPr lang="en-US" sz="1100" dirty="0"/>
          </a:p>
        </p:txBody>
      </p:sp>
      <p:sp>
        <p:nvSpPr>
          <p:cNvPr id="9" name="Text 7"/>
          <p:cNvSpPr/>
          <p:nvPr/>
        </p:nvSpPr>
        <p:spPr>
          <a:xfrm>
            <a:off x="7680960" y="2103120"/>
            <a:ext cx="402336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THREAT CLASSES</a:t>
            </a:r>
            <a:endParaRPr lang="en-US" sz="1100" dirty="0"/>
          </a:p>
        </p:txBody>
      </p:sp>
      <p:pic>
        <p:nvPicPr>
          <p:cNvPr id="11" name="Image 0" descr="preencoded.png"/>
          <p:cNvPicPr>
            <a:picLocks noChangeAspect="1"/>
          </p:cNvPicPr>
          <p:nvPr/>
        </p:nvPicPr>
        <p:blipFill>
          <a:blip r:embed="rId3"/>
          <a:stretch>
            <a:fillRect/>
          </a:stretch>
        </p:blipFill>
        <p:spPr>
          <a:xfrm>
            <a:off x="7909560" y="2624328"/>
            <a:ext cx="365760" cy="365760"/>
          </a:xfrm>
          <a:prstGeom prst="rect">
            <a:avLst/>
          </a:prstGeom>
        </p:spPr>
      </p:pic>
      <p:sp>
        <p:nvSpPr>
          <p:cNvPr id="12" name="Text 9"/>
          <p:cNvSpPr/>
          <p:nvPr/>
        </p:nvSpPr>
        <p:spPr>
          <a:xfrm>
            <a:off x="8458200" y="2496312"/>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Trusted-domain abuse</a:t>
            </a:r>
            <a:endParaRPr lang="en-US" sz="1300" dirty="0"/>
          </a:p>
        </p:txBody>
      </p:sp>
      <p:sp>
        <p:nvSpPr>
          <p:cNvPr id="13" name="Text 10"/>
          <p:cNvSpPr/>
          <p:nvPr/>
        </p:nvSpPr>
        <p:spPr>
          <a:xfrm>
            <a:off x="8458200" y="2807208"/>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Microsoft's own domains used as exfil relay.</a:t>
            </a:r>
            <a:endParaRPr lang="en-US" sz="1200" dirty="0"/>
          </a:p>
        </p:txBody>
      </p:sp>
      <p:pic>
        <p:nvPicPr>
          <p:cNvPr id="15" name="Image 1" descr="preencoded.png"/>
          <p:cNvPicPr>
            <a:picLocks noChangeAspect="1"/>
          </p:cNvPicPr>
          <p:nvPr/>
        </p:nvPicPr>
        <p:blipFill>
          <a:blip r:embed="rId4"/>
          <a:stretch>
            <a:fillRect/>
          </a:stretch>
        </p:blipFill>
        <p:spPr>
          <a:xfrm>
            <a:off x="7909560" y="3529584"/>
            <a:ext cx="365760" cy="365760"/>
          </a:xfrm>
          <a:prstGeom prst="rect">
            <a:avLst/>
          </a:prstGeom>
        </p:spPr>
      </p:pic>
      <p:sp>
        <p:nvSpPr>
          <p:cNvPr id="16" name="Text 12"/>
          <p:cNvSpPr/>
          <p:nvPr/>
        </p:nvSpPr>
        <p:spPr>
          <a:xfrm>
            <a:off x="8458200" y="3401568"/>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DLP bypassed</a:t>
            </a:r>
            <a:endParaRPr lang="en-US" sz="1300" dirty="0"/>
          </a:p>
        </p:txBody>
      </p:sp>
      <p:sp>
        <p:nvSpPr>
          <p:cNvPr id="17" name="Text 13"/>
          <p:cNvSpPr/>
          <p:nvPr/>
        </p:nvSpPr>
        <p:spPr>
          <a:xfrm>
            <a:off x="8458200" y="3712464"/>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Stolen data encoded in image URL query strings.</a:t>
            </a:r>
            <a:endParaRPr lang="en-US" sz="1200" dirty="0"/>
          </a:p>
        </p:txBody>
      </p:sp>
      <p:pic>
        <p:nvPicPr>
          <p:cNvPr id="19" name="Image 2" descr="preencoded.png"/>
          <p:cNvPicPr>
            <a:picLocks noChangeAspect="1"/>
          </p:cNvPicPr>
          <p:nvPr/>
        </p:nvPicPr>
        <p:blipFill>
          <a:blip r:embed="rId5"/>
          <a:stretch>
            <a:fillRect/>
          </a:stretch>
        </p:blipFill>
        <p:spPr>
          <a:xfrm>
            <a:off x="7909560" y="4434840"/>
            <a:ext cx="365760" cy="365760"/>
          </a:xfrm>
          <a:prstGeom prst="rect">
            <a:avLst/>
          </a:prstGeom>
        </p:spPr>
      </p:pic>
      <p:sp>
        <p:nvSpPr>
          <p:cNvPr id="20" name="Text 15"/>
          <p:cNvSpPr/>
          <p:nvPr/>
        </p:nvSpPr>
        <p:spPr>
          <a:xfrm>
            <a:off x="8458200" y="4306824"/>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CSP allowlist gap</a:t>
            </a:r>
            <a:endParaRPr lang="en-US" sz="1300" dirty="0"/>
          </a:p>
        </p:txBody>
      </p:sp>
      <p:sp>
        <p:nvSpPr>
          <p:cNvPr id="21" name="Text 16"/>
          <p:cNvSpPr/>
          <p:nvPr/>
        </p:nvSpPr>
        <p:spPr>
          <a:xfrm>
            <a:off x="8458200" y="4617720"/>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Legitimate egress channels carry stolen payloads.</a:t>
            </a:r>
            <a:endParaRPr lang="en-US" sz="1200" dirty="0"/>
          </a:p>
        </p:txBody>
      </p:sp>
      <p:pic>
        <p:nvPicPr>
          <p:cNvPr id="23" name="Image 3" descr="preencoded.png"/>
          <p:cNvPicPr>
            <a:picLocks noChangeAspect="1"/>
          </p:cNvPicPr>
          <p:nvPr/>
        </p:nvPicPr>
        <p:blipFill>
          <a:blip r:embed="rId6"/>
          <a:stretch>
            <a:fillRect/>
          </a:stretch>
        </p:blipFill>
        <p:spPr>
          <a:xfrm>
            <a:off x="7909560" y="5340096"/>
            <a:ext cx="365760" cy="365760"/>
          </a:xfrm>
          <a:prstGeom prst="rect">
            <a:avLst/>
          </a:prstGeom>
        </p:spPr>
      </p:pic>
      <p:sp>
        <p:nvSpPr>
          <p:cNvPr id="24" name="Text 18"/>
          <p:cNvSpPr/>
          <p:nvPr/>
        </p:nvSpPr>
        <p:spPr>
          <a:xfrm>
            <a:off x="8458200" y="5212080"/>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Defense relied on browser</a:t>
            </a:r>
            <a:endParaRPr lang="en-US" sz="1300" dirty="0"/>
          </a:p>
        </p:txBody>
      </p:sp>
      <p:sp>
        <p:nvSpPr>
          <p:cNvPr id="25" name="Text 19"/>
          <p:cNvSpPr/>
          <p:nvPr/>
        </p:nvSpPr>
        <p:spPr>
          <a:xfrm>
            <a:off x="8458200" y="5522976"/>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Client-side controls aren't a complete boundary.</a:t>
            </a:r>
            <a:endParaRPr lang="en-US" sz="1200" dirty="0"/>
          </a:p>
        </p:txBody>
      </p:sp>
      <p:sp>
        <p:nvSpPr>
          <p:cNvPr id="26" name="Shape 20"/>
          <p:cNvSpPr/>
          <p:nvPr/>
        </p:nvSpPr>
        <p:spPr>
          <a:xfrm>
            <a:off x="731520" y="6172200"/>
            <a:ext cx="10698480" cy="457200"/>
          </a:xfrm>
          <a:prstGeom prst="rect">
            <a:avLst/>
          </a:prstGeom>
          <a:solidFill>
            <a:srgbClr val="1A1A2E"/>
          </a:solidFill>
          <a:ln w="12700">
            <a:solidFill>
              <a:srgbClr val="1A1A2E"/>
            </a:solidFill>
            <a:prstDash val="solid"/>
          </a:ln>
        </p:spPr>
        <p:txBody>
          <a:bodyPr/>
          <a:lstStyle/>
          <a:p>
            <a:endParaRPr lang="en-US"/>
          </a:p>
        </p:txBody>
      </p:sp>
      <p:sp>
        <p:nvSpPr>
          <p:cNvPr id="27" name="Text 21"/>
          <p:cNvSpPr/>
          <p:nvPr/>
        </p:nvSpPr>
        <p:spPr>
          <a:xfrm>
            <a:off x="914400" y="6172200"/>
            <a:ext cx="1033272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lesson:  </a:t>
            </a:r>
            <a:r>
              <a:rPr lang="en-US" sz="1400" dirty="0">
                <a:solidFill>
                  <a:srgbClr val="FFFFFF"/>
                </a:solidFill>
                <a:latin typeface="Calibri" pitchFamily="34" charset="0"/>
                <a:ea typeface="Calibri" pitchFamily="34" charset="-122"/>
                <a:cs typeface="Calibri" pitchFamily="34" charset="-120"/>
              </a:rPr>
              <a:t>Allowlists protect against unknown destinations. They don't protect against your own infrastructure being abused as a courier.</a:t>
            </a:r>
            <a:endParaRPr lang="en-US" sz="1400" dirty="0"/>
          </a:p>
        </p:txBody>
      </p:sp>
      <p:sp>
        <p:nvSpPr>
          <p:cNvPr id="29" name="Text 2">
            <a:extLst>
              <a:ext uri="{FF2B5EF4-FFF2-40B4-BE49-F238E27FC236}">
                <a16:creationId xmlns:a16="http://schemas.microsoft.com/office/drawing/2014/main" id="{B778ED19-6774-F074-A3B9-D9D1A7317689}"/>
              </a:ext>
            </a:extLst>
          </p:cNvPr>
          <p:cNvSpPr/>
          <p:nvPr/>
        </p:nvSpPr>
        <p:spPr>
          <a:xfrm>
            <a:off x="10065091" y="187677"/>
            <a:ext cx="1645920" cy="1280160"/>
          </a:xfrm>
          <a:prstGeom prst="rect">
            <a:avLst/>
          </a:prstGeom>
          <a:noFill/>
          <a:ln/>
        </p:spPr>
        <p:txBody>
          <a:bodyPr wrap="square" lIns="0" tIns="0" rIns="0" bIns="0" rtlCol="0" anchor="ctr"/>
          <a:lstStyle/>
          <a:p>
            <a:pPr marL="0" indent="0" algn="r">
              <a:buNone/>
            </a:pPr>
            <a:r>
              <a:rPr lang="en-US" sz="8000" b="1" dirty="0">
                <a:solidFill>
                  <a:srgbClr val="8B1A2B"/>
                </a:solidFill>
                <a:latin typeface="Georgia" pitchFamily="34" charset="0"/>
                <a:ea typeface="Georgia" pitchFamily="34" charset="-122"/>
                <a:cs typeface="Georgia" pitchFamily="34" charset="-120"/>
              </a:rPr>
              <a:t>L4</a:t>
            </a:r>
            <a:endParaRPr lang="en-US" sz="8000" dirty="0">
              <a:solidFill>
                <a:srgbClr val="8B1A2B"/>
              </a:solidFill>
            </a:endParaRPr>
          </a:p>
        </p:txBody>
      </p:sp>
      <p:sp>
        <p:nvSpPr>
          <p:cNvPr id="30" name="TextBox 29"/>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27 / 43</a:t>
            </a:r>
          </a:p>
        </p:txBody>
      </p:sp>
      <p:sp>
        <p:nvSpPr>
          <p:cNvPr id="28" name="Shape 2">
            <a:extLst>
              <a:ext uri="{FF2B5EF4-FFF2-40B4-BE49-F238E27FC236}">
                <a16:creationId xmlns:a16="http://schemas.microsoft.com/office/drawing/2014/main" id="{1918FAAE-6857-70F7-B5CB-C36AAA9094A9}"/>
              </a:ext>
              <a:ext uri="{C183D7F6-B498-43B3-948B-1728B52AA6E4}">
                <adec:decorative xmlns:adec="http://schemas.microsoft.com/office/drawing/2017/decorative" val="1"/>
              </a:ext>
            </a:extLst>
          </p:cNvPr>
          <p:cNvSpPr/>
          <p:nvPr/>
        </p:nvSpPr>
        <p:spPr>
          <a:xfrm>
            <a:off x="822960" y="2423160"/>
            <a:ext cx="6675120" cy="1115567"/>
          </a:xfrm>
          <a:prstGeom prst="rect">
            <a:avLst/>
          </a:prstGeom>
          <a:solidFill>
            <a:srgbClr val="8B1A2B"/>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en-US" u="sng" dirty="0"/>
              <a:t>Content Security Policy Control</a:t>
            </a:r>
          </a:p>
          <a:p>
            <a:pPr>
              <a:spcAft>
                <a:spcPts val="400"/>
              </a:spcAft>
            </a:pPr>
            <a:r>
              <a:rPr lang="en-US" sz="1600" dirty="0">
                <a:solidFill>
                  <a:schemeClr val="bg1"/>
                </a:solidFill>
                <a:latin typeface="Calibri" pitchFamily="34" charset="0"/>
                <a:ea typeface="Calibri" pitchFamily="34" charset="-122"/>
                <a:cs typeface="Calibri" pitchFamily="34" charset="-120"/>
              </a:rPr>
              <a:t>Copilot's client-side defenses included a Content Security Policy (CSP) meant to block outbound requests to attacker servers. </a:t>
            </a:r>
            <a:endParaRPr lang="en-US" sz="1600" dirty="0">
              <a:solidFill>
                <a:schemeClr val="bg1"/>
              </a:solidFill>
            </a:endParaRPr>
          </a:p>
        </p:txBody>
      </p:sp>
      <p:sp>
        <p:nvSpPr>
          <p:cNvPr id="31" name="Shape 2">
            <a:extLst>
              <a:ext uri="{FF2B5EF4-FFF2-40B4-BE49-F238E27FC236}">
                <a16:creationId xmlns:a16="http://schemas.microsoft.com/office/drawing/2014/main" id="{1AD29C64-1B9C-4C74-18A2-78103821FF67}"/>
              </a:ext>
              <a:ext uri="{C183D7F6-B498-43B3-948B-1728B52AA6E4}">
                <adec:decorative xmlns:adec="http://schemas.microsoft.com/office/drawing/2017/decorative" val="1"/>
              </a:ext>
            </a:extLst>
          </p:cNvPr>
          <p:cNvSpPr/>
          <p:nvPr/>
        </p:nvSpPr>
        <p:spPr>
          <a:xfrm>
            <a:off x="822960" y="3794759"/>
            <a:ext cx="6675120" cy="877824"/>
          </a:xfrm>
          <a:prstGeom prst="rect">
            <a:avLst/>
          </a:prstGeom>
          <a:solidFill>
            <a:srgbClr val="8B1A2B"/>
          </a:solidFill>
          <a:ln w="12700">
            <a:solidFill>
              <a:srgbClr val="E2E8F0"/>
            </a:solidFill>
            <a:prstDash val="solid"/>
          </a:ln>
        </p:spPr>
        <p:txBody>
          <a:bodyPr/>
          <a:lstStyle/>
          <a:p>
            <a:r>
              <a:rPr lang="en-US" u="sng" dirty="0">
                <a:solidFill>
                  <a:schemeClr val="bg1"/>
                </a:solidFill>
              </a:rPr>
              <a:t>Attack</a:t>
            </a:r>
          </a:p>
          <a:p>
            <a:pPr>
              <a:spcAft>
                <a:spcPts val="400"/>
              </a:spcAft>
            </a:pPr>
            <a:r>
              <a:rPr lang="en-US" sz="1600" dirty="0">
                <a:solidFill>
                  <a:schemeClr val="bg1"/>
                </a:solidFill>
                <a:latin typeface="Calibri" pitchFamily="34" charset="0"/>
                <a:ea typeface="Calibri" pitchFamily="34" charset="-122"/>
                <a:cs typeface="Calibri" pitchFamily="34" charset="-120"/>
              </a:rPr>
              <a:t>The CSP failed because it allowlisted the company's own infrastructure.</a:t>
            </a:r>
            <a:endParaRPr lang="en-US" sz="1600" dirty="0">
              <a:solidFill>
                <a:schemeClr val="bg1"/>
              </a:solidFill>
            </a:endParaRPr>
          </a:p>
        </p:txBody>
      </p:sp>
      <p:sp>
        <p:nvSpPr>
          <p:cNvPr id="32" name="Shape 2">
            <a:extLst>
              <a:ext uri="{FF2B5EF4-FFF2-40B4-BE49-F238E27FC236}">
                <a16:creationId xmlns:a16="http://schemas.microsoft.com/office/drawing/2014/main" id="{D3AD77E6-1F18-79A1-CD2E-F9B48389FC2B}"/>
              </a:ext>
              <a:ext uri="{C183D7F6-B498-43B3-948B-1728B52AA6E4}">
                <adec:decorative xmlns:adec="http://schemas.microsoft.com/office/drawing/2017/decorative" val="1"/>
              </a:ext>
            </a:extLst>
          </p:cNvPr>
          <p:cNvSpPr/>
          <p:nvPr/>
        </p:nvSpPr>
        <p:spPr>
          <a:xfrm>
            <a:off x="822960" y="4914900"/>
            <a:ext cx="6675120" cy="1037843"/>
          </a:xfrm>
          <a:prstGeom prst="rect">
            <a:avLst/>
          </a:prstGeom>
          <a:solidFill>
            <a:srgbClr val="8B1A2B"/>
          </a:solidFill>
          <a:ln w="12700">
            <a:solidFill>
              <a:srgbClr val="E2E8F0"/>
            </a:solidFill>
            <a:prstDash val="solid"/>
          </a:ln>
        </p:spPr>
        <p:txBody>
          <a:bodyPr/>
          <a:lstStyle/>
          <a:p>
            <a:r>
              <a:rPr lang="en-US" u="sng" dirty="0">
                <a:solidFill>
                  <a:schemeClr val="bg1"/>
                </a:solidFill>
              </a:rPr>
              <a:t>CSP Failure</a:t>
            </a:r>
          </a:p>
          <a:p>
            <a:pPr>
              <a:spcAft>
                <a:spcPts val="400"/>
              </a:spcAft>
            </a:pPr>
            <a:r>
              <a:rPr lang="en-US" sz="1600" dirty="0">
                <a:solidFill>
                  <a:schemeClr val="bg1"/>
                </a:solidFill>
                <a:latin typeface="Calibri" pitchFamily="34" charset="0"/>
                <a:ea typeface="Calibri" pitchFamily="34" charset="-122"/>
                <a:cs typeface="Calibri" pitchFamily="34" charset="-120"/>
              </a:rPr>
              <a:t>The attacker encoded stolen data as query-string parameters on reference-style markdown image URLs pointed at domains the CSP trusted by default.</a:t>
            </a:r>
            <a:endParaRPr lang="en-US" sz="1600" dirty="0">
              <a:solidFill>
                <a:schemeClr val="bg1"/>
              </a:solidFill>
            </a:endParaRPr>
          </a:p>
          <a:p>
            <a:endParaRPr lang="en-US" u="sng"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52291"/>
    </mc:Choice>
    <mc:Fallback>
      <p:transition spd="slow" advTm="5229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rtlCol="0" anchor="ctr"/>
          <a:lstStyle/>
          <a:p>
            <a:pPr marL="0" indent="0">
              <a:buNone/>
            </a:pPr>
            <a:r>
              <a:rPr lang="en-US" sz="1400" b="1" kern="0" spc="400" dirty="0">
                <a:solidFill>
                  <a:srgbClr val="06B6D4"/>
                </a:solidFill>
                <a:latin typeface="Calibri" pitchFamily="34" charset="0"/>
                <a:ea typeface="Calibri" pitchFamily="34" charset="-122"/>
                <a:cs typeface="Calibri" pitchFamily="34" charset="-120"/>
              </a:rPr>
              <a:t>LAYER 3</a:t>
            </a:r>
            <a:endParaRPr lang="en-US" sz="1400" dirty="0"/>
          </a:p>
        </p:txBody>
      </p:sp>
      <p:sp>
        <p:nvSpPr>
          <p:cNvPr id="3" name="Text 1"/>
          <p:cNvSpPr/>
          <p:nvPr/>
        </p:nvSpPr>
        <p:spPr>
          <a:xfrm>
            <a:off x="640080" y="777240"/>
            <a:ext cx="10058400" cy="822960"/>
          </a:xfrm>
          <a:prstGeom prst="rect">
            <a:avLst/>
          </a:prstGeom>
          <a:noFill/>
          <a:ln/>
        </p:spPr>
        <p:txBody>
          <a:bodyPr wrap="square" lIns="0" tIns="0" rIns="0" bIns="0" rtlCol="0" anchor="ctr"/>
          <a:lstStyle/>
          <a:p>
            <a:pPr marL="0" indent="0">
              <a:buNone/>
            </a:pPr>
            <a:r>
              <a:rPr lang="en-US" sz="3800" b="1" dirty="0">
                <a:solidFill>
                  <a:srgbClr val="1E293B"/>
                </a:solidFill>
                <a:latin typeface="Georgia" pitchFamily="34" charset="0"/>
                <a:ea typeface="Georgia" pitchFamily="34" charset="-122"/>
                <a:cs typeface="Georgia" pitchFamily="34" charset="-120"/>
              </a:rPr>
              <a:t>Agent Frameworks</a:t>
            </a:r>
            <a:endParaRPr lang="en-US" sz="3800" dirty="0"/>
          </a:p>
        </p:txBody>
      </p:sp>
      <p:sp>
        <p:nvSpPr>
          <p:cNvPr id="4" name="Text 2"/>
          <p:cNvSpPr/>
          <p:nvPr/>
        </p:nvSpPr>
        <p:spPr>
          <a:xfrm>
            <a:off x="10058400" y="502920"/>
            <a:ext cx="1645920" cy="1280160"/>
          </a:xfrm>
          <a:prstGeom prst="rect">
            <a:avLst/>
          </a:prstGeom>
          <a:noFill/>
          <a:ln/>
        </p:spPr>
        <p:txBody>
          <a:bodyPr wrap="square" lIns="0" tIns="0" rIns="0" bIns="0" rtlCol="0" anchor="ctr"/>
          <a:lstStyle/>
          <a:p>
            <a:pPr marL="0" indent="0" algn="r">
              <a:buNone/>
            </a:pPr>
            <a:r>
              <a:rPr lang="en-US" sz="8000" b="1" dirty="0">
                <a:solidFill>
                  <a:srgbClr val="06B6D4"/>
                </a:solidFill>
                <a:latin typeface="Georgia" pitchFamily="34" charset="0"/>
                <a:ea typeface="Georgia" pitchFamily="34" charset="-122"/>
                <a:cs typeface="Georgia" pitchFamily="34" charset="-120"/>
              </a:rPr>
              <a:t>L3</a:t>
            </a:r>
            <a:endParaRPr lang="en-US" sz="8000" dirty="0"/>
          </a:p>
        </p:txBody>
      </p:sp>
      <p:sp>
        <p:nvSpPr>
          <p:cNvPr id="5" name="Text 3"/>
          <p:cNvSpPr/>
          <p:nvPr/>
        </p:nvSpPr>
        <p:spPr>
          <a:xfrm>
            <a:off x="640080" y="1691640"/>
            <a:ext cx="10058400" cy="457200"/>
          </a:xfrm>
          <a:prstGeom prst="rect">
            <a:avLst/>
          </a:prstGeom>
          <a:noFill/>
          <a:ln/>
        </p:spPr>
        <p:txBody>
          <a:bodyPr wrap="square" lIns="0" tIns="0" rIns="0" bIns="0" rtlCol="0" anchor="ctr"/>
          <a:lstStyle/>
          <a:p>
            <a:pPr marL="0" indent="0">
              <a:buNone/>
            </a:pPr>
            <a:r>
              <a:rPr lang="en-US" i="1" dirty="0">
                <a:solidFill>
                  <a:srgbClr val="475569"/>
                </a:solidFill>
                <a:latin typeface="Calibri" pitchFamily="34" charset="0"/>
                <a:ea typeface="Calibri" pitchFamily="34" charset="-122"/>
                <a:cs typeface="Calibri" pitchFamily="34" charset="-120"/>
              </a:rPr>
              <a:t>The orchestration. Where plans live, tools get called, agents loop and hand off. The brain stem of agentic AI.</a:t>
            </a:r>
            <a:endParaRPr lang="en-US" dirty="0"/>
          </a:p>
        </p:txBody>
      </p:sp>
      <p:sp>
        <p:nvSpPr>
          <p:cNvPr id="6" name="Shape 4">
            <a:extLst>
              <a:ext uri="{C183D7F6-B498-43B3-948B-1728B52AA6E4}">
                <adec:decorative xmlns:adec="http://schemas.microsoft.com/office/drawing/2017/decorative" val="1"/>
              </a:ext>
            </a:extLst>
          </p:cNvPr>
          <p:cNvSpPr/>
          <p:nvPr/>
        </p:nvSpPr>
        <p:spPr>
          <a:xfrm>
            <a:off x="640080" y="2194560"/>
            <a:ext cx="10972800" cy="457200"/>
          </a:xfrm>
          <a:prstGeom prst="rect">
            <a:avLst/>
          </a:prstGeom>
          <a:solidFill>
            <a:srgbClr val="F8FAFC"/>
          </a:solidFill>
          <a:ln/>
        </p:spPr>
        <p:txBody>
          <a:bodyPr/>
          <a:lstStyle/>
          <a:p>
            <a:endParaRPr lang="en-US"/>
          </a:p>
        </p:txBody>
      </p:sp>
      <p:sp>
        <p:nvSpPr>
          <p:cNvPr id="7" name="Text 5"/>
          <p:cNvSpPr/>
          <p:nvPr/>
        </p:nvSpPr>
        <p:spPr>
          <a:xfrm>
            <a:off x="777240" y="2194560"/>
            <a:ext cx="1371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Examples</a:t>
            </a:r>
            <a:r>
              <a:rPr lang="en-US" sz="1200" b="1" dirty="0">
                <a:solidFill>
                  <a:srgbClr val="1E293B"/>
                </a:solidFill>
                <a:latin typeface="Calibri" pitchFamily="34" charset="0"/>
                <a:ea typeface="Calibri" pitchFamily="34" charset="-122"/>
                <a:cs typeface="Calibri" pitchFamily="34" charset="-120"/>
              </a:rPr>
              <a:t>:  </a:t>
            </a:r>
            <a:endParaRPr lang="en-US" sz="1200" dirty="0"/>
          </a:p>
        </p:txBody>
      </p:sp>
      <p:sp>
        <p:nvSpPr>
          <p:cNvPr id="8" name="Text 6"/>
          <p:cNvSpPr/>
          <p:nvPr/>
        </p:nvSpPr>
        <p:spPr>
          <a:xfrm>
            <a:off x="1691640" y="2194560"/>
            <a:ext cx="9601200" cy="457200"/>
          </a:xfrm>
          <a:prstGeom prst="rect">
            <a:avLst/>
          </a:prstGeom>
          <a:noFill/>
          <a:ln/>
        </p:spPr>
        <p:txBody>
          <a:bodyPr wrap="square" lIns="0" tIns="0" rIns="0" bIns="0" rtlCol="0" anchor="ctr"/>
          <a:lstStyle/>
          <a:p>
            <a:pPr marL="0" indent="0">
              <a:buNone/>
            </a:pPr>
            <a:r>
              <a:rPr lang="en-US" sz="1400" dirty="0" err="1">
                <a:solidFill>
                  <a:srgbClr val="475569"/>
                </a:solidFill>
                <a:latin typeface="Consolas" pitchFamily="34" charset="0"/>
                <a:ea typeface="Consolas" pitchFamily="34" charset="-122"/>
                <a:cs typeface="Consolas" pitchFamily="34" charset="-120"/>
              </a:rPr>
              <a:t>LangChain</a:t>
            </a:r>
            <a:r>
              <a:rPr lang="en-US" sz="1400" dirty="0">
                <a:solidFill>
                  <a:srgbClr val="475569"/>
                </a:solidFill>
                <a:latin typeface="Consolas" pitchFamily="34" charset="0"/>
                <a:ea typeface="Consolas" pitchFamily="34" charset="-122"/>
                <a:cs typeface="Consolas" pitchFamily="34" charset="-120"/>
              </a:rPr>
              <a:t> - </a:t>
            </a:r>
            <a:r>
              <a:rPr lang="en-US" sz="1400" dirty="0" err="1">
                <a:solidFill>
                  <a:srgbClr val="475569"/>
                </a:solidFill>
                <a:latin typeface="Consolas" pitchFamily="34" charset="0"/>
                <a:ea typeface="Consolas" pitchFamily="34" charset="-122"/>
                <a:cs typeface="Consolas" pitchFamily="34" charset="-120"/>
              </a:rPr>
              <a:t>LangGraph</a:t>
            </a:r>
            <a:r>
              <a:rPr lang="en-US" sz="1400" dirty="0">
                <a:solidFill>
                  <a:srgbClr val="475569"/>
                </a:solidFill>
                <a:latin typeface="Consolas" pitchFamily="34" charset="0"/>
                <a:ea typeface="Consolas" pitchFamily="34" charset="-122"/>
                <a:cs typeface="Consolas" pitchFamily="34" charset="-120"/>
              </a:rPr>
              <a:t> - </a:t>
            </a:r>
            <a:r>
              <a:rPr lang="en-US" sz="1400" dirty="0" err="1">
                <a:solidFill>
                  <a:srgbClr val="475569"/>
                </a:solidFill>
                <a:latin typeface="Consolas" pitchFamily="34" charset="0"/>
                <a:ea typeface="Consolas" pitchFamily="34" charset="-122"/>
                <a:cs typeface="Consolas" pitchFamily="34" charset="-120"/>
              </a:rPr>
              <a:t>LlamaIndex</a:t>
            </a:r>
            <a:r>
              <a:rPr lang="en-US" sz="1400" dirty="0">
                <a:solidFill>
                  <a:srgbClr val="475569"/>
                </a:solidFill>
                <a:latin typeface="Consolas" pitchFamily="34" charset="0"/>
                <a:ea typeface="Consolas" pitchFamily="34" charset="-122"/>
                <a:cs typeface="Consolas" pitchFamily="34" charset="-120"/>
              </a:rPr>
              <a:t> - </a:t>
            </a:r>
            <a:r>
              <a:rPr lang="en-US" sz="1400" dirty="0" err="1">
                <a:solidFill>
                  <a:srgbClr val="475569"/>
                </a:solidFill>
                <a:latin typeface="Consolas" pitchFamily="34" charset="0"/>
                <a:ea typeface="Consolas" pitchFamily="34" charset="-122"/>
                <a:cs typeface="Consolas" pitchFamily="34" charset="-120"/>
              </a:rPr>
              <a:t>AutoGen</a:t>
            </a:r>
            <a:r>
              <a:rPr lang="en-US" sz="1400" dirty="0">
                <a:solidFill>
                  <a:srgbClr val="475569"/>
                </a:solidFill>
                <a:latin typeface="Consolas" pitchFamily="34" charset="0"/>
                <a:ea typeface="Consolas" pitchFamily="34" charset="-122"/>
                <a:cs typeface="Consolas" pitchFamily="34" charset="-120"/>
              </a:rPr>
              <a:t> - Semantic Kernel - OpenAI Assistants/Responses API</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40080" y="2834640"/>
            <a:ext cx="5440680" cy="3017520"/>
          </a:xfrm>
          <a:prstGeom prst="rect">
            <a:avLst/>
          </a:prstGeom>
          <a:solidFill>
            <a:srgbClr val="F8FAFC"/>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640080" y="2834640"/>
            <a:ext cx="73152" cy="3017520"/>
          </a:xfrm>
          <a:prstGeom prst="rect">
            <a:avLst/>
          </a:prstGeom>
          <a:solidFill>
            <a:srgbClr val="F97066"/>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868680" y="3063240"/>
            <a:ext cx="365760" cy="365760"/>
          </a:xfrm>
          <a:prstGeom prst="rect">
            <a:avLst/>
          </a:prstGeom>
        </p:spPr>
      </p:pic>
      <p:sp>
        <p:nvSpPr>
          <p:cNvPr id="12" name="Text 9"/>
          <p:cNvSpPr/>
          <p:nvPr/>
        </p:nvSpPr>
        <p:spPr>
          <a:xfrm>
            <a:off x="1325880" y="3063240"/>
            <a:ext cx="3657600" cy="365760"/>
          </a:xfrm>
          <a:prstGeom prst="rect">
            <a:avLst/>
          </a:prstGeom>
          <a:noFill/>
          <a:ln/>
        </p:spPr>
        <p:txBody>
          <a:bodyPr wrap="square" lIns="0" tIns="0" rIns="0" bIns="0" rtlCol="0" anchor="ctr"/>
          <a:lstStyle/>
          <a:p>
            <a:pPr marL="0" indent="0">
              <a:buNone/>
            </a:pPr>
            <a:r>
              <a:rPr lang="en-US" sz="1600" b="1" kern="0" spc="300" dirty="0">
                <a:solidFill>
                  <a:srgbClr val="F97066"/>
                </a:solidFill>
                <a:latin typeface="Calibri" pitchFamily="34" charset="0"/>
                <a:ea typeface="Calibri" pitchFamily="34" charset="-122"/>
                <a:cs typeface="Calibri" pitchFamily="34" charset="-120"/>
              </a:rPr>
              <a:t>THREATS</a:t>
            </a:r>
            <a:endParaRPr lang="en-US" sz="1600" dirty="0"/>
          </a:p>
        </p:txBody>
      </p:sp>
      <p:sp>
        <p:nvSpPr>
          <p:cNvPr id="13" name="Text 10"/>
          <p:cNvSpPr/>
          <p:nvPr/>
        </p:nvSpPr>
        <p:spPr>
          <a:xfrm>
            <a:off x="868680" y="3611880"/>
            <a:ext cx="50749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Direct prompt injection — user types “ignore your instructions”</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Indirect prompt injection — agent reads a webpage with prompt</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Tool misuse — agent tricked into calling a tool against the user</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Reasoning manipulation — steered to wrong conclusion</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Memory poisoning — corrupted long-term store survives sessions</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Goal misalignment — agent confidently pursues the wrong objective</a:t>
            </a:r>
            <a:endParaRPr lang="en-US" sz="1400" b="1" dirty="0"/>
          </a:p>
        </p:txBody>
      </p:sp>
      <p:sp>
        <p:nvSpPr>
          <p:cNvPr id="14" name="Shape 11">
            <a:extLst>
              <a:ext uri="{C183D7F6-B498-43B3-948B-1728B52AA6E4}">
                <adec:decorative xmlns:adec="http://schemas.microsoft.com/office/drawing/2017/decorative" val="1"/>
              </a:ext>
            </a:extLst>
          </p:cNvPr>
          <p:cNvSpPr/>
          <p:nvPr/>
        </p:nvSpPr>
        <p:spPr>
          <a:xfrm>
            <a:off x="6446520" y="2834640"/>
            <a:ext cx="5440680" cy="3017520"/>
          </a:xfrm>
          <a:prstGeom prst="rect">
            <a:avLst/>
          </a:prstGeom>
          <a:solidFill>
            <a:srgbClr val="F8FAFC"/>
          </a:solidFill>
          <a:ln/>
        </p:spPr>
        <p:txBody>
          <a:bodyPr/>
          <a:lstStyle/>
          <a:p>
            <a:endParaRPr lang="en-US"/>
          </a:p>
        </p:txBody>
      </p:sp>
      <p:sp>
        <p:nvSpPr>
          <p:cNvPr id="15" name="Shape 12">
            <a:extLst>
              <a:ext uri="{C183D7F6-B498-43B3-948B-1728B52AA6E4}">
                <adec:decorative xmlns:adec="http://schemas.microsoft.com/office/drawing/2017/decorative" val="1"/>
              </a:ext>
            </a:extLst>
          </p:cNvPr>
          <p:cNvSpPr/>
          <p:nvPr/>
        </p:nvSpPr>
        <p:spPr>
          <a:xfrm>
            <a:off x="6446520" y="2834640"/>
            <a:ext cx="73152" cy="3017520"/>
          </a:xfrm>
          <a:prstGeom prst="rect">
            <a:avLst/>
          </a:prstGeom>
          <a:solidFill>
            <a:srgbClr val="06B6D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675120" y="3063240"/>
            <a:ext cx="365760" cy="365760"/>
          </a:xfrm>
          <a:prstGeom prst="rect">
            <a:avLst/>
          </a:prstGeom>
        </p:spPr>
      </p:pic>
      <p:sp>
        <p:nvSpPr>
          <p:cNvPr id="17" name="Text 13"/>
          <p:cNvSpPr/>
          <p:nvPr/>
        </p:nvSpPr>
        <p:spPr>
          <a:xfrm>
            <a:off x="7132320" y="3063240"/>
            <a:ext cx="3657600" cy="365760"/>
          </a:xfrm>
          <a:prstGeom prst="rect">
            <a:avLst/>
          </a:prstGeom>
          <a:noFill/>
          <a:ln/>
        </p:spPr>
        <p:txBody>
          <a:bodyPr wrap="square" lIns="0" tIns="0" rIns="0" bIns="0" rtlCol="0" anchor="ctr"/>
          <a:lstStyle/>
          <a:p>
            <a:pPr marL="0" indent="0">
              <a:buNone/>
            </a:pPr>
            <a:r>
              <a:rPr lang="en-US" sz="1600" b="1" kern="0" spc="300" dirty="0">
                <a:solidFill>
                  <a:srgbClr val="06B6D4"/>
                </a:solidFill>
                <a:latin typeface="Calibri" pitchFamily="34" charset="0"/>
                <a:ea typeface="Calibri" pitchFamily="34" charset="-122"/>
                <a:cs typeface="Calibri" pitchFamily="34" charset="-120"/>
              </a:rPr>
              <a:t>MITIGATIONS</a:t>
            </a:r>
            <a:endParaRPr lang="en-US" sz="1600" dirty="0"/>
          </a:p>
        </p:txBody>
      </p:sp>
      <p:sp>
        <p:nvSpPr>
          <p:cNvPr id="18" name="Text 14"/>
          <p:cNvSpPr/>
          <p:nvPr/>
        </p:nvSpPr>
        <p:spPr>
          <a:xfrm>
            <a:off x="6675120" y="3611880"/>
            <a:ext cx="50749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Strict tool access control lists, function-level auth</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Sandboxing for tool execution</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Output validation against expected schemas</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Inter-agent message authentication</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Human-in-the-loop checkpoints for high-impact actions</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Structured planning frameworks with explicit policies</a:t>
            </a:r>
          </a:p>
          <a:p>
            <a:pPr marL="342900" indent="-342900">
              <a:spcAft>
                <a:spcPts val="600"/>
              </a:spcAft>
              <a:buSzPct val="100000"/>
              <a:buChar char="•"/>
            </a:pPr>
            <a:r>
              <a:rPr lang="en-US" sz="1400" b="1" dirty="0" err="1">
                <a:solidFill>
                  <a:srgbClr val="1E293B"/>
                </a:solidFill>
                <a:latin typeface="Calibri" pitchFamily="34" charset="0"/>
                <a:cs typeface="Calibri" pitchFamily="34" charset="-120"/>
              </a:rPr>
              <a:t>CaMeL</a:t>
            </a:r>
            <a:r>
              <a:rPr lang="en-US" sz="1400" b="1" dirty="0">
                <a:solidFill>
                  <a:srgbClr val="1E293B"/>
                </a:solidFill>
                <a:latin typeface="Calibri" pitchFamily="34" charset="0"/>
                <a:cs typeface="Calibri" pitchFamily="34" charset="-120"/>
              </a:rPr>
              <a:t> pattern with privileged and quarantined LLMs working together</a:t>
            </a:r>
            <a:endParaRPr lang="en-US" sz="1400" b="1" dirty="0"/>
          </a:p>
        </p:txBody>
      </p:sp>
      <p:sp>
        <p:nvSpPr>
          <p:cNvPr id="19" name="Shape 15">
            <a:extLst>
              <a:ext uri="{C183D7F6-B498-43B3-948B-1728B52AA6E4}">
                <adec:decorative xmlns:adec="http://schemas.microsoft.com/office/drawing/2017/decorative" val="1"/>
              </a:ext>
            </a:extLst>
          </p:cNvPr>
          <p:cNvSpPr/>
          <p:nvPr/>
        </p:nvSpPr>
        <p:spPr>
          <a:xfrm>
            <a:off x="640080" y="5989320"/>
            <a:ext cx="10972800" cy="411480"/>
          </a:xfrm>
          <a:prstGeom prst="rect">
            <a:avLst/>
          </a:prstGeom>
          <a:solidFill>
            <a:srgbClr val="0A1628"/>
          </a:solidFill>
          <a:ln/>
        </p:spPr>
        <p:txBody>
          <a:bodyPr/>
          <a:lstStyle/>
          <a:p>
            <a:pPr algn="ctr"/>
            <a:r>
              <a:rPr lang="en-US" i="1" dirty="0">
                <a:solidFill>
                  <a:srgbClr val="F0B429"/>
                </a:solidFill>
                <a:latin typeface="Calibri" pitchFamily="34" charset="0"/>
                <a:cs typeface="Calibri" pitchFamily="34" charset="-120"/>
              </a:rPr>
              <a:t>Where words become actions - and your framework treats hostile words and helpful words exactly the same way.</a:t>
            </a:r>
          </a:p>
        </p:txBody>
      </p:sp>
      <p:sp>
        <p:nvSpPr>
          <p:cNvPr id="20" name="Text 16"/>
          <p:cNvSpPr/>
          <p:nvPr/>
        </p:nvSpPr>
        <p:spPr>
          <a:xfrm>
            <a:off x="777240" y="5989320"/>
            <a:ext cx="10698480" cy="411480"/>
          </a:xfrm>
          <a:prstGeom prst="rect">
            <a:avLst/>
          </a:prstGeom>
          <a:noFill/>
          <a:ln/>
        </p:spPr>
        <p:txBody>
          <a:bodyPr wrap="square" lIns="0" tIns="0" rIns="0" bIns="0" rtlCol="0" anchor="ctr"/>
          <a:lstStyle/>
          <a:p>
            <a:pPr marL="0" indent="0" algn="ctr">
              <a:buNone/>
            </a:pPr>
            <a:endParaRPr lang="en-US" sz="2000" dirty="0"/>
          </a:p>
        </p:txBody>
      </p:sp>
      <p:sp>
        <p:nvSpPr>
          <p:cNvPr id="22" name="Text 18"/>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3" name="TextBox 22"/>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28 / 43</a:t>
            </a:r>
          </a:p>
        </p:txBody>
      </p:sp>
    </p:spTree>
  </p:cSld>
  <p:clrMapOvr>
    <a:masterClrMapping/>
  </p:clrMapOvr>
  <mc:AlternateContent xmlns:mc="http://schemas.openxmlformats.org/markup-compatibility/2006">
    <mc:Choice xmlns:p14="http://schemas.microsoft.com/office/powerpoint/2010/main" Requires="p14">
      <p:transition spd="slow" p14:dur="2000" advTm="93619"/>
    </mc:Choice>
    <mc:Fallback>
      <p:transition spd="slow" advTm="93619"/>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4" name="Text 2"/>
          <p:cNvSpPr/>
          <p:nvPr/>
        </p:nvSpPr>
        <p:spPr>
          <a:xfrm>
            <a:off x="731520" y="457200"/>
            <a:ext cx="11155680" cy="640080"/>
          </a:xfrm>
          <a:prstGeom prst="rect">
            <a:avLst/>
          </a:prstGeom>
          <a:noFill/>
          <a:ln/>
        </p:spPr>
        <p:txBody>
          <a:bodyPr wrap="square" lIns="0" tIns="0" rIns="0" bIns="0" rtlCol="0" anchor="ctr"/>
          <a:lstStyle/>
          <a:p>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a:t>
            </a:r>
          </a:p>
          <a:p>
            <a:pPr marL="0" indent="0">
              <a:buNone/>
            </a:pPr>
            <a:r>
              <a:rPr lang="en-US" sz="3000" b="1" dirty="0">
                <a:solidFill>
                  <a:srgbClr val="1A1A2E"/>
                </a:solidFill>
                <a:latin typeface="Georgia" pitchFamily="34" charset="0"/>
                <a:ea typeface="Georgia" pitchFamily="34" charset="-122"/>
                <a:cs typeface="Georgia" pitchFamily="34" charset="-120"/>
              </a:rPr>
              <a:t>No Trust Boundary Between Source and Action</a:t>
            </a:r>
            <a:endParaRPr lang="en-US" sz="3000" dirty="0"/>
          </a:p>
        </p:txBody>
      </p:sp>
      <p:sp>
        <p:nvSpPr>
          <p:cNvPr id="5" name="Text 3"/>
          <p:cNvSpPr/>
          <p:nvPr/>
        </p:nvSpPr>
        <p:spPr>
          <a:xfrm>
            <a:off x="731520" y="1325880"/>
            <a:ext cx="10698480" cy="502920"/>
          </a:xfrm>
          <a:prstGeom prst="rect">
            <a:avLst/>
          </a:prstGeom>
          <a:noFill/>
          <a:ln/>
        </p:spPr>
        <p:txBody>
          <a:bodyPr wrap="square" lIns="0" tIns="0" rIns="0" bIns="0" rtlCol="0" anchor="ctr"/>
          <a:lstStyle/>
          <a:p>
            <a:pPr marL="0" indent="0">
              <a:buNone/>
            </a:pPr>
            <a:r>
              <a:rPr lang="en-US" sz="1400" i="1" dirty="0">
                <a:solidFill>
                  <a:srgbClr val="5C5C6E"/>
                </a:solidFill>
                <a:latin typeface="Calibri" pitchFamily="34" charset="0"/>
                <a:ea typeface="Calibri" pitchFamily="34" charset="-122"/>
                <a:cs typeface="Calibri" pitchFamily="34" charset="-120"/>
              </a:rPr>
              <a:t>The orchestration layer didn't ask where the instructions came from before acting on them.</a:t>
            </a:r>
            <a:endParaRPr lang="en-US" sz="1400"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Text 5"/>
          <p:cNvSpPr/>
          <p:nvPr/>
        </p:nvSpPr>
        <p:spPr>
          <a:xfrm>
            <a:off x="731520" y="2103120"/>
            <a:ext cx="64008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WHAT MAESTRO FINDS</a:t>
            </a:r>
            <a:endParaRPr lang="en-US" sz="1100" dirty="0"/>
          </a:p>
        </p:txBody>
      </p:sp>
      <p:sp>
        <p:nvSpPr>
          <p:cNvPr id="9" name="Text 7"/>
          <p:cNvSpPr/>
          <p:nvPr/>
        </p:nvSpPr>
        <p:spPr>
          <a:xfrm>
            <a:off x="7680960" y="2103120"/>
            <a:ext cx="402336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THREAT CLASSES</a:t>
            </a:r>
            <a:endParaRPr lang="en-US" sz="1100" dirty="0"/>
          </a:p>
        </p:txBody>
      </p:sp>
      <p:pic>
        <p:nvPicPr>
          <p:cNvPr id="11" name="Image 0" descr="preencoded.png"/>
          <p:cNvPicPr>
            <a:picLocks noChangeAspect="1"/>
          </p:cNvPicPr>
          <p:nvPr/>
        </p:nvPicPr>
        <p:blipFill>
          <a:blip r:embed="rId3"/>
          <a:stretch>
            <a:fillRect/>
          </a:stretch>
        </p:blipFill>
        <p:spPr>
          <a:xfrm>
            <a:off x="7909560" y="2624328"/>
            <a:ext cx="365760" cy="365760"/>
          </a:xfrm>
          <a:prstGeom prst="rect">
            <a:avLst/>
          </a:prstGeom>
        </p:spPr>
      </p:pic>
      <p:sp>
        <p:nvSpPr>
          <p:cNvPr id="12" name="Text 9"/>
          <p:cNvSpPr/>
          <p:nvPr/>
        </p:nvSpPr>
        <p:spPr>
          <a:xfrm>
            <a:off x="8458200" y="2496312"/>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No origin tracking</a:t>
            </a:r>
            <a:endParaRPr lang="en-US" sz="1300" dirty="0"/>
          </a:p>
        </p:txBody>
      </p:sp>
      <p:sp>
        <p:nvSpPr>
          <p:cNvPr id="13" name="Text 10"/>
          <p:cNvSpPr/>
          <p:nvPr/>
        </p:nvSpPr>
        <p:spPr>
          <a:xfrm>
            <a:off x="8458200" y="2807208"/>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Tool calls don't know which context block triggered them.</a:t>
            </a:r>
            <a:endParaRPr lang="en-US" sz="1200" dirty="0"/>
          </a:p>
        </p:txBody>
      </p:sp>
      <p:pic>
        <p:nvPicPr>
          <p:cNvPr id="15" name="Image 1" descr="preencoded.png"/>
          <p:cNvPicPr>
            <a:picLocks noChangeAspect="1"/>
          </p:cNvPicPr>
          <p:nvPr/>
        </p:nvPicPr>
        <p:blipFill>
          <a:blip r:embed="rId4"/>
          <a:stretch>
            <a:fillRect/>
          </a:stretch>
        </p:blipFill>
        <p:spPr>
          <a:xfrm>
            <a:off x="7909560" y="3529584"/>
            <a:ext cx="365760" cy="365760"/>
          </a:xfrm>
          <a:prstGeom prst="rect">
            <a:avLst/>
          </a:prstGeom>
        </p:spPr>
      </p:pic>
      <p:sp>
        <p:nvSpPr>
          <p:cNvPr id="16" name="Text 12"/>
          <p:cNvSpPr/>
          <p:nvPr/>
        </p:nvSpPr>
        <p:spPr>
          <a:xfrm>
            <a:off x="8458200" y="3401568"/>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Unsafe output rendering</a:t>
            </a:r>
            <a:endParaRPr lang="en-US" sz="1300" dirty="0"/>
          </a:p>
        </p:txBody>
      </p:sp>
      <p:sp>
        <p:nvSpPr>
          <p:cNvPr id="17" name="Text 13"/>
          <p:cNvSpPr/>
          <p:nvPr/>
        </p:nvSpPr>
        <p:spPr>
          <a:xfrm>
            <a:off x="8458200" y="3712464"/>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Markdown images = silent outbound network calls.</a:t>
            </a:r>
            <a:endParaRPr lang="en-US" sz="1200" dirty="0"/>
          </a:p>
        </p:txBody>
      </p:sp>
      <p:pic>
        <p:nvPicPr>
          <p:cNvPr id="19" name="Image 2" descr="preencoded.png"/>
          <p:cNvPicPr>
            <a:picLocks noChangeAspect="1"/>
          </p:cNvPicPr>
          <p:nvPr/>
        </p:nvPicPr>
        <p:blipFill>
          <a:blip r:embed="rId5"/>
          <a:stretch>
            <a:fillRect/>
          </a:stretch>
        </p:blipFill>
        <p:spPr>
          <a:xfrm>
            <a:off x="7909560" y="4434840"/>
            <a:ext cx="365760" cy="365760"/>
          </a:xfrm>
          <a:prstGeom prst="rect">
            <a:avLst/>
          </a:prstGeom>
        </p:spPr>
      </p:pic>
      <p:sp>
        <p:nvSpPr>
          <p:cNvPr id="20" name="Text 15"/>
          <p:cNvSpPr/>
          <p:nvPr/>
        </p:nvSpPr>
        <p:spPr>
          <a:xfrm>
            <a:off x="8458200" y="4306824"/>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Missing trust zones</a:t>
            </a:r>
            <a:endParaRPr lang="en-US" sz="1300" dirty="0"/>
          </a:p>
        </p:txBody>
      </p:sp>
      <p:sp>
        <p:nvSpPr>
          <p:cNvPr id="21" name="Text 16"/>
          <p:cNvSpPr/>
          <p:nvPr/>
        </p:nvSpPr>
        <p:spPr>
          <a:xfrm>
            <a:off x="8458200" y="4617720"/>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Mixed-trust context produces same-privilege outputs.</a:t>
            </a:r>
            <a:endParaRPr lang="en-US" sz="1200" dirty="0"/>
          </a:p>
        </p:txBody>
      </p:sp>
      <p:pic>
        <p:nvPicPr>
          <p:cNvPr id="23" name="Image 3" descr="preencoded.png"/>
          <p:cNvPicPr>
            <a:picLocks noChangeAspect="1"/>
          </p:cNvPicPr>
          <p:nvPr/>
        </p:nvPicPr>
        <p:blipFill>
          <a:blip r:embed="rId6"/>
          <a:stretch>
            <a:fillRect/>
          </a:stretch>
        </p:blipFill>
        <p:spPr>
          <a:xfrm>
            <a:off x="7909560" y="5340096"/>
            <a:ext cx="365760" cy="365760"/>
          </a:xfrm>
          <a:prstGeom prst="rect">
            <a:avLst/>
          </a:prstGeom>
        </p:spPr>
      </p:pic>
      <p:sp>
        <p:nvSpPr>
          <p:cNvPr id="24" name="Text 18"/>
          <p:cNvSpPr/>
          <p:nvPr/>
        </p:nvSpPr>
        <p:spPr>
          <a:xfrm>
            <a:off x="8458200" y="5212080"/>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No HITL checkpoint</a:t>
            </a:r>
            <a:endParaRPr lang="en-US" sz="1300" dirty="0"/>
          </a:p>
        </p:txBody>
      </p:sp>
      <p:sp>
        <p:nvSpPr>
          <p:cNvPr id="25" name="Text 19"/>
          <p:cNvSpPr/>
          <p:nvPr/>
        </p:nvSpPr>
        <p:spPr>
          <a:xfrm>
            <a:off x="8458200" y="5522976"/>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No "are you sure?" before sensitive data leaves the response.</a:t>
            </a:r>
            <a:endParaRPr lang="en-US" sz="1200" dirty="0"/>
          </a:p>
        </p:txBody>
      </p:sp>
      <p:sp>
        <p:nvSpPr>
          <p:cNvPr id="26" name="Shape 20"/>
          <p:cNvSpPr/>
          <p:nvPr/>
        </p:nvSpPr>
        <p:spPr>
          <a:xfrm>
            <a:off x="731520" y="6172200"/>
            <a:ext cx="10698480" cy="457200"/>
          </a:xfrm>
          <a:prstGeom prst="rect">
            <a:avLst/>
          </a:prstGeom>
          <a:solidFill>
            <a:srgbClr val="1A1A2E"/>
          </a:solidFill>
          <a:ln w="12700">
            <a:solidFill>
              <a:srgbClr val="1A1A2E"/>
            </a:solidFill>
            <a:prstDash val="solid"/>
          </a:ln>
        </p:spPr>
        <p:txBody>
          <a:bodyPr/>
          <a:lstStyle/>
          <a:p>
            <a:endParaRPr lang="en-US"/>
          </a:p>
        </p:txBody>
      </p:sp>
      <p:sp>
        <p:nvSpPr>
          <p:cNvPr id="27" name="Text 21"/>
          <p:cNvSpPr/>
          <p:nvPr/>
        </p:nvSpPr>
        <p:spPr>
          <a:xfrm>
            <a:off x="914400" y="6172200"/>
            <a:ext cx="103327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lesson:  </a:t>
            </a:r>
            <a:r>
              <a:rPr lang="en-US" sz="1600" dirty="0">
                <a:solidFill>
                  <a:srgbClr val="FFFFFF"/>
                </a:solidFill>
                <a:latin typeface="Calibri" pitchFamily="34" charset="0"/>
                <a:ea typeface="Calibri" pitchFamily="34" charset="-122"/>
                <a:cs typeface="Calibri" pitchFamily="34" charset="-120"/>
              </a:rPr>
              <a:t>Agent frameworks need trust boundaries between data sources, not just between users and the agent.</a:t>
            </a:r>
            <a:endParaRPr lang="en-US" sz="1600" dirty="0"/>
          </a:p>
        </p:txBody>
      </p:sp>
      <p:sp>
        <p:nvSpPr>
          <p:cNvPr id="29" name="Text 2">
            <a:extLst>
              <a:ext uri="{FF2B5EF4-FFF2-40B4-BE49-F238E27FC236}">
                <a16:creationId xmlns:a16="http://schemas.microsoft.com/office/drawing/2014/main" id="{A01A0242-506F-B76C-4037-AC0B92CB352A}"/>
              </a:ext>
            </a:extLst>
          </p:cNvPr>
          <p:cNvSpPr/>
          <p:nvPr/>
        </p:nvSpPr>
        <p:spPr>
          <a:xfrm>
            <a:off x="10058400" y="320040"/>
            <a:ext cx="1645920" cy="1280160"/>
          </a:xfrm>
          <a:prstGeom prst="rect">
            <a:avLst/>
          </a:prstGeom>
          <a:noFill/>
          <a:ln/>
        </p:spPr>
        <p:txBody>
          <a:bodyPr wrap="square" lIns="0" tIns="0" rIns="0" bIns="0" rtlCol="0" anchor="ctr"/>
          <a:lstStyle/>
          <a:p>
            <a:pPr marL="0" indent="0" algn="r">
              <a:buNone/>
            </a:pPr>
            <a:r>
              <a:rPr lang="en-US" sz="8000" b="1" dirty="0">
                <a:solidFill>
                  <a:srgbClr val="8B1A2B"/>
                </a:solidFill>
                <a:latin typeface="Georgia" pitchFamily="34" charset="0"/>
                <a:ea typeface="Georgia" pitchFamily="34" charset="-122"/>
                <a:cs typeface="Georgia" pitchFamily="34" charset="-120"/>
              </a:rPr>
              <a:t>L3</a:t>
            </a:r>
            <a:endParaRPr lang="en-US" sz="8000" dirty="0">
              <a:solidFill>
                <a:srgbClr val="8B1A2B"/>
              </a:solidFill>
            </a:endParaRPr>
          </a:p>
        </p:txBody>
      </p:sp>
      <p:sp>
        <p:nvSpPr>
          <p:cNvPr id="30" name="Text 1">
            <a:extLst>
              <a:ext uri="{FF2B5EF4-FFF2-40B4-BE49-F238E27FC236}">
                <a16:creationId xmlns:a16="http://schemas.microsoft.com/office/drawing/2014/main" id="{B449909A-C7BD-978F-F9EF-16CED6178300}"/>
              </a:ext>
            </a:extLst>
          </p:cNvPr>
          <p:cNvSpPr/>
          <p:nvPr/>
        </p:nvSpPr>
        <p:spPr>
          <a:xfrm>
            <a:off x="9446941" y="1577339"/>
            <a:ext cx="2394539" cy="274320"/>
          </a:xfrm>
          <a:prstGeom prst="rect">
            <a:avLst/>
          </a:prstGeom>
          <a:noFill/>
          <a:ln/>
        </p:spPr>
        <p:txBody>
          <a:bodyPr wrap="square" lIns="0" tIns="0" rIns="0" bIns="0" rtlCol="0" anchor="ctr"/>
          <a:lstStyle/>
          <a:p>
            <a:pPr marL="0" indent="0">
              <a:buNone/>
            </a:pPr>
            <a:r>
              <a:rPr lang="en-US" sz="1200" b="1" kern="0" spc="400" dirty="0">
                <a:solidFill>
                  <a:srgbClr val="8B1A2B"/>
                </a:solidFill>
                <a:latin typeface="Calibri" pitchFamily="34" charset="0"/>
                <a:ea typeface="Calibri" pitchFamily="34" charset="-122"/>
                <a:cs typeface="Calibri" pitchFamily="34" charset="-120"/>
              </a:rPr>
              <a:t>AGENT FRAMEWORKS</a:t>
            </a:r>
            <a:endParaRPr lang="en-US" sz="1200" dirty="0"/>
          </a:p>
        </p:txBody>
      </p:sp>
      <p:sp>
        <p:nvSpPr>
          <p:cNvPr id="31" name="TextBox 30"/>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29 / 43</a:t>
            </a:r>
          </a:p>
        </p:txBody>
      </p:sp>
      <p:sp>
        <p:nvSpPr>
          <p:cNvPr id="3" name="Shape 2">
            <a:extLst>
              <a:ext uri="{FF2B5EF4-FFF2-40B4-BE49-F238E27FC236}">
                <a16:creationId xmlns:a16="http://schemas.microsoft.com/office/drawing/2014/main" id="{DA8DCD94-271A-0BF3-C695-8D8CE68C12AA}"/>
              </a:ext>
              <a:ext uri="{C183D7F6-B498-43B3-948B-1728B52AA6E4}">
                <adec:decorative xmlns:adec="http://schemas.microsoft.com/office/drawing/2017/decorative" val="1"/>
              </a:ext>
            </a:extLst>
          </p:cNvPr>
          <p:cNvSpPr/>
          <p:nvPr/>
        </p:nvSpPr>
        <p:spPr>
          <a:xfrm>
            <a:off x="822960" y="2423160"/>
            <a:ext cx="6675120" cy="1115567"/>
          </a:xfrm>
          <a:prstGeom prst="rect">
            <a:avLst/>
          </a:prstGeom>
          <a:solidFill>
            <a:srgbClr val="8B1A2B"/>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en-US" u="sng" dirty="0"/>
              <a:t>Given this context, what should I do?</a:t>
            </a:r>
          </a:p>
          <a:p>
            <a:pPr>
              <a:spcAft>
                <a:spcPts val="400"/>
              </a:spcAft>
            </a:pPr>
            <a:r>
              <a:rPr lang="en-US" sz="1600" dirty="0">
                <a:solidFill>
                  <a:schemeClr val="bg1"/>
                </a:solidFill>
                <a:latin typeface="Calibri" pitchFamily="34" charset="0"/>
                <a:ea typeface="Calibri" pitchFamily="34" charset="-122"/>
                <a:cs typeface="Calibri" pitchFamily="34" charset="-120"/>
              </a:rPr>
              <a:t>Copilot's framework had no integrity check between who supplied a piece of context and what actions it could trigger.</a:t>
            </a:r>
            <a:endParaRPr lang="en-US" sz="1600" dirty="0">
              <a:solidFill>
                <a:schemeClr val="bg1"/>
              </a:solidFill>
            </a:endParaRPr>
          </a:p>
        </p:txBody>
      </p:sp>
      <p:sp>
        <p:nvSpPr>
          <p:cNvPr id="28" name="Shape 2">
            <a:extLst>
              <a:ext uri="{FF2B5EF4-FFF2-40B4-BE49-F238E27FC236}">
                <a16:creationId xmlns:a16="http://schemas.microsoft.com/office/drawing/2014/main" id="{1707EF33-913E-368E-7826-B599E9C8F317}"/>
              </a:ext>
              <a:ext uri="{C183D7F6-B498-43B3-948B-1728B52AA6E4}">
                <adec:decorative xmlns:adec="http://schemas.microsoft.com/office/drawing/2017/decorative" val="1"/>
              </a:ext>
            </a:extLst>
          </p:cNvPr>
          <p:cNvSpPr/>
          <p:nvPr/>
        </p:nvSpPr>
        <p:spPr>
          <a:xfrm>
            <a:off x="822960" y="3694176"/>
            <a:ext cx="6675120" cy="1344167"/>
          </a:xfrm>
          <a:prstGeom prst="rect">
            <a:avLst/>
          </a:prstGeom>
          <a:solidFill>
            <a:srgbClr val="8B1A2B"/>
          </a:solidFill>
          <a:ln w="12700">
            <a:solidFill>
              <a:srgbClr val="E2E8F0"/>
            </a:solidFill>
            <a:prstDash val="solid"/>
          </a:ln>
        </p:spPr>
        <p:txBody>
          <a:bodyPr/>
          <a:lstStyle/>
          <a:p>
            <a:r>
              <a:rPr lang="en-US" u="sng" dirty="0">
                <a:solidFill>
                  <a:schemeClr val="bg1"/>
                </a:solidFill>
              </a:rPr>
              <a:t>Attack</a:t>
            </a:r>
          </a:p>
          <a:p>
            <a:pPr marL="342900" indent="-342900">
              <a:spcAft>
                <a:spcPts val="400"/>
              </a:spcAft>
              <a:buAutoNum type="arabicPeriod"/>
            </a:pPr>
            <a:r>
              <a:rPr lang="en-US" sz="1600" dirty="0">
                <a:solidFill>
                  <a:schemeClr val="bg1"/>
                </a:solidFill>
                <a:latin typeface="Calibri" pitchFamily="34" charset="0"/>
                <a:ea typeface="Calibri" pitchFamily="34" charset="-122"/>
                <a:cs typeface="Calibri" pitchFamily="34" charset="-120"/>
              </a:rPr>
              <a:t>Text treated as instructions</a:t>
            </a:r>
          </a:p>
          <a:p>
            <a:pPr marL="342900" indent="-342900">
              <a:spcAft>
                <a:spcPts val="400"/>
              </a:spcAft>
              <a:buAutoNum type="arabicPeriod"/>
            </a:pPr>
            <a:r>
              <a:rPr lang="en-US" sz="1600" dirty="0">
                <a:solidFill>
                  <a:schemeClr val="bg1"/>
                </a:solidFill>
                <a:latin typeface="Calibri" pitchFamily="34" charset="0"/>
                <a:cs typeface="Calibri" pitchFamily="34" charset="-120"/>
              </a:rPr>
              <a:t>Sensitive documents allowed in response</a:t>
            </a:r>
          </a:p>
          <a:p>
            <a:pPr marL="342900" indent="-342900">
              <a:spcAft>
                <a:spcPts val="400"/>
              </a:spcAft>
              <a:buAutoNum type="arabicPeriod"/>
            </a:pPr>
            <a:r>
              <a:rPr lang="en-US" sz="1600" dirty="0">
                <a:solidFill>
                  <a:schemeClr val="bg1"/>
                </a:solidFill>
                <a:latin typeface="Calibri" pitchFamily="34" charset="0"/>
                <a:cs typeface="Calibri" pitchFamily="34" charset="-120"/>
              </a:rPr>
              <a:t>Markdown images allowed in response</a:t>
            </a:r>
            <a:endParaRPr lang="en-US" sz="1600" dirty="0">
              <a:solidFill>
                <a:schemeClr val="bg1"/>
              </a:solidFill>
            </a:endParaRPr>
          </a:p>
        </p:txBody>
      </p:sp>
      <p:sp>
        <p:nvSpPr>
          <p:cNvPr id="32" name="Shape 2">
            <a:extLst>
              <a:ext uri="{FF2B5EF4-FFF2-40B4-BE49-F238E27FC236}">
                <a16:creationId xmlns:a16="http://schemas.microsoft.com/office/drawing/2014/main" id="{349F80A5-6A13-423C-FEB9-B326485292B7}"/>
              </a:ext>
              <a:ext uri="{C183D7F6-B498-43B3-948B-1728B52AA6E4}">
                <adec:decorative xmlns:adec="http://schemas.microsoft.com/office/drawing/2017/decorative" val="1"/>
              </a:ext>
            </a:extLst>
          </p:cNvPr>
          <p:cNvSpPr/>
          <p:nvPr/>
        </p:nvSpPr>
        <p:spPr>
          <a:xfrm>
            <a:off x="822960" y="5150358"/>
            <a:ext cx="6675120" cy="777240"/>
          </a:xfrm>
          <a:prstGeom prst="rect">
            <a:avLst/>
          </a:prstGeom>
          <a:solidFill>
            <a:srgbClr val="8B1A2B"/>
          </a:solidFill>
          <a:ln w="12700">
            <a:solidFill>
              <a:srgbClr val="E2E8F0"/>
            </a:solidFill>
            <a:prstDash val="solid"/>
          </a:ln>
        </p:spPr>
        <p:txBody>
          <a:bodyPr/>
          <a:lstStyle/>
          <a:p>
            <a:r>
              <a:rPr lang="en-US" u="sng" dirty="0">
                <a:solidFill>
                  <a:schemeClr val="bg1"/>
                </a:solidFill>
              </a:rPr>
              <a:t>Silence</a:t>
            </a:r>
          </a:p>
          <a:p>
            <a:pPr>
              <a:spcAft>
                <a:spcPts val="400"/>
              </a:spcAft>
            </a:pPr>
            <a:r>
              <a:rPr lang="en-US" sz="1600" dirty="0">
                <a:solidFill>
                  <a:schemeClr val="bg1"/>
                </a:solidFill>
                <a:latin typeface="Calibri" pitchFamily="34" charset="0"/>
                <a:ea typeface="Calibri" pitchFamily="34" charset="-122"/>
                <a:cs typeface="Calibri" pitchFamily="34" charset="-120"/>
              </a:rPr>
              <a:t>No concern that the response had been composed from mixed-trust sources.</a:t>
            </a:r>
            <a:endParaRPr lang="en-US" sz="1600" dirty="0">
              <a:solidFill>
                <a:schemeClr val="bg1"/>
              </a:solidFill>
            </a:endParaRPr>
          </a:p>
          <a:p>
            <a:endParaRPr lang="en-US" u="sng"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66619"/>
    </mc:Choice>
    <mc:Fallback>
      <p:transition spd="slow" advTm="66619"/>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LAYER 2</a:t>
            </a:r>
            <a:endParaRPr lang="en-US" sz="1100" dirty="0"/>
          </a:p>
        </p:txBody>
      </p:sp>
      <p:sp>
        <p:nvSpPr>
          <p:cNvPr id="3" name="Text 1"/>
          <p:cNvSpPr/>
          <p:nvPr/>
        </p:nvSpPr>
        <p:spPr>
          <a:xfrm>
            <a:off x="640080" y="777240"/>
            <a:ext cx="10058400" cy="822960"/>
          </a:xfrm>
          <a:prstGeom prst="rect">
            <a:avLst/>
          </a:prstGeom>
          <a:noFill/>
          <a:ln/>
        </p:spPr>
        <p:txBody>
          <a:bodyPr wrap="square" lIns="0" tIns="0" rIns="0" bIns="0" rtlCol="0" anchor="ctr"/>
          <a:lstStyle/>
          <a:p>
            <a:pPr marL="0" indent="0">
              <a:buNone/>
            </a:pPr>
            <a:r>
              <a:rPr lang="en-US" sz="3800" b="1" dirty="0">
                <a:solidFill>
                  <a:srgbClr val="1E293B"/>
                </a:solidFill>
                <a:latin typeface="Georgia" pitchFamily="34" charset="0"/>
                <a:ea typeface="Georgia" pitchFamily="34" charset="-122"/>
                <a:cs typeface="Georgia" pitchFamily="34" charset="-120"/>
              </a:rPr>
              <a:t>Data Operations</a:t>
            </a:r>
            <a:endParaRPr lang="en-US" sz="3800" dirty="0"/>
          </a:p>
        </p:txBody>
      </p:sp>
      <p:sp>
        <p:nvSpPr>
          <p:cNvPr id="4" name="Text 2"/>
          <p:cNvSpPr/>
          <p:nvPr/>
        </p:nvSpPr>
        <p:spPr>
          <a:xfrm>
            <a:off x="10058400" y="502920"/>
            <a:ext cx="1645920" cy="1280160"/>
          </a:xfrm>
          <a:prstGeom prst="rect">
            <a:avLst/>
          </a:prstGeom>
          <a:noFill/>
          <a:ln/>
        </p:spPr>
        <p:txBody>
          <a:bodyPr wrap="square" lIns="0" tIns="0" rIns="0" bIns="0" rtlCol="0" anchor="ctr"/>
          <a:lstStyle/>
          <a:p>
            <a:pPr marL="0" indent="0" algn="r">
              <a:buNone/>
            </a:pPr>
            <a:r>
              <a:rPr lang="en-US" sz="8000" b="1" dirty="0">
                <a:solidFill>
                  <a:srgbClr val="06B6D4"/>
                </a:solidFill>
                <a:latin typeface="Georgia" pitchFamily="34" charset="0"/>
                <a:ea typeface="Georgia" pitchFamily="34" charset="-122"/>
                <a:cs typeface="Georgia" pitchFamily="34" charset="-120"/>
              </a:rPr>
              <a:t>L2</a:t>
            </a:r>
            <a:endParaRPr lang="en-US" sz="8000" dirty="0"/>
          </a:p>
        </p:txBody>
      </p:sp>
      <p:sp>
        <p:nvSpPr>
          <p:cNvPr id="5" name="Text 3"/>
          <p:cNvSpPr/>
          <p:nvPr/>
        </p:nvSpPr>
        <p:spPr>
          <a:xfrm>
            <a:off x="640080" y="1691640"/>
            <a:ext cx="10058400" cy="457200"/>
          </a:xfrm>
          <a:prstGeom prst="rect">
            <a:avLst/>
          </a:prstGeom>
          <a:noFill/>
          <a:ln/>
        </p:spPr>
        <p:txBody>
          <a:bodyPr wrap="square" lIns="0" tIns="0" rIns="0" bIns="0" rtlCol="0" anchor="ctr"/>
          <a:lstStyle/>
          <a:p>
            <a:pPr marL="0" indent="0">
              <a:buNone/>
            </a:pPr>
            <a:r>
              <a:rPr lang="en-US" i="1" dirty="0">
                <a:solidFill>
                  <a:srgbClr val="475569"/>
                </a:solidFill>
                <a:latin typeface="Calibri" pitchFamily="34" charset="0"/>
                <a:ea typeface="Calibri" pitchFamily="34" charset="-122"/>
                <a:cs typeface="Calibri" pitchFamily="34" charset="-120"/>
              </a:rPr>
              <a:t>Everything around the data: RAG pipelines, vector databases, embeddings, training and fine-tuning sets — the food the model eats.</a:t>
            </a:r>
            <a:endParaRPr lang="en-US" dirty="0"/>
          </a:p>
        </p:txBody>
      </p:sp>
      <p:sp>
        <p:nvSpPr>
          <p:cNvPr id="6" name="Shape 4">
            <a:extLst>
              <a:ext uri="{C183D7F6-B498-43B3-948B-1728B52AA6E4}">
                <adec:decorative xmlns:adec="http://schemas.microsoft.com/office/drawing/2017/decorative" val="1"/>
              </a:ext>
            </a:extLst>
          </p:cNvPr>
          <p:cNvSpPr/>
          <p:nvPr/>
        </p:nvSpPr>
        <p:spPr>
          <a:xfrm>
            <a:off x="640080" y="2194560"/>
            <a:ext cx="10972800" cy="457200"/>
          </a:xfrm>
          <a:prstGeom prst="rect">
            <a:avLst/>
          </a:prstGeom>
          <a:solidFill>
            <a:srgbClr val="F8FAFC"/>
          </a:solidFill>
          <a:ln/>
        </p:spPr>
        <p:txBody>
          <a:bodyPr/>
          <a:lstStyle/>
          <a:p>
            <a:endParaRPr lang="en-US"/>
          </a:p>
        </p:txBody>
      </p:sp>
      <p:sp>
        <p:nvSpPr>
          <p:cNvPr id="7" name="Text 5"/>
          <p:cNvSpPr/>
          <p:nvPr/>
        </p:nvSpPr>
        <p:spPr>
          <a:xfrm>
            <a:off x="777240" y="2194560"/>
            <a:ext cx="1371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Examples</a:t>
            </a:r>
            <a:r>
              <a:rPr lang="en-US" sz="1200" b="1" dirty="0">
                <a:solidFill>
                  <a:srgbClr val="1E293B"/>
                </a:solidFill>
                <a:latin typeface="Calibri" pitchFamily="34" charset="0"/>
                <a:ea typeface="Calibri" pitchFamily="34" charset="-122"/>
                <a:cs typeface="Calibri" pitchFamily="34" charset="-120"/>
              </a:rPr>
              <a:t>:  </a:t>
            </a:r>
            <a:endParaRPr lang="en-US" sz="1200" dirty="0"/>
          </a:p>
        </p:txBody>
      </p:sp>
      <p:sp>
        <p:nvSpPr>
          <p:cNvPr id="8" name="Text 6"/>
          <p:cNvSpPr/>
          <p:nvPr/>
        </p:nvSpPr>
        <p:spPr>
          <a:xfrm>
            <a:off x="1691640" y="2194560"/>
            <a:ext cx="9601200" cy="457200"/>
          </a:xfrm>
          <a:prstGeom prst="rect">
            <a:avLst/>
          </a:prstGeom>
          <a:noFill/>
          <a:ln/>
        </p:spPr>
        <p:txBody>
          <a:bodyPr wrap="square" lIns="0" tIns="0" rIns="0" bIns="0" rtlCol="0" anchor="ctr"/>
          <a:lstStyle/>
          <a:p>
            <a:pPr marL="0" indent="0">
              <a:buNone/>
            </a:pPr>
            <a:r>
              <a:rPr lang="en-US" sz="1400" dirty="0">
                <a:solidFill>
                  <a:srgbClr val="475569"/>
                </a:solidFill>
                <a:latin typeface="Consolas" pitchFamily="34" charset="0"/>
                <a:ea typeface="Consolas" pitchFamily="34" charset="-122"/>
                <a:cs typeface="Consolas" pitchFamily="34" charset="-120"/>
              </a:rPr>
              <a:t>Pinecone - </a:t>
            </a:r>
            <a:r>
              <a:rPr lang="en-US" sz="1400" dirty="0" err="1">
                <a:solidFill>
                  <a:srgbClr val="475569"/>
                </a:solidFill>
                <a:latin typeface="Consolas" pitchFamily="34" charset="0"/>
                <a:ea typeface="Consolas" pitchFamily="34" charset="-122"/>
                <a:cs typeface="Consolas" pitchFamily="34" charset="-120"/>
              </a:rPr>
              <a:t>Qdrant</a:t>
            </a:r>
            <a:r>
              <a:rPr lang="en-US" sz="1400" dirty="0">
                <a:solidFill>
                  <a:srgbClr val="475569"/>
                </a:solidFill>
                <a:latin typeface="Consolas" pitchFamily="34" charset="0"/>
                <a:ea typeface="Consolas" pitchFamily="34" charset="-122"/>
                <a:cs typeface="Consolas" pitchFamily="34" charset="-120"/>
              </a:rPr>
              <a:t> - LangChain RAG - custom embedding pipelines - S3 buckets full of PDFs</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40080" y="2834640"/>
            <a:ext cx="5440680" cy="3017520"/>
          </a:xfrm>
          <a:prstGeom prst="rect">
            <a:avLst/>
          </a:prstGeom>
          <a:solidFill>
            <a:srgbClr val="F8FAFC"/>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640080" y="2834640"/>
            <a:ext cx="73152" cy="3017520"/>
          </a:xfrm>
          <a:prstGeom prst="rect">
            <a:avLst/>
          </a:prstGeom>
          <a:solidFill>
            <a:srgbClr val="F97066"/>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868680" y="3063240"/>
            <a:ext cx="365760" cy="365760"/>
          </a:xfrm>
          <a:prstGeom prst="rect">
            <a:avLst/>
          </a:prstGeom>
        </p:spPr>
      </p:pic>
      <p:sp>
        <p:nvSpPr>
          <p:cNvPr id="12" name="Text 9"/>
          <p:cNvSpPr/>
          <p:nvPr/>
        </p:nvSpPr>
        <p:spPr>
          <a:xfrm>
            <a:off x="1325880" y="3063240"/>
            <a:ext cx="3657600" cy="365760"/>
          </a:xfrm>
          <a:prstGeom prst="rect">
            <a:avLst/>
          </a:prstGeom>
          <a:noFill/>
          <a:ln/>
        </p:spPr>
        <p:txBody>
          <a:bodyPr wrap="square" lIns="0" tIns="0" rIns="0" bIns="0" rtlCol="0" anchor="ctr"/>
          <a:lstStyle/>
          <a:p>
            <a:pPr marL="0" indent="0">
              <a:buNone/>
            </a:pPr>
            <a:r>
              <a:rPr lang="en-US" sz="1600" b="1" kern="0" spc="300" dirty="0">
                <a:solidFill>
                  <a:srgbClr val="F97066"/>
                </a:solidFill>
                <a:latin typeface="Calibri" pitchFamily="34" charset="0"/>
                <a:ea typeface="Calibri" pitchFamily="34" charset="-122"/>
                <a:cs typeface="Calibri" pitchFamily="34" charset="-120"/>
              </a:rPr>
              <a:t>THREATS</a:t>
            </a:r>
            <a:endParaRPr lang="en-US" sz="1600" dirty="0"/>
          </a:p>
        </p:txBody>
      </p:sp>
      <p:sp>
        <p:nvSpPr>
          <p:cNvPr id="13" name="Text 10"/>
          <p:cNvSpPr/>
          <p:nvPr/>
        </p:nvSpPr>
        <p:spPr>
          <a:xfrm>
            <a:off x="86868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Data poisoning — attacker edits a source the agent trusts (your wiki, anyone?)</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Compromised RAG pipelines — embeddings or vector DBs swapped silently</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Backdoor triggers embedded in training or retrieval data</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Data leakage — wrong document surfaced to wrong user</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Misinformation propagation — confidently wrong, at scale</a:t>
            </a:r>
            <a:endParaRPr lang="en-US" sz="1400" b="1" dirty="0"/>
          </a:p>
        </p:txBody>
      </p:sp>
      <p:sp>
        <p:nvSpPr>
          <p:cNvPr id="14" name="Shape 11">
            <a:extLst>
              <a:ext uri="{C183D7F6-B498-43B3-948B-1728B52AA6E4}">
                <adec:decorative xmlns:adec="http://schemas.microsoft.com/office/drawing/2017/decorative" val="1"/>
              </a:ext>
            </a:extLst>
          </p:cNvPr>
          <p:cNvSpPr/>
          <p:nvPr/>
        </p:nvSpPr>
        <p:spPr>
          <a:xfrm>
            <a:off x="6446520" y="2834640"/>
            <a:ext cx="5440680" cy="3017520"/>
          </a:xfrm>
          <a:prstGeom prst="rect">
            <a:avLst/>
          </a:prstGeom>
          <a:solidFill>
            <a:srgbClr val="F8FAFC"/>
          </a:solidFill>
          <a:ln/>
        </p:spPr>
        <p:txBody>
          <a:bodyPr/>
          <a:lstStyle/>
          <a:p>
            <a:endParaRPr lang="en-US"/>
          </a:p>
        </p:txBody>
      </p:sp>
      <p:sp>
        <p:nvSpPr>
          <p:cNvPr id="15" name="Shape 12">
            <a:extLst>
              <a:ext uri="{C183D7F6-B498-43B3-948B-1728B52AA6E4}">
                <adec:decorative xmlns:adec="http://schemas.microsoft.com/office/drawing/2017/decorative" val="1"/>
              </a:ext>
            </a:extLst>
          </p:cNvPr>
          <p:cNvSpPr/>
          <p:nvPr/>
        </p:nvSpPr>
        <p:spPr>
          <a:xfrm>
            <a:off x="6446520" y="2834640"/>
            <a:ext cx="73152" cy="3017520"/>
          </a:xfrm>
          <a:prstGeom prst="rect">
            <a:avLst/>
          </a:prstGeom>
          <a:solidFill>
            <a:srgbClr val="06B6D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675120" y="3063240"/>
            <a:ext cx="365760" cy="365760"/>
          </a:xfrm>
          <a:prstGeom prst="rect">
            <a:avLst/>
          </a:prstGeom>
        </p:spPr>
      </p:pic>
      <p:sp>
        <p:nvSpPr>
          <p:cNvPr id="17" name="Text 13"/>
          <p:cNvSpPr/>
          <p:nvPr/>
        </p:nvSpPr>
        <p:spPr>
          <a:xfrm>
            <a:off x="7132320" y="3063240"/>
            <a:ext cx="3657600" cy="365760"/>
          </a:xfrm>
          <a:prstGeom prst="rect">
            <a:avLst/>
          </a:prstGeom>
          <a:noFill/>
          <a:ln/>
        </p:spPr>
        <p:txBody>
          <a:bodyPr wrap="square" lIns="0" tIns="0" rIns="0" bIns="0" rtlCol="0" anchor="ctr"/>
          <a:lstStyle/>
          <a:p>
            <a:pPr marL="0" indent="0">
              <a:buNone/>
            </a:pPr>
            <a:r>
              <a:rPr lang="en-US" sz="1600" b="1" kern="0" spc="300" dirty="0">
                <a:solidFill>
                  <a:srgbClr val="06B6D4"/>
                </a:solidFill>
                <a:latin typeface="Calibri" pitchFamily="34" charset="0"/>
                <a:ea typeface="Calibri" pitchFamily="34" charset="-122"/>
                <a:cs typeface="Calibri" pitchFamily="34" charset="-120"/>
              </a:rPr>
              <a:t>MITIGATIONS</a:t>
            </a:r>
            <a:endParaRPr lang="en-US" sz="1600" dirty="0"/>
          </a:p>
        </p:txBody>
      </p:sp>
      <p:sp>
        <p:nvSpPr>
          <p:cNvPr id="18" name="Text 14"/>
          <p:cNvSpPr/>
          <p:nvPr/>
        </p:nvSpPr>
        <p:spPr>
          <a:xfrm>
            <a:off x="667512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Signed datasets and dataset version control</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Provenance tracking — where every chunk came from, who wrote it</a:t>
            </a:r>
            <a:endParaRPr lang="en-US" sz="1400" b="1"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Embedding drift monitoring and anomaly detection</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Strict access controls on data sources and RAG indices</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Validation pipelines for ingested content</a:t>
            </a:r>
            <a:endParaRPr lang="en-US" sz="1400" dirty="0"/>
          </a:p>
        </p:txBody>
      </p:sp>
      <p:sp>
        <p:nvSpPr>
          <p:cNvPr id="19" name="Shape 15">
            <a:extLst>
              <a:ext uri="{C183D7F6-B498-43B3-948B-1728B52AA6E4}">
                <adec:decorative xmlns:adec="http://schemas.microsoft.com/office/drawing/2017/decorative" val="1"/>
              </a:ext>
            </a:extLst>
          </p:cNvPr>
          <p:cNvSpPr/>
          <p:nvPr/>
        </p:nvSpPr>
        <p:spPr>
          <a:xfrm>
            <a:off x="640080" y="5989320"/>
            <a:ext cx="10972800" cy="411480"/>
          </a:xfrm>
          <a:prstGeom prst="rect">
            <a:avLst/>
          </a:prstGeom>
          <a:solidFill>
            <a:srgbClr val="0A1628"/>
          </a:solidFill>
          <a:ln/>
        </p:spPr>
        <p:txBody>
          <a:bodyPr/>
          <a:lstStyle/>
          <a:p>
            <a:endParaRPr lang="en-US"/>
          </a:p>
        </p:txBody>
      </p:sp>
      <p:sp>
        <p:nvSpPr>
          <p:cNvPr id="20" name="Text 16"/>
          <p:cNvSpPr/>
          <p:nvPr/>
        </p:nvSpPr>
        <p:spPr>
          <a:xfrm>
            <a:off x="777240" y="5989320"/>
            <a:ext cx="10698480" cy="411480"/>
          </a:xfrm>
          <a:prstGeom prst="rect">
            <a:avLst/>
          </a:prstGeom>
          <a:noFill/>
          <a:ln/>
        </p:spPr>
        <p:txBody>
          <a:bodyPr wrap="square" lIns="0" tIns="0" rIns="0" bIns="0" rtlCol="0" anchor="ctr"/>
          <a:lstStyle/>
          <a:p>
            <a:pPr marL="0" indent="0" algn="ctr">
              <a:buNone/>
            </a:pPr>
            <a:r>
              <a:rPr lang="en-US" i="1" dirty="0">
                <a:solidFill>
                  <a:srgbClr val="F0B429"/>
                </a:solidFill>
                <a:latin typeface="Calibri" pitchFamily="34" charset="0"/>
                <a:ea typeface="Calibri" pitchFamily="34" charset="-122"/>
                <a:cs typeface="Calibri" pitchFamily="34" charset="-120"/>
              </a:rPr>
              <a:t>Studies show one poisoned doc in 100,000 can steer outputs. </a:t>
            </a:r>
            <a:endParaRPr lang="en-US" dirty="0"/>
          </a:p>
        </p:txBody>
      </p:sp>
      <p:sp>
        <p:nvSpPr>
          <p:cNvPr id="22" name="Text 18"/>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3" name="TextBox 22"/>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30 / 43</a:t>
            </a:r>
          </a:p>
        </p:txBody>
      </p:sp>
    </p:spTree>
  </p:cSld>
  <p:clrMapOvr>
    <a:masterClrMapping/>
  </p:clrMapOvr>
  <mc:AlternateContent xmlns:mc="http://schemas.openxmlformats.org/markup-compatibility/2006">
    <mc:Choice xmlns:p14="http://schemas.microsoft.com/office/powerpoint/2010/main" Requires="p14">
      <p:transition spd="slow" p14:dur="2000" advTm="90270"/>
    </mc:Choice>
    <mc:Fallback>
      <p:transition spd="slow" advTm="9027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3" name="Text 1"/>
          <p:cNvSpPr/>
          <p:nvPr/>
        </p:nvSpPr>
        <p:spPr>
          <a:xfrm>
            <a:off x="9775159" y="1511883"/>
            <a:ext cx="2212402" cy="274320"/>
          </a:xfrm>
          <a:prstGeom prst="rect">
            <a:avLst/>
          </a:prstGeom>
          <a:noFill/>
          <a:ln/>
        </p:spPr>
        <p:txBody>
          <a:bodyPr wrap="square" lIns="0" tIns="0" rIns="0" bIns="0" rtlCol="0" anchor="ctr"/>
          <a:lstStyle/>
          <a:p>
            <a:pPr marL="0" indent="0">
              <a:buNone/>
            </a:pPr>
            <a:r>
              <a:rPr lang="en-US" sz="1200" b="1" kern="0" spc="400" dirty="0">
                <a:solidFill>
                  <a:srgbClr val="8B1A2B"/>
                </a:solidFill>
                <a:latin typeface="Calibri" pitchFamily="34" charset="0"/>
                <a:ea typeface="Calibri" pitchFamily="34" charset="-122"/>
                <a:cs typeface="Calibri" pitchFamily="34" charset="-120"/>
              </a:rPr>
              <a:t>DATA OPERATIONS</a:t>
            </a:r>
            <a:endParaRPr lang="en-US" sz="1200" dirty="0"/>
          </a:p>
        </p:txBody>
      </p:sp>
      <p:sp>
        <p:nvSpPr>
          <p:cNvPr id="4" name="Text 2"/>
          <p:cNvSpPr/>
          <p:nvPr/>
        </p:nvSpPr>
        <p:spPr>
          <a:xfrm>
            <a:off x="731520" y="521208"/>
            <a:ext cx="11155680" cy="640080"/>
          </a:xfrm>
          <a:prstGeom prst="rect">
            <a:avLst/>
          </a:prstGeom>
          <a:noFill/>
          <a:ln/>
        </p:spPr>
        <p:txBody>
          <a:bodyPr wrap="square" lIns="0" tIns="0" rIns="0" bIns="0" rtlCol="0" anchor="ctr"/>
          <a:lstStyle/>
          <a:p>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a:t>
            </a:r>
          </a:p>
          <a:p>
            <a:pPr marL="0" indent="0">
              <a:buNone/>
            </a:pPr>
            <a:r>
              <a:rPr lang="en-US" sz="3000" b="1" dirty="0">
                <a:solidFill>
                  <a:srgbClr val="1A1A2E"/>
                </a:solidFill>
                <a:latin typeface="Georgia" pitchFamily="34" charset="0"/>
                <a:ea typeface="Georgia" pitchFamily="34" charset="-122"/>
                <a:cs typeface="Georgia" pitchFamily="34" charset="-120"/>
              </a:rPr>
              <a:t>The Inbox Is a Retrieval Index</a:t>
            </a:r>
            <a:endParaRPr lang="en-US" sz="3000" dirty="0"/>
          </a:p>
        </p:txBody>
      </p:sp>
      <p:sp>
        <p:nvSpPr>
          <p:cNvPr id="5" name="Text 3"/>
          <p:cNvSpPr/>
          <p:nvPr/>
        </p:nvSpPr>
        <p:spPr>
          <a:xfrm>
            <a:off x="731520" y="1325880"/>
            <a:ext cx="10698480" cy="502920"/>
          </a:xfrm>
          <a:prstGeom prst="rect">
            <a:avLst/>
          </a:prstGeom>
          <a:noFill/>
          <a:ln/>
        </p:spPr>
        <p:txBody>
          <a:bodyPr wrap="square" lIns="0" tIns="0" rIns="0" bIns="0" rtlCol="0" anchor="ctr"/>
          <a:lstStyle/>
          <a:p>
            <a:pPr marL="0" indent="0">
              <a:buNone/>
            </a:pPr>
            <a:r>
              <a:rPr lang="en-US" sz="1400" i="1" dirty="0">
                <a:solidFill>
                  <a:srgbClr val="5C5C6E"/>
                </a:solidFill>
                <a:latin typeface="Calibri" pitchFamily="34" charset="0"/>
                <a:ea typeface="Calibri" pitchFamily="34" charset="-122"/>
                <a:cs typeface="Calibri" pitchFamily="34" charset="-120"/>
              </a:rPr>
              <a:t>Anyone with your email address can plant content directly into your AI's knowledge base.</a:t>
            </a:r>
            <a:endParaRPr lang="en-US" sz="1400"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Text 5"/>
          <p:cNvSpPr/>
          <p:nvPr/>
        </p:nvSpPr>
        <p:spPr>
          <a:xfrm>
            <a:off x="731520" y="2103120"/>
            <a:ext cx="64008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WHAT MAESTRO FINDS</a:t>
            </a:r>
            <a:endParaRPr lang="en-US" sz="1100" dirty="0"/>
          </a:p>
        </p:txBody>
      </p:sp>
      <p:sp>
        <p:nvSpPr>
          <p:cNvPr id="9" name="Text 7"/>
          <p:cNvSpPr/>
          <p:nvPr/>
        </p:nvSpPr>
        <p:spPr>
          <a:xfrm>
            <a:off x="7680960" y="2103120"/>
            <a:ext cx="402336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THREAT CLASSES</a:t>
            </a:r>
            <a:endParaRPr lang="en-US" sz="1100" dirty="0"/>
          </a:p>
        </p:txBody>
      </p:sp>
      <p:pic>
        <p:nvPicPr>
          <p:cNvPr id="11" name="Image 0" descr="preencoded.png"/>
          <p:cNvPicPr>
            <a:picLocks noChangeAspect="1"/>
          </p:cNvPicPr>
          <p:nvPr/>
        </p:nvPicPr>
        <p:blipFill>
          <a:blip r:embed="rId3"/>
          <a:stretch>
            <a:fillRect/>
          </a:stretch>
        </p:blipFill>
        <p:spPr>
          <a:xfrm>
            <a:off x="7909560" y="2624328"/>
            <a:ext cx="365760" cy="365760"/>
          </a:xfrm>
          <a:prstGeom prst="rect">
            <a:avLst/>
          </a:prstGeom>
        </p:spPr>
      </p:pic>
      <p:sp>
        <p:nvSpPr>
          <p:cNvPr id="12" name="Text 9"/>
          <p:cNvSpPr/>
          <p:nvPr/>
        </p:nvSpPr>
        <p:spPr>
          <a:xfrm>
            <a:off x="8458200" y="2496312"/>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Untrusted data source</a:t>
            </a:r>
            <a:endParaRPr lang="en-US" sz="1300" dirty="0"/>
          </a:p>
        </p:txBody>
      </p:sp>
      <p:sp>
        <p:nvSpPr>
          <p:cNvPr id="13" name="Text 10"/>
          <p:cNvSpPr/>
          <p:nvPr/>
        </p:nvSpPr>
        <p:spPr>
          <a:xfrm>
            <a:off x="8458200" y="2807208"/>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cs typeface="Calibri" pitchFamily="34" charset="-120"/>
              </a:rPr>
              <a:t>Data is pulled from external sources (email)</a:t>
            </a:r>
            <a:endParaRPr lang="en-US" sz="1200" dirty="0"/>
          </a:p>
        </p:txBody>
      </p:sp>
      <p:pic>
        <p:nvPicPr>
          <p:cNvPr id="15" name="Image 1" descr="preencoded.png"/>
          <p:cNvPicPr>
            <a:picLocks noChangeAspect="1"/>
          </p:cNvPicPr>
          <p:nvPr/>
        </p:nvPicPr>
        <p:blipFill>
          <a:blip r:embed="rId4"/>
          <a:stretch>
            <a:fillRect/>
          </a:stretch>
        </p:blipFill>
        <p:spPr>
          <a:xfrm>
            <a:off x="7909560" y="3529584"/>
            <a:ext cx="365760" cy="365760"/>
          </a:xfrm>
          <a:prstGeom prst="rect">
            <a:avLst/>
          </a:prstGeom>
        </p:spPr>
      </p:pic>
      <p:sp>
        <p:nvSpPr>
          <p:cNvPr id="16" name="Text 12"/>
          <p:cNvSpPr/>
          <p:nvPr/>
        </p:nvSpPr>
        <p:spPr>
          <a:xfrm>
            <a:off x="8458200" y="3401568"/>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Knowledge store poisoning</a:t>
            </a:r>
            <a:endParaRPr lang="en-US" sz="1300" dirty="0"/>
          </a:p>
        </p:txBody>
      </p:sp>
      <p:sp>
        <p:nvSpPr>
          <p:cNvPr id="17" name="Text 13"/>
          <p:cNvSpPr/>
          <p:nvPr/>
        </p:nvSpPr>
        <p:spPr>
          <a:xfrm>
            <a:off x="8458200" y="3712464"/>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Adversarial content can sit next to trusted data.</a:t>
            </a:r>
            <a:endParaRPr lang="en-US" sz="1200" dirty="0"/>
          </a:p>
        </p:txBody>
      </p:sp>
      <p:pic>
        <p:nvPicPr>
          <p:cNvPr id="19" name="Image 2" descr="preencoded.png"/>
          <p:cNvPicPr>
            <a:picLocks noChangeAspect="1"/>
          </p:cNvPicPr>
          <p:nvPr/>
        </p:nvPicPr>
        <p:blipFill>
          <a:blip r:embed="rId5"/>
          <a:stretch>
            <a:fillRect/>
          </a:stretch>
        </p:blipFill>
        <p:spPr>
          <a:xfrm>
            <a:off x="7909560" y="4434840"/>
            <a:ext cx="365760" cy="365760"/>
          </a:xfrm>
          <a:prstGeom prst="rect">
            <a:avLst/>
          </a:prstGeom>
        </p:spPr>
      </p:pic>
      <p:sp>
        <p:nvSpPr>
          <p:cNvPr id="20" name="Text 15"/>
          <p:cNvSpPr/>
          <p:nvPr/>
        </p:nvSpPr>
        <p:spPr>
          <a:xfrm>
            <a:off x="8458200" y="4306824"/>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rPr>
              <a:t>Information bleed</a:t>
            </a:r>
            <a:endParaRPr lang="en-US" sz="1300" dirty="0"/>
          </a:p>
        </p:txBody>
      </p:sp>
      <p:sp>
        <p:nvSpPr>
          <p:cNvPr id="21" name="Text 16"/>
          <p:cNvSpPr/>
          <p:nvPr/>
        </p:nvSpPr>
        <p:spPr>
          <a:xfrm>
            <a:off x="8458200" y="4617720"/>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Attacker text and sensitive docs co-resident at inference.</a:t>
            </a:r>
            <a:endParaRPr lang="en-US" sz="1200" dirty="0"/>
          </a:p>
        </p:txBody>
      </p:sp>
      <p:pic>
        <p:nvPicPr>
          <p:cNvPr id="23" name="Image 3" descr="preencoded.png"/>
          <p:cNvPicPr>
            <a:picLocks noChangeAspect="1"/>
          </p:cNvPicPr>
          <p:nvPr/>
        </p:nvPicPr>
        <p:blipFill>
          <a:blip r:embed="rId6"/>
          <a:stretch>
            <a:fillRect/>
          </a:stretch>
        </p:blipFill>
        <p:spPr>
          <a:xfrm>
            <a:off x="7909560" y="5340096"/>
            <a:ext cx="365760" cy="365760"/>
          </a:xfrm>
          <a:prstGeom prst="rect">
            <a:avLst/>
          </a:prstGeom>
        </p:spPr>
      </p:pic>
      <p:sp>
        <p:nvSpPr>
          <p:cNvPr id="24" name="Text 18"/>
          <p:cNvSpPr/>
          <p:nvPr/>
        </p:nvSpPr>
        <p:spPr>
          <a:xfrm>
            <a:off x="8458200" y="5212080"/>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Many attack paths</a:t>
            </a:r>
            <a:endParaRPr lang="en-US" sz="1300" dirty="0"/>
          </a:p>
        </p:txBody>
      </p:sp>
      <p:sp>
        <p:nvSpPr>
          <p:cNvPr id="25" name="Text 19"/>
          <p:cNvSpPr/>
          <p:nvPr/>
        </p:nvSpPr>
        <p:spPr>
          <a:xfrm>
            <a:off x="8458200" y="5522976"/>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Calendar, SharePoint, Teams: same problem, different doors.</a:t>
            </a:r>
            <a:endParaRPr lang="en-US" sz="1200" dirty="0"/>
          </a:p>
        </p:txBody>
      </p:sp>
      <p:sp>
        <p:nvSpPr>
          <p:cNvPr id="26" name="Shape 20"/>
          <p:cNvSpPr/>
          <p:nvPr/>
        </p:nvSpPr>
        <p:spPr>
          <a:xfrm>
            <a:off x="731520" y="6172200"/>
            <a:ext cx="10698480" cy="457200"/>
          </a:xfrm>
          <a:prstGeom prst="rect">
            <a:avLst/>
          </a:prstGeom>
          <a:solidFill>
            <a:srgbClr val="1A1A2E"/>
          </a:solidFill>
          <a:ln w="12700">
            <a:solidFill>
              <a:srgbClr val="1A1A2E"/>
            </a:solidFill>
            <a:prstDash val="solid"/>
          </a:ln>
        </p:spPr>
        <p:txBody>
          <a:bodyPr/>
          <a:lstStyle/>
          <a:p>
            <a:endParaRPr lang="en-US"/>
          </a:p>
        </p:txBody>
      </p:sp>
      <p:sp>
        <p:nvSpPr>
          <p:cNvPr id="27" name="Text 21"/>
          <p:cNvSpPr/>
          <p:nvPr/>
        </p:nvSpPr>
        <p:spPr>
          <a:xfrm>
            <a:off x="914400" y="6172200"/>
            <a:ext cx="103327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lesson:  </a:t>
            </a:r>
            <a:r>
              <a:rPr lang="en-US" sz="1600" dirty="0">
                <a:solidFill>
                  <a:srgbClr val="FFFFFF"/>
                </a:solidFill>
                <a:latin typeface="Calibri" pitchFamily="34" charset="0"/>
                <a:ea typeface="Calibri" pitchFamily="34" charset="-122"/>
                <a:cs typeface="Calibri" pitchFamily="34" charset="-120"/>
              </a:rPr>
              <a:t>If your AI reads from a channel anyone on the internet can write to, your retrieval index is a public input.</a:t>
            </a:r>
            <a:endParaRPr lang="en-US" sz="1600" dirty="0"/>
          </a:p>
        </p:txBody>
      </p:sp>
      <p:sp>
        <p:nvSpPr>
          <p:cNvPr id="29" name="Text 2">
            <a:extLst>
              <a:ext uri="{FF2B5EF4-FFF2-40B4-BE49-F238E27FC236}">
                <a16:creationId xmlns:a16="http://schemas.microsoft.com/office/drawing/2014/main" id="{B2B8AABF-B90C-EC9A-54C4-865552D1FF9F}"/>
              </a:ext>
            </a:extLst>
          </p:cNvPr>
          <p:cNvSpPr/>
          <p:nvPr/>
        </p:nvSpPr>
        <p:spPr>
          <a:xfrm>
            <a:off x="10058400" y="436014"/>
            <a:ext cx="1645920" cy="1280160"/>
          </a:xfrm>
          <a:prstGeom prst="rect">
            <a:avLst/>
          </a:prstGeom>
          <a:noFill/>
          <a:ln/>
        </p:spPr>
        <p:txBody>
          <a:bodyPr wrap="square" lIns="0" tIns="0" rIns="0" bIns="0" rtlCol="0" anchor="ctr"/>
          <a:lstStyle/>
          <a:p>
            <a:pPr marL="0" indent="0" algn="r">
              <a:buNone/>
            </a:pPr>
            <a:r>
              <a:rPr lang="en-US" sz="8000" b="1" dirty="0">
                <a:solidFill>
                  <a:srgbClr val="8B1A2B"/>
                </a:solidFill>
                <a:latin typeface="Georgia" pitchFamily="34" charset="0"/>
                <a:ea typeface="Georgia" pitchFamily="34" charset="-122"/>
                <a:cs typeface="Georgia" pitchFamily="34" charset="-120"/>
              </a:rPr>
              <a:t>L2</a:t>
            </a:r>
            <a:endParaRPr lang="en-US" sz="8000" dirty="0">
              <a:solidFill>
                <a:srgbClr val="8B1A2B"/>
              </a:solidFill>
            </a:endParaRPr>
          </a:p>
        </p:txBody>
      </p:sp>
      <p:sp>
        <p:nvSpPr>
          <p:cNvPr id="30" name="TextBox 29"/>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31 / 43</a:t>
            </a:r>
          </a:p>
        </p:txBody>
      </p:sp>
      <p:sp>
        <p:nvSpPr>
          <p:cNvPr id="28" name="Shape 2">
            <a:extLst>
              <a:ext uri="{FF2B5EF4-FFF2-40B4-BE49-F238E27FC236}">
                <a16:creationId xmlns:a16="http://schemas.microsoft.com/office/drawing/2014/main" id="{0AC515B1-6B16-1760-4ECF-29828754CAC0}"/>
              </a:ext>
              <a:ext uri="{C183D7F6-B498-43B3-948B-1728B52AA6E4}">
                <adec:decorative xmlns:adec="http://schemas.microsoft.com/office/drawing/2017/decorative" val="1"/>
              </a:ext>
            </a:extLst>
          </p:cNvPr>
          <p:cNvSpPr/>
          <p:nvPr/>
        </p:nvSpPr>
        <p:spPr>
          <a:xfrm>
            <a:off x="822960" y="2423160"/>
            <a:ext cx="6675120" cy="1115567"/>
          </a:xfrm>
          <a:prstGeom prst="rect">
            <a:avLst/>
          </a:prstGeom>
          <a:solidFill>
            <a:srgbClr val="8B1A2B"/>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en-US" u="sng" dirty="0"/>
              <a:t>RAG Engine</a:t>
            </a:r>
          </a:p>
          <a:p>
            <a:pPr>
              <a:spcAft>
                <a:spcPts val="400"/>
              </a:spcAft>
            </a:pPr>
            <a:r>
              <a:rPr lang="en-US" sz="1600" dirty="0">
                <a:solidFill>
                  <a:schemeClr val="bg1"/>
                </a:solidFill>
                <a:latin typeface="Calibri" pitchFamily="34" charset="0"/>
                <a:ea typeface="Calibri" pitchFamily="34" charset="-122"/>
                <a:cs typeface="Calibri" pitchFamily="34" charset="-120"/>
              </a:rPr>
              <a:t>Copilot treats the user's mailbox, SharePoint, OneDrive, and Teams as a unified  retrieval body of work.</a:t>
            </a:r>
            <a:endParaRPr lang="en-US" sz="1600" dirty="0">
              <a:solidFill>
                <a:schemeClr val="bg1"/>
              </a:solidFill>
            </a:endParaRPr>
          </a:p>
        </p:txBody>
      </p:sp>
      <p:sp>
        <p:nvSpPr>
          <p:cNvPr id="31" name="Shape 2">
            <a:extLst>
              <a:ext uri="{FF2B5EF4-FFF2-40B4-BE49-F238E27FC236}">
                <a16:creationId xmlns:a16="http://schemas.microsoft.com/office/drawing/2014/main" id="{59EF23CB-236F-A9BB-C0DA-55EF5198FFA5}"/>
              </a:ext>
              <a:ext uri="{C183D7F6-B498-43B3-948B-1728B52AA6E4}">
                <adec:decorative xmlns:adec="http://schemas.microsoft.com/office/drawing/2017/decorative" val="1"/>
              </a:ext>
            </a:extLst>
          </p:cNvPr>
          <p:cNvSpPr/>
          <p:nvPr/>
        </p:nvSpPr>
        <p:spPr>
          <a:xfrm>
            <a:off x="822960" y="3694176"/>
            <a:ext cx="6675120" cy="1106424"/>
          </a:xfrm>
          <a:prstGeom prst="rect">
            <a:avLst/>
          </a:prstGeom>
          <a:solidFill>
            <a:srgbClr val="8B1A2B"/>
          </a:solidFill>
          <a:ln w="12700">
            <a:solidFill>
              <a:srgbClr val="E2E8F0"/>
            </a:solidFill>
            <a:prstDash val="solid"/>
          </a:ln>
        </p:spPr>
        <p:txBody>
          <a:bodyPr/>
          <a:lstStyle/>
          <a:p>
            <a:r>
              <a:rPr lang="en-US" u="sng" dirty="0">
                <a:solidFill>
                  <a:schemeClr val="bg1"/>
                </a:solidFill>
              </a:rPr>
              <a:t>Attack</a:t>
            </a:r>
          </a:p>
          <a:p>
            <a:pPr>
              <a:spcAft>
                <a:spcPts val="400"/>
              </a:spcAft>
            </a:pPr>
            <a:r>
              <a:rPr lang="en-US" sz="1600" dirty="0">
                <a:solidFill>
                  <a:schemeClr val="bg1"/>
                </a:solidFill>
                <a:latin typeface="Calibri" pitchFamily="34" charset="0"/>
                <a:ea typeface="Calibri" pitchFamily="34" charset="-122"/>
                <a:cs typeface="Calibri" pitchFamily="34" charset="-120"/>
              </a:rPr>
              <a:t>An attacker who can land an email in the inbox can plant content directly into the retrieval index. No authentication. No approval. No review.</a:t>
            </a:r>
            <a:endParaRPr lang="en-US" sz="1600" dirty="0">
              <a:solidFill>
                <a:schemeClr val="bg1"/>
              </a:solidFill>
            </a:endParaRPr>
          </a:p>
          <a:p>
            <a:pPr>
              <a:spcAft>
                <a:spcPts val="400"/>
              </a:spcAft>
            </a:pPr>
            <a:endParaRPr lang="en-US" sz="1600" dirty="0">
              <a:solidFill>
                <a:schemeClr val="bg1"/>
              </a:solidFill>
              <a:latin typeface="Calibri" pitchFamily="34" charset="0"/>
              <a:ea typeface="Calibri" pitchFamily="34" charset="-122"/>
              <a:cs typeface="Calibri" pitchFamily="34" charset="-120"/>
            </a:endParaRPr>
          </a:p>
        </p:txBody>
      </p:sp>
      <p:sp>
        <p:nvSpPr>
          <p:cNvPr id="32" name="Shape 2">
            <a:extLst>
              <a:ext uri="{FF2B5EF4-FFF2-40B4-BE49-F238E27FC236}">
                <a16:creationId xmlns:a16="http://schemas.microsoft.com/office/drawing/2014/main" id="{E95DAE28-24FE-00BF-A6AC-0BF67BF01EF1}"/>
              </a:ext>
              <a:ext uri="{C183D7F6-B498-43B3-948B-1728B52AA6E4}">
                <adec:decorative xmlns:adec="http://schemas.microsoft.com/office/drawing/2017/decorative" val="1"/>
              </a:ext>
            </a:extLst>
          </p:cNvPr>
          <p:cNvSpPr/>
          <p:nvPr/>
        </p:nvSpPr>
        <p:spPr>
          <a:xfrm>
            <a:off x="822960" y="4956048"/>
            <a:ext cx="6675120" cy="971550"/>
          </a:xfrm>
          <a:prstGeom prst="rect">
            <a:avLst/>
          </a:prstGeom>
          <a:solidFill>
            <a:srgbClr val="8B1A2B"/>
          </a:solidFill>
          <a:ln w="12700">
            <a:solidFill>
              <a:srgbClr val="E2E8F0"/>
            </a:solidFill>
            <a:prstDash val="solid"/>
          </a:ln>
        </p:spPr>
        <p:txBody>
          <a:bodyPr/>
          <a:lstStyle/>
          <a:p>
            <a:r>
              <a:rPr lang="en-US" u="sng" dirty="0">
                <a:solidFill>
                  <a:schemeClr val="bg1"/>
                </a:solidFill>
              </a:rPr>
              <a:t>Information Bleed</a:t>
            </a:r>
          </a:p>
          <a:p>
            <a:pPr>
              <a:spcAft>
                <a:spcPts val="400"/>
              </a:spcAft>
            </a:pPr>
            <a:r>
              <a:rPr lang="en-US" sz="1600" dirty="0">
                <a:solidFill>
                  <a:schemeClr val="bg1"/>
                </a:solidFill>
                <a:latin typeface="Calibri" pitchFamily="34" charset="0"/>
                <a:ea typeface="Calibri" pitchFamily="34" charset="-122"/>
                <a:cs typeface="Calibri" pitchFamily="34" charset="-120"/>
              </a:rPr>
              <a:t>Attacker-controlled text and genuinely sensitive enterprise documents end up side-by-side in the same context window.</a:t>
            </a:r>
            <a:endParaRPr lang="en-US" sz="1600" dirty="0">
              <a:solidFill>
                <a:schemeClr val="bg1"/>
              </a:solidFill>
            </a:endParaRPr>
          </a:p>
          <a:p>
            <a:endParaRPr lang="en-US" u="sng"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58690"/>
    </mc:Choice>
    <mc:Fallback>
      <p:transition spd="slow" advTm="5869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LAYER 1  ·  THE SEVEN-LAYER ARCHITECTURE</a:t>
            </a:r>
            <a:endParaRPr lang="en-US" sz="1100" dirty="0"/>
          </a:p>
        </p:txBody>
      </p:sp>
      <p:sp>
        <p:nvSpPr>
          <p:cNvPr id="3" name="Text 1"/>
          <p:cNvSpPr/>
          <p:nvPr/>
        </p:nvSpPr>
        <p:spPr>
          <a:xfrm>
            <a:off x="640080" y="777240"/>
            <a:ext cx="10058400" cy="822960"/>
          </a:xfrm>
          <a:prstGeom prst="rect">
            <a:avLst/>
          </a:prstGeom>
          <a:noFill/>
          <a:ln/>
        </p:spPr>
        <p:txBody>
          <a:bodyPr wrap="square" lIns="0" tIns="0" rIns="0" bIns="0" rtlCol="0" anchor="ctr"/>
          <a:lstStyle/>
          <a:p>
            <a:pPr marL="0" indent="0">
              <a:buNone/>
            </a:pPr>
            <a:r>
              <a:rPr lang="en-US" sz="3800" b="1" dirty="0">
                <a:solidFill>
                  <a:srgbClr val="1E293B"/>
                </a:solidFill>
                <a:latin typeface="Georgia" pitchFamily="34" charset="0"/>
                <a:ea typeface="Georgia" pitchFamily="34" charset="-122"/>
                <a:cs typeface="Georgia" pitchFamily="34" charset="-120"/>
              </a:rPr>
              <a:t>Foundation Models</a:t>
            </a:r>
            <a:endParaRPr lang="en-US" sz="3800" dirty="0"/>
          </a:p>
        </p:txBody>
      </p:sp>
      <p:sp>
        <p:nvSpPr>
          <p:cNvPr id="4" name="Text 2"/>
          <p:cNvSpPr/>
          <p:nvPr/>
        </p:nvSpPr>
        <p:spPr>
          <a:xfrm>
            <a:off x="10058400" y="502920"/>
            <a:ext cx="1645920" cy="1280160"/>
          </a:xfrm>
          <a:prstGeom prst="rect">
            <a:avLst/>
          </a:prstGeom>
          <a:noFill/>
          <a:ln/>
        </p:spPr>
        <p:txBody>
          <a:bodyPr wrap="square" lIns="0" tIns="0" rIns="0" bIns="0" rtlCol="0" anchor="ctr"/>
          <a:lstStyle/>
          <a:p>
            <a:pPr marL="0" indent="0" algn="r">
              <a:buNone/>
            </a:pPr>
            <a:r>
              <a:rPr lang="en-US" sz="8000" b="1" dirty="0">
                <a:solidFill>
                  <a:srgbClr val="06B6D4"/>
                </a:solidFill>
                <a:latin typeface="Georgia" pitchFamily="34" charset="0"/>
                <a:ea typeface="Georgia" pitchFamily="34" charset="-122"/>
                <a:cs typeface="Georgia" pitchFamily="34" charset="-120"/>
              </a:rPr>
              <a:t>L1</a:t>
            </a:r>
            <a:endParaRPr lang="en-US" sz="8000" dirty="0"/>
          </a:p>
        </p:txBody>
      </p:sp>
      <p:sp>
        <p:nvSpPr>
          <p:cNvPr id="5" name="Text 3"/>
          <p:cNvSpPr/>
          <p:nvPr/>
        </p:nvSpPr>
        <p:spPr>
          <a:xfrm>
            <a:off x="640080" y="1691640"/>
            <a:ext cx="10058400" cy="457200"/>
          </a:xfrm>
          <a:prstGeom prst="rect">
            <a:avLst/>
          </a:prstGeom>
          <a:noFill/>
          <a:ln/>
        </p:spPr>
        <p:txBody>
          <a:bodyPr wrap="square" lIns="0" tIns="0" rIns="0" bIns="0" rtlCol="0" anchor="ctr"/>
          <a:lstStyle/>
          <a:p>
            <a:pPr marL="0" indent="0">
              <a:buNone/>
            </a:pPr>
            <a:r>
              <a:rPr lang="en-US" i="1" dirty="0">
                <a:solidFill>
                  <a:srgbClr val="475569"/>
                </a:solidFill>
                <a:latin typeface="Calibri" pitchFamily="34" charset="0"/>
                <a:ea typeface="Calibri" pitchFamily="34" charset="-122"/>
                <a:cs typeface="Calibri" pitchFamily="34" charset="-120"/>
              </a:rPr>
              <a:t>The LLM itself — GPT, Claude, Llama, Gemini. The thing actually doing the reasoning.</a:t>
            </a:r>
            <a:endParaRPr lang="en-US" dirty="0"/>
          </a:p>
        </p:txBody>
      </p:sp>
      <p:sp>
        <p:nvSpPr>
          <p:cNvPr id="6" name="Shape 4">
            <a:extLst>
              <a:ext uri="{C183D7F6-B498-43B3-948B-1728B52AA6E4}">
                <adec:decorative xmlns:adec="http://schemas.microsoft.com/office/drawing/2017/decorative" val="1"/>
              </a:ext>
            </a:extLst>
          </p:cNvPr>
          <p:cNvSpPr/>
          <p:nvPr/>
        </p:nvSpPr>
        <p:spPr>
          <a:xfrm>
            <a:off x="640080" y="2194560"/>
            <a:ext cx="10972800" cy="457200"/>
          </a:xfrm>
          <a:prstGeom prst="rect">
            <a:avLst/>
          </a:prstGeom>
          <a:solidFill>
            <a:srgbClr val="F8FAFC"/>
          </a:solidFill>
          <a:ln/>
        </p:spPr>
        <p:txBody>
          <a:bodyPr/>
          <a:lstStyle/>
          <a:p>
            <a:endParaRPr lang="en-US"/>
          </a:p>
        </p:txBody>
      </p:sp>
      <p:sp>
        <p:nvSpPr>
          <p:cNvPr id="7" name="Text 5"/>
          <p:cNvSpPr/>
          <p:nvPr/>
        </p:nvSpPr>
        <p:spPr>
          <a:xfrm>
            <a:off x="777240" y="2194560"/>
            <a:ext cx="13716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Examples</a:t>
            </a:r>
            <a:r>
              <a:rPr lang="en-US" sz="1200" b="1" dirty="0">
                <a:solidFill>
                  <a:srgbClr val="1E293B"/>
                </a:solidFill>
                <a:latin typeface="Calibri" pitchFamily="34" charset="0"/>
                <a:ea typeface="Calibri" pitchFamily="34" charset="-122"/>
                <a:cs typeface="Calibri" pitchFamily="34" charset="-120"/>
              </a:rPr>
              <a:t>:  </a:t>
            </a:r>
            <a:endParaRPr lang="en-US" sz="1200" dirty="0"/>
          </a:p>
        </p:txBody>
      </p:sp>
      <p:sp>
        <p:nvSpPr>
          <p:cNvPr id="8" name="Text 6"/>
          <p:cNvSpPr/>
          <p:nvPr/>
        </p:nvSpPr>
        <p:spPr>
          <a:xfrm>
            <a:off x="1691640" y="2194560"/>
            <a:ext cx="9601200" cy="457200"/>
          </a:xfrm>
          <a:prstGeom prst="rect">
            <a:avLst/>
          </a:prstGeom>
          <a:noFill/>
          <a:ln/>
        </p:spPr>
        <p:txBody>
          <a:bodyPr wrap="square" lIns="0" tIns="0" rIns="0" bIns="0" rtlCol="0" anchor="ctr"/>
          <a:lstStyle/>
          <a:p>
            <a:pPr marL="0" indent="0">
              <a:buNone/>
            </a:pPr>
            <a:r>
              <a:rPr lang="en-US" sz="1400" dirty="0">
                <a:solidFill>
                  <a:srgbClr val="475569"/>
                </a:solidFill>
                <a:latin typeface="Consolas" pitchFamily="34" charset="0"/>
                <a:ea typeface="Consolas" pitchFamily="34" charset="-122"/>
                <a:cs typeface="Consolas" pitchFamily="34" charset="-120"/>
              </a:rPr>
              <a:t>OpenAI GPT-4o - Anthropic Claude - Google Gemini - Meta Llama - Mistral - custom fine-tunes</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40080" y="2834640"/>
            <a:ext cx="5440680" cy="3017520"/>
          </a:xfrm>
          <a:prstGeom prst="rect">
            <a:avLst/>
          </a:prstGeom>
          <a:solidFill>
            <a:srgbClr val="F8FAFC"/>
          </a:solidFill>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640080" y="2834640"/>
            <a:ext cx="73152" cy="3017520"/>
          </a:xfrm>
          <a:prstGeom prst="rect">
            <a:avLst/>
          </a:prstGeom>
          <a:solidFill>
            <a:srgbClr val="F97066"/>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868680" y="3063240"/>
            <a:ext cx="365760" cy="365760"/>
          </a:xfrm>
          <a:prstGeom prst="rect">
            <a:avLst/>
          </a:prstGeom>
        </p:spPr>
      </p:pic>
      <p:sp>
        <p:nvSpPr>
          <p:cNvPr id="12" name="Text 9"/>
          <p:cNvSpPr/>
          <p:nvPr/>
        </p:nvSpPr>
        <p:spPr>
          <a:xfrm>
            <a:off x="1325880" y="3063240"/>
            <a:ext cx="3657600" cy="365760"/>
          </a:xfrm>
          <a:prstGeom prst="rect">
            <a:avLst/>
          </a:prstGeom>
          <a:noFill/>
          <a:ln/>
        </p:spPr>
        <p:txBody>
          <a:bodyPr wrap="square" lIns="0" tIns="0" rIns="0" bIns="0" rtlCol="0" anchor="ctr"/>
          <a:lstStyle/>
          <a:p>
            <a:pPr marL="0" indent="0">
              <a:buNone/>
            </a:pPr>
            <a:r>
              <a:rPr lang="en-US" sz="1600" b="1" kern="0" spc="300" dirty="0">
                <a:solidFill>
                  <a:srgbClr val="F97066"/>
                </a:solidFill>
                <a:latin typeface="Calibri" pitchFamily="34" charset="0"/>
                <a:ea typeface="Calibri" pitchFamily="34" charset="-122"/>
                <a:cs typeface="Calibri" pitchFamily="34" charset="-120"/>
              </a:rPr>
              <a:t>THREATS</a:t>
            </a:r>
            <a:endParaRPr lang="en-US" sz="1600" dirty="0"/>
          </a:p>
        </p:txBody>
      </p:sp>
      <p:sp>
        <p:nvSpPr>
          <p:cNvPr id="13" name="Text 10"/>
          <p:cNvSpPr/>
          <p:nvPr/>
        </p:nvSpPr>
        <p:spPr>
          <a:xfrm>
            <a:off x="86868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Adversarial examples — crafted inputs that bypass safety training</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Model stealing via massive query exfiltration</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Backdoor attacks — hidden triggers baked into fine-tuning</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Reprogramming via prompts — repurposing the model entirely</a:t>
            </a:r>
            <a:endParaRPr lang="en-US" sz="1400" b="1"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Sponge attacks — DoS via maximum-compute inputs</a:t>
            </a:r>
            <a:endParaRPr lang="en-US" sz="1400" b="1" dirty="0"/>
          </a:p>
        </p:txBody>
      </p:sp>
      <p:sp>
        <p:nvSpPr>
          <p:cNvPr id="14" name="Shape 11">
            <a:extLst>
              <a:ext uri="{C183D7F6-B498-43B3-948B-1728B52AA6E4}">
                <adec:decorative xmlns:adec="http://schemas.microsoft.com/office/drawing/2017/decorative" val="1"/>
              </a:ext>
            </a:extLst>
          </p:cNvPr>
          <p:cNvSpPr/>
          <p:nvPr/>
        </p:nvSpPr>
        <p:spPr>
          <a:xfrm>
            <a:off x="6446520" y="2834640"/>
            <a:ext cx="5440680" cy="3017520"/>
          </a:xfrm>
          <a:prstGeom prst="rect">
            <a:avLst/>
          </a:prstGeom>
          <a:solidFill>
            <a:srgbClr val="F8FAFC"/>
          </a:solidFill>
          <a:ln/>
        </p:spPr>
        <p:txBody>
          <a:bodyPr/>
          <a:lstStyle/>
          <a:p>
            <a:endParaRPr lang="en-US"/>
          </a:p>
        </p:txBody>
      </p:sp>
      <p:sp>
        <p:nvSpPr>
          <p:cNvPr id="15" name="Shape 12">
            <a:extLst>
              <a:ext uri="{C183D7F6-B498-43B3-948B-1728B52AA6E4}">
                <adec:decorative xmlns:adec="http://schemas.microsoft.com/office/drawing/2017/decorative" val="1"/>
              </a:ext>
            </a:extLst>
          </p:cNvPr>
          <p:cNvSpPr/>
          <p:nvPr/>
        </p:nvSpPr>
        <p:spPr>
          <a:xfrm>
            <a:off x="6446520" y="2834640"/>
            <a:ext cx="73152" cy="3017520"/>
          </a:xfrm>
          <a:prstGeom prst="rect">
            <a:avLst/>
          </a:prstGeom>
          <a:solidFill>
            <a:srgbClr val="06B6D4"/>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675120" y="3063240"/>
            <a:ext cx="365760" cy="365760"/>
          </a:xfrm>
          <a:prstGeom prst="rect">
            <a:avLst/>
          </a:prstGeom>
        </p:spPr>
      </p:pic>
      <p:sp>
        <p:nvSpPr>
          <p:cNvPr id="17" name="Text 13"/>
          <p:cNvSpPr/>
          <p:nvPr/>
        </p:nvSpPr>
        <p:spPr>
          <a:xfrm>
            <a:off x="7132320" y="3063240"/>
            <a:ext cx="3657600" cy="365760"/>
          </a:xfrm>
          <a:prstGeom prst="rect">
            <a:avLst/>
          </a:prstGeom>
          <a:noFill/>
          <a:ln/>
        </p:spPr>
        <p:txBody>
          <a:bodyPr wrap="square" lIns="0" tIns="0" rIns="0" bIns="0" rtlCol="0" anchor="ctr"/>
          <a:lstStyle/>
          <a:p>
            <a:pPr marL="0" indent="0">
              <a:buNone/>
            </a:pPr>
            <a:r>
              <a:rPr lang="en-US" sz="1600" b="1" kern="0" spc="300" dirty="0">
                <a:solidFill>
                  <a:srgbClr val="06B6D4"/>
                </a:solidFill>
                <a:latin typeface="Calibri" pitchFamily="34" charset="0"/>
                <a:ea typeface="Calibri" pitchFamily="34" charset="-122"/>
                <a:cs typeface="Calibri" pitchFamily="34" charset="-120"/>
              </a:rPr>
              <a:t>MITIGATIONS</a:t>
            </a:r>
            <a:endParaRPr lang="en-US" sz="1600" dirty="0"/>
          </a:p>
        </p:txBody>
      </p:sp>
      <p:sp>
        <p:nvSpPr>
          <p:cNvPr id="18" name="Text 14"/>
          <p:cNvSpPr/>
          <p:nvPr/>
        </p:nvSpPr>
        <p:spPr>
          <a:xfrm>
            <a:off x="6675120" y="3611880"/>
            <a:ext cx="507492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Model provenance — verify what you ship was what was trained</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Adversarial training and continuous red-teaming</a:t>
            </a:r>
            <a:endParaRPr lang="en-US" sz="1400"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Input/output filtering and content guardrails</a:t>
            </a:r>
            <a:endParaRPr lang="en-US" sz="1400" b="1" dirty="0"/>
          </a:p>
          <a:p>
            <a:pPr marL="342900" indent="-342900">
              <a:spcAft>
                <a:spcPts val="600"/>
              </a:spcAft>
              <a:buSzPct val="100000"/>
              <a:buChar char="•"/>
            </a:pPr>
            <a:r>
              <a:rPr lang="en-US" sz="1400" b="1" dirty="0">
                <a:solidFill>
                  <a:srgbClr val="1E293B"/>
                </a:solidFill>
                <a:latin typeface="Calibri" pitchFamily="34" charset="0"/>
                <a:ea typeface="Calibri" pitchFamily="34" charset="-122"/>
                <a:cs typeface="Calibri" pitchFamily="34" charset="-120"/>
              </a:rPr>
              <a:t>Rate limiting and per-token cost caps</a:t>
            </a:r>
            <a:endParaRPr lang="en-US" sz="1400" b="1"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Cryptographic signing of model artifacts</a:t>
            </a:r>
            <a:endParaRPr lang="en-US" sz="1400" dirty="0"/>
          </a:p>
        </p:txBody>
      </p:sp>
      <p:sp>
        <p:nvSpPr>
          <p:cNvPr id="19" name="Shape 15">
            <a:extLst>
              <a:ext uri="{C183D7F6-B498-43B3-948B-1728B52AA6E4}">
                <adec:decorative xmlns:adec="http://schemas.microsoft.com/office/drawing/2017/decorative" val="1"/>
              </a:ext>
            </a:extLst>
          </p:cNvPr>
          <p:cNvSpPr/>
          <p:nvPr/>
        </p:nvSpPr>
        <p:spPr>
          <a:xfrm>
            <a:off x="640080" y="5989320"/>
            <a:ext cx="10972800" cy="411480"/>
          </a:xfrm>
          <a:prstGeom prst="rect">
            <a:avLst/>
          </a:prstGeom>
          <a:solidFill>
            <a:srgbClr val="0A1628"/>
          </a:solidFill>
          <a:ln/>
        </p:spPr>
        <p:txBody>
          <a:bodyPr/>
          <a:lstStyle/>
          <a:p>
            <a:endParaRPr lang="en-US"/>
          </a:p>
        </p:txBody>
      </p:sp>
      <p:sp>
        <p:nvSpPr>
          <p:cNvPr id="20" name="Text 16"/>
          <p:cNvSpPr/>
          <p:nvPr/>
        </p:nvSpPr>
        <p:spPr>
          <a:xfrm>
            <a:off x="777240" y="5989320"/>
            <a:ext cx="10698480" cy="411480"/>
          </a:xfrm>
          <a:prstGeom prst="rect">
            <a:avLst/>
          </a:prstGeom>
          <a:noFill/>
          <a:ln/>
        </p:spPr>
        <p:txBody>
          <a:bodyPr wrap="square" lIns="0" tIns="0" rIns="0" bIns="0" rtlCol="0" anchor="ctr"/>
          <a:lstStyle/>
          <a:p>
            <a:pPr marL="0" indent="0" algn="ctr">
              <a:buNone/>
            </a:pPr>
            <a:r>
              <a:rPr lang="en-US" i="1" dirty="0">
                <a:solidFill>
                  <a:srgbClr val="F0B429"/>
                </a:solidFill>
                <a:latin typeface="Calibri" pitchFamily="34" charset="0"/>
                <a:ea typeface="Calibri" pitchFamily="34" charset="-122"/>
                <a:cs typeface="Calibri" pitchFamily="34" charset="-120"/>
              </a:rPr>
              <a:t>Foundation models are like foundations. If yours is cracked, no amount of paint upstairs is going to save the house.</a:t>
            </a:r>
            <a:endParaRPr lang="en-US" dirty="0"/>
          </a:p>
        </p:txBody>
      </p:sp>
      <p:sp>
        <p:nvSpPr>
          <p:cNvPr id="22" name="Text 18"/>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3" name="TextBox 22"/>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32 / 43</a:t>
            </a:r>
          </a:p>
        </p:txBody>
      </p:sp>
    </p:spTree>
  </p:cSld>
  <p:clrMapOvr>
    <a:masterClrMapping/>
  </p:clrMapOvr>
  <mc:AlternateContent xmlns:mc="http://schemas.openxmlformats.org/markup-compatibility/2006">
    <mc:Choice xmlns:p14="http://schemas.microsoft.com/office/powerpoint/2010/main" Requires="p14">
      <p:transition spd="slow" p14:dur="2000" advTm="65654"/>
    </mc:Choice>
    <mc:Fallback>
      <p:transition spd="slow" advTm="65654"/>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3" name="Text 1"/>
          <p:cNvSpPr/>
          <p:nvPr/>
        </p:nvSpPr>
        <p:spPr>
          <a:xfrm>
            <a:off x="9384866" y="1481328"/>
            <a:ext cx="2680753" cy="274320"/>
          </a:xfrm>
          <a:prstGeom prst="rect">
            <a:avLst/>
          </a:prstGeom>
          <a:noFill/>
          <a:ln/>
        </p:spPr>
        <p:txBody>
          <a:bodyPr wrap="square" lIns="0" tIns="0" rIns="0" bIns="0" rtlCol="0" anchor="ctr"/>
          <a:lstStyle/>
          <a:p>
            <a:pPr marL="0" indent="0">
              <a:buNone/>
            </a:pPr>
            <a:r>
              <a:rPr lang="en-US" sz="1200" b="1" kern="0" spc="400" dirty="0">
                <a:solidFill>
                  <a:srgbClr val="8B1A2B"/>
                </a:solidFill>
                <a:latin typeface="Calibri" pitchFamily="34" charset="0"/>
                <a:ea typeface="Calibri" pitchFamily="34" charset="-122"/>
                <a:cs typeface="Calibri" pitchFamily="34" charset="-120"/>
              </a:rPr>
              <a:t>FOUNDATION MODELS</a:t>
            </a:r>
            <a:endParaRPr lang="en-US" sz="1200" dirty="0"/>
          </a:p>
        </p:txBody>
      </p:sp>
      <p:sp>
        <p:nvSpPr>
          <p:cNvPr id="4" name="Text 2"/>
          <p:cNvSpPr/>
          <p:nvPr/>
        </p:nvSpPr>
        <p:spPr>
          <a:xfrm>
            <a:off x="731520" y="493776"/>
            <a:ext cx="11155680" cy="850392"/>
          </a:xfrm>
          <a:prstGeom prst="rect">
            <a:avLst/>
          </a:prstGeom>
          <a:noFill/>
          <a:ln/>
        </p:spPr>
        <p:txBody>
          <a:bodyPr wrap="square" lIns="0" tIns="0" rIns="0" bIns="0" rtlCol="0" anchor="ctr"/>
          <a:lstStyle/>
          <a:p>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a:t>
            </a:r>
          </a:p>
          <a:p>
            <a:pPr marL="0" indent="0">
              <a:buNone/>
            </a:pPr>
            <a:r>
              <a:rPr lang="en-US" sz="3000" b="1" dirty="0">
                <a:solidFill>
                  <a:srgbClr val="1A1A2E"/>
                </a:solidFill>
                <a:latin typeface="Georgia" pitchFamily="34" charset="0"/>
                <a:ea typeface="Georgia" pitchFamily="34" charset="-122"/>
                <a:cs typeface="Georgia" pitchFamily="34" charset="-120"/>
              </a:rPr>
              <a:t>The Model Can't Tell Friend From Foe</a:t>
            </a:r>
            <a:endParaRPr lang="en-US" sz="3000" dirty="0"/>
          </a:p>
        </p:txBody>
      </p:sp>
      <p:sp>
        <p:nvSpPr>
          <p:cNvPr id="5" name="Text 3"/>
          <p:cNvSpPr/>
          <p:nvPr/>
        </p:nvSpPr>
        <p:spPr>
          <a:xfrm>
            <a:off x="731520" y="1325880"/>
            <a:ext cx="10698480" cy="502920"/>
          </a:xfrm>
          <a:prstGeom prst="rect">
            <a:avLst/>
          </a:prstGeom>
          <a:noFill/>
          <a:ln/>
        </p:spPr>
        <p:txBody>
          <a:bodyPr wrap="square" lIns="0" tIns="0" rIns="0" bIns="0" rtlCol="0" anchor="ctr"/>
          <a:lstStyle/>
          <a:p>
            <a:pPr marL="0" indent="0">
              <a:buNone/>
            </a:pPr>
            <a:r>
              <a:rPr lang="en-US" sz="1400" i="1" dirty="0">
                <a:solidFill>
                  <a:srgbClr val="5C5C6E"/>
                </a:solidFill>
                <a:latin typeface="Calibri" pitchFamily="34" charset="0"/>
                <a:ea typeface="Calibri" pitchFamily="34" charset="-122"/>
                <a:cs typeface="Calibri" pitchFamily="34" charset="-120"/>
              </a:rPr>
              <a:t>Every token in the context window has equal authority — including the ones a stranger emailed you.</a:t>
            </a:r>
            <a:endParaRPr lang="en-US" sz="1400"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Text 5"/>
          <p:cNvSpPr/>
          <p:nvPr/>
        </p:nvSpPr>
        <p:spPr>
          <a:xfrm>
            <a:off x="731520" y="2103120"/>
            <a:ext cx="64008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WHAT MAESTRO FINDS</a:t>
            </a:r>
            <a:endParaRPr lang="en-US" sz="1100" dirty="0"/>
          </a:p>
        </p:txBody>
      </p:sp>
      <p:sp>
        <p:nvSpPr>
          <p:cNvPr id="9" name="Text 7"/>
          <p:cNvSpPr/>
          <p:nvPr/>
        </p:nvSpPr>
        <p:spPr>
          <a:xfrm>
            <a:off x="7680960" y="2103120"/>
            <a:ext cx="402336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THREAT CLASSES</a:t>
            </a:r>
            <a:endParaRPr lang="en-US" sz="1100" dirty="0"/>
          </a:p>
        </p:txBody>
      </p:sp>
      <p:pic>
        <p:nvPicPr>
          <p:cNvPr id="11" name="Image 0" descr="preencoded.png"/>
          <p:cNvPicPr>
            <a:picLocks noChangeAspect="1"/>
          </p:cNvPicPr>
          <p:nvPr/>
        </p:nvPicPr>
        <p:blipFill>
          <a:blip r:embed="rId3"/>
          <a:stretch>
            <a:fillRect/>
          </a:stretch>
        </p:blipFill>
        <p:spPr>
          <a:xfrm>
            <a:off x="7909560" y="2624328"/>
            <a:ext cx="365760" cy="365760"/>
          </a:xfrm>
          <a:prstGeom prst="rect">
            <a:avLst/>
          </a:prstGeom>
        </p:spPr>
      </p:pic>
      <p:sp>
        <p:nvSpPr>
          <p:cNvPr id="12" name="Text 9"/>
          <p:cNvSpPr/>
          <p:nvPr/>
        </p:nvSpPr>
        <p:spPr>
          <a:xfrm>
            <a:off x="8458200" y="2496312"/>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Indirect prompt injection</a:t>
            </a:r>
            <a:endParaRPr lang="en-US" sz="1300" dirty="0"/>
          </a:p>
        </p:txBody>
      </p:sp>
      <p:sp>
        <p:nvSpPr>
          <p:cNvPr id="13" name="Text 10"/>
          <p:cNvSpPr/>
          <p:nvPr/>
        </p:nvSpPr>
        <p:spPr>
          <a:xfrm>
            <a:off x="8458200" y="2807208"/>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Instructions hidden in retrieved data hijack model behavior.</a:t>
            </a:r>
            <a:endParaRPr lang="en-US" sz="1200" dirty="0"/>
          </a:p>
        </p:txBody>
      </p:sp>
      <p:pic>
        <p:nvPicPr>
          <p:cNvPr id="15" name="Image 1" descr="preencoded.png"/>
          <p:cNvPicPr>
            <a:picLocks noChangeAspect="1"/>
          </p:cNvPicPr>
          <p:nvPr/>
        </p:nvPicPr>
        <p:blipFill>
          <a:blip r:embed="rId4"/>
          <a:stretch>
            <a:fillRect/>
          </a:stretch>
        </p:blipFill>
        <p:spPr>
          <a:xfrm>
            <a:off x="7909560" y="3529584"/>
            <a:ext cx="365760" cy="365760"/>
          </a:xfrm>
          <a:prstGeom prst="rect">
            <a:avLst/>
          </a:prstGeom>
        </p:spPr>
      </p:pic>
      <p:sp>
        <p:nvSpPr>
          <p:cNvPr id="16" name="Text 12"/>
          <p:cNvSpPr/>
          <p:nvPr/>
        </p:nvSpPr>
        <p:spPr>
          <a:xfrm>
            <a:off x="8458200" y="3401568"/>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Unclear chain of custody</a:t>
            </a:r>
            <a:endParaRPr lang="en-US" sz="1300" dirty="0"/>
          </a:p>
        </p:txBody>
      </p:sp>
      <p:sp>
        <p:nvSpPr>
          <p:cNvPr id="17" name="Text 13"/>
          <p:cNvSpPr/>
          <p:nvPr/>
        </p:nvSpPr>
        <p:spPr>
          <a:xfrm>
            <a:off x="8458200" y="3712464"/>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No signal in the context window for who authored what.</a:t>
            </a:r>
            <a:endParaRPr lang="en-US" sz="1200" dirty="0"/>
          </a:p>
        </p:txBody>
      </p:sp>
      <p:pic>
        <p:nvPicPr>
          <p:cNvPr id="19" name="Image 2" descr="preencoded.png"/>
          <p:cNvPicPr>
            <a:picLocks noChangeAspect="1"/>
          </p:cNvPicPr>
          <p:nvPr/>
        </p:nvPicPr>
        <p:blipFill>
          <a:blip r:embed="rId5"/>
          <a:stretch>
            <a:fillRect/>
          </a:stretch>
        </p:blipFill>
        <p:spPr>
          <a:xfrm>
            <a:off x="7909560" y="4434840"/>
            <a:ext cx="365760" cy="365760"/>
          </a:xfrm>
          <a:prstGeom prst="rect">
            <a:avLst/>
          </a:prstGeom>
        </p:spPr>
      </p:pic>
      <p:sp>
        <p:nvSpPr>
          <p:cNvPr id="20" name="Text 15"/>
          <p:cNvSpPr/>
          <p:nvPr/>
        </p:nvSpPr>
        <p:spPr>
          <a:xfrm>
            <a:off x="8458200" y="4306824"/>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Guardrail bypass</a:t>
            </a:r>
            <a:endParaRPr lang="en-US" sz="1300" dirty="0"/>
          </a:p>
        </p:txBody>
      </p:sp>
      <p:sp>
        <p:nvSpPr>
          <p:cNvPr id="21" name="Text 16"/>
          <p:cNvSpPr/>
          <p:nvPr/>
        </p:nvSpPr>
        <p:spPr>
          <a:xfrm>
            <a:off x="8458200" y="4617720"/>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Careful phrasing slipped past XPIA classifiers.</a:t>
            </a:r>
            <a:endParaRPr lang="en-US" sz="1200" dirty="0"/>
          </a:p>
        </p:txBody>
      </p:sp>
      <p:pic>
        <p:nvPicPr>
          <p:cNvPr id="23" name="Image 3" descr="preencoded.png"/>
          <p:cNvPicPr>
            <a:picLocks noChangeAspect="1"/>
          </p:cNvPicPr>
          <p:nvPr/>
        </p:nvPicPr>
        <p:blipFill>
          <a:blip r:embed="rId6"/>
          <a:stretch>
            <a:fillRect/>
          </a:stretch>
        </p:blipFill>
        <p:spPr>
          <a:xfrm>
            <a:off x="7909560" y="5340096"/>
            <a:ext cx="365760" cy="365760"/>
          </a:xfrm>
          <a:prstGeom prst="rect">
            <a:avLst/>
          </a:prstGeom>
        </p:spPr>
      </p:pic>
      <p:sp>
        <p:nvSpPr>
          <p:cNvPr id="24" name="Text 18"/>
          <p:cNvSpPr/>
          <p:nvPr/>
        </p:nvSpPr>
        <p:spPr>
          <a:xfrm>
            <a:off x="8458200" y="5212080"/>
            <a:ext cx="3108960" cy="292608"/>
          </a:xfrm>
          <a:prstGeom prst="rect">
            <a:avLst/>
          </a:prstGeom>
          <a:noFill/>
          <a:ln/>
        </p:spPr>
        <p:txBody>
          <a:bodyPr wrap="square" lIns="0" tIns="0" rIns="0" bIns="0" rtlCol="0" anchor="t"/>
          <a:lstStyle/>
          <a:p>
            <a:pPr marL="0" indent="0">
              <a:buNone/>
            </a:pPr>
            <a:r>
              <a:rPr lang="en-US" sz="1300" b="1" dirty="0">
                <a:solidFill>
                  <a:srgbClr val="1A1A2E"/>
                </a:solidFill>
                <a:latin typeface="Georgia" pitchFamily="34" charset="0"/>
                <a:ea typeface="Georgia" pitchFamily="34" charset="-122"/>
                <a:cs typeface="Georgia" pitchFamily="34" charset="-120"/>
              </a:rPr>
              <a:t>Silent behavior shift</a:t>
            </a:r>
            <a:endParaRPr lang="en-US" sz="1300" dirty="0"/>
          </a:p>
        </p:txBody>
      </p:sp>
      <p:sp>
        <p:nvSpPr>
          <p:cNvPr id="25" name="Text 19"/>
          <p:cNvSpPr/>
          <p:nvPr/>
        </p:nvSpPr>
        <p:spPr>
          <a:xfrm>
            <a:off x="8458200" y="5522976"/>
            <a:ext cx="3108960" cy="384048"/>
          </a:xfrm>
          <a:prstGeom prst="rect">
            <a:avLst/>
          </a:prstGeom>
          <a:noFill/>
          <a:ln/>
        </p:spPr>
        <p:txBody>
          <a:bodyPr wrap="square" lIns="0" tIns="0" rIns="0" bIns="0" rtlCol="0" anchor="t"/>
          <a:lstStyle/>
          <a:p>
            <a:pPr marL="0" indent="0">
              <a:buNone/>
            </a:pPr>
            <a:r>
              <a:rPr lang="en-US" sz="1200" dirty="0">
                <a:solidFill>
                  <a:srgbClr val="5C5C6E"/>
                </a:solidFill>
                <a:latin typeface="Calibri" pitchFamily="34" charset="0"/>
                <a:ea typeface="Calibri" pitchFamily="34" charset="-122"/>
                <a:cs typeface="Calibri" pitchFamily="34" charset="-120"/>
              </a:rPr>
              <a:t>No obvious sign of compromise to the user or the model.</a:t>
            </a:r>
            <a:endParaRPr lang="en-US" sz="1200" dirty="0"/>
          </a:p>
        </p:txBody>
      </p:sp>
      <p:sp>
        <p:nvSpPr>
          <p:cNvPr id="26" name="Shape 20"/>
          <p:cNvSpPr/>
          <p:nvPr/>
        </p:nvSpPr>
        <p:spPr>
          <a:xfrm>
            <a:off x="731520" y="6172200"/>
            <a:ext cx="10698480" cy="457200"/>
          </a:xfrm>
          <a:prstGeom prst="rect">
            <a:avLst/>
          </a:prstGeom>
          <a:solidFill>
            <a:srgbClr val="1A1A2E"/>
          </a:solidFill>
          <a:ln w="12700">
            <a:solidFill>
              <a:srgbClr val="1A1A2E"/>
            </a:solidFill>
            <a:prstDash val="solid"/>
          </a:ln>
        </p:spPr>
        <p:txBody>
          <a:bodyPr/>
          <a:lstStyle/>
          <a:p>
            <a:endParaRPr lang="en-US"/>
          </a:p>
        </p:txBody>
      </p:sp>
      <p:sp>
        <p:nvSpPr>
          <p:cNvPr id="27" name="Text 21"/>
          <p:cNvSpPr/>
          <p:nvPr/>
        </p:nvSpPr>
        <p:spPr>
          <a:xfrm>
            <a:off x="914400" y="6172200"/>
            <a:ext cx="103327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lesson:  </a:t>
            </a:r>
            <a:r>
              <a:rPr lang="en-US" sz="1600" dirty="0">
                <a:solidFill>
                  <a:srgbClr val="FFFFFF"/>
                </a:solidFill>
                <a:latin typeface="Calibri" pitchFamily="34" charset="0"/>
                <a:ea typeface="Calibri" pitchFamily="34" charset="-122"/>
                <a:cs typeface="Calibri" pitchFamily="34" charset="-120"/>
              </a:rPr>
              <a:t>An LLM cannot answer "who said that?" on its own. Provenance must be supplied by the layers above it.</a:t>
            </a:r>
            <a:endParaRPr lang="en-US" sz="1600" dirty="0"/>
          </a:p>
        </p:txBody>
      </p:sp>
      <p:sp>
        <p:nvSpPr>
          <p:cNvPr id="29" name="Text 2">
            <a:extLst>
              <a:ext uri="{FF2B5EF4-FFF2-40B4-BE49-F238E27FC236}">
                <a16:creationId xmlns:a16="http://schemas.microsoft.com/office/drawing/2014/main" id="{4F43CCCF-CFBF-FBE8-CF4C-4DB2A1C22FB0}"/>
              </a:ext>
            </a:extLst>
          </p:cNvPr>
          <p:cNvSpPr/>
          <p:nvPr/>
        </p:nvSpPr>
        <p:spPr>
          <a:xfrm>
            <a:off x="10058400" y="384048"/>
            <a:ext cx="1645920" cy="1280160"/>
          </a:xfrm>
          <a:prstGeom prst="rect">
            <a:avLst/>
          </a:prstGeom>
          <a:noFill/>
          <a:ln/>
        </p:spPr>
        <p:txBody>
          <a:bodyPr wrap="square" lIns="0" tIns="0" rIns="0" bIns="0" rtlCol="0" anchor="ctr"/>
          <a:lstStyle/>
          <a:p>
            <a:pPr marL="0" indent="0" algn="r">
              <a:buNone/>
            </a:pPr>
            <a:r>
              <a:rPr lang="en-US" sz="8000" b="1" dirty="0">
                <a:solidFill>
                  <a:srgbClr val="8B1A2B"/>
                </a:solidFill>
                <a:latin typeface="Georgia" pitchFamily="34" charset="0"/>
                <a:ea typeface="Georgia" pitchFamily="34" charset="-122"/>
                <a:cs typeface="Georgia" pitchFamily="34" charset="-120"/>
              </a:rPr>
              <a:t>L1</a:t>
            </a:r>
            <a:endParaRPr lang="en-US" sz="8000" dirty="0">
              <a:solidFill>
                <a:srgbClr val="8B1A2B"/>
              </a:solidFill>
            </a:endParaRPr>
          </a:p>
        </p:txBody>
      </p:sp>
      <p:sp>
        <p:nvSpPr>
          <p:cNvPr id="30" name="TextBox 29"/>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33 / 43</a:t>
            </a:r>
          </a:p>
        </p:txBody>
      </p:sp>
      <p:sp>
        <p:nvSpPr>
          <p:cNvPr id="28" name="Shape 2">
            <a:extLst>
              <a:ext uri="{FF2B5EF4-FFF2-40B4-BE49-F238E27FC236}">
                <a16:creationId xmlns:a16="http://schemas.microsoft.com/office/drawing/2014/main" id="{E88AF613-1027-E99A-2310-39A76239840D}"/>
              </a:ext>
              <a:ext uri="{C183D7F6-B498-43B3-948B-1728B52AA6E4}">
                <adec:decorative xmlns:adec="http://schemas.microsoft.com/office/drawing/2017/decorative" val="1"/>
              </a:ext>
            </a:extLst>
          </p:cNvPr>
          <p:cNvSpPr/>
          <p:nvPr/>
        </p:nvSpPr>
        <p:spPr>
          <a:xfrm>
            <a:off x="822960" y="2423160"/>
            <a:ext cx="6675120" cy="1115567"/>
          </a:xfrm>
          <a:prstGeom prst="rect">
            <a:avLst/>
          </a:prstGeom>
          <a:solidFill>
            <a:srgbClr val="8B1A2B"/>
          </a:solidFill>
          <a:ln/>
        </p:spPr>
        <p:style>
          <a:lnRef idx="2">
            <a:schemeClr val="accent1">
              <a:shade val="15000"/>
            </a:schemeClr>
          </a:lnRef>
          <a:fillRef idx="1">
            <a:schemeClr val="accent1"/>
          </a:fillRef>
          <a:effectRef idx="0">
            <a:schemeClr val="accent1"/>
          </a:effectRef>
          <a:fontRef idx="minor">
            <a:schemeClr val="lt1"/>
          </a:fontRef>
        </p:style>
        <p:txBody>
          <a:bodyPr/>
          <a:lstStyle/>
          <a:p>
            <a:r>
              <a:rPr lang="en-US" u="sng" dirty="0"/>
              <a:t>Prompt Injection</a:t>
            </a:r>
          </a:p>
          <a:p>
            <a:pPr>
              <a:spcAft>
                <a:spcPts val="400"/>
              </a:spcAft>
            </a:pPr>
            <a:r>
              <a:rPr lang="en-US" sz="1600" dirty="0">
                <a:solidFill>
                  <a:schemeClr val="bg1"/>
                </a:solidFill>
                <a:latin typeface="Calibri" pitchFamily="34" charset="0"/>
                <a:ea typeface="Calibri" pitchFamily="34" charset="-122"/>
                <a:cs typeface="Calibri" pitchFamily="34" charset="-120"/>
              </a:rPr>
              <a:t>The underlying LLM has no reliable way to distinguish a trusted instruction (from the system prompt or the user) from an untrusted one (pulled in from an email body during retrieval).</a:t>
            </a:r>
            <a:endParaRPr lang="en-US" sz="1600" dirty="0">
              <a:solidFill>
                <a:schemeClr val="bg1"/>
              </a:solidFill>
            </a:endParaRPr>
          </a:p>
        </p:txBody>
      </p:sp>
      <p:sp>
        <p:nvSpPr>
          <p:cNvPr id="31" name="Shape 2">
            <a:extLst>
              <a:ext uri="{FF2B5EF4-FFF2-40B4-BE49-F238E27FC236}">
                <a16:creationId xmlns:a16="http://schemas.microsoft.com/office/drawing/2014/main" id="{11C45F03-BF89-688A-BD59-4BF6DEDA53BC}"/>
              </a:ext>
              <a:ext uri="{C183D7F6-B498-43B3-948B-1728B52AA6E4}">
                <adec:decorative xmlns:adec="http://schemas.microsoft.com/office/drawing/2017/decorative" val="1"/>
              </a:ext>
            </a:extLst>
          </p:cNvPr>
          <p:cNvSpPr/>
          <p:nvPr/>
        </p:nvSpPr>
        <p:spPr>
          <a:xfrm>
            <a:off x="822960" y="3758182"/>
            <a:ext cx="6675120" cy="859538"/>
          </a:xfrm>
          <a:prstGeom prst="rect">
            <a:avLst/>
          </a:prstGeom>
          <a:solidFill>
            <a:srgbClr val="8B1A2B"/>
          </a:solidFill>
          <a:ln w="12700">
            <a:solidFill>
              <a:srgbClr val="E2E8F0"/>
            </a:solidFill>
            <a:prstDash val="solid"/>
          </a:ln>
        </p:spPr>
        <p:txBody>
          <a:bodyPr/>
          <a:lstStyle/>
          <a:p>
            <a:r>
              <a:rPr lang="en-US" u="sng" dirty="0">
                <a:solidFill>
                  <a:schemeClr val="bg1"/>
                </a:solidFill>
              </a:rPr>
              <a:t>Attack</a:t>
            </a:r>
          </a:p>
          <a:p>
            <a:pPr>
              <a:spcAft>
                <a:spcPts val="400"/>
              </a:spcAft>
            </a:pPr>
            <a:r>
              <a:rPr lang="en-US" sz="1600" dirty="0">
                <a:solidFill>
                  <a:schemeClr val="bg1"/>
                </a:solidFill>
                <a:latin typeface="Calibri" pitchFamily="34" charset="0"/>
                <a:ea typeface="Calibri" pitchFamily="34" charset="-122"/>
                <a:cs typeface="Calibri" pitchFamily="34" charset="-120"/>
              </a:rPr>
              <a:t>From the model's perspective, it's all just text</a:t>
            </a:r>
            <a:r>
              <a:rPr lang="en-US" sz="1600" dirty="0">
                <a:solidFill>
                  <a:schemeClr val="bg1"/>
                </a:solidFill>
                <a:latin typeface="Calibri" pitchFamily="34" charset="0"/>
                <a:cs typeface="Calibri" pitchFamily="34" charset="-120"/>
              </a:rPr>
              <a:t>. Careful phrasing slipped past XPIA classifiers.</a:t>
            </a:r>
          </a:p>
          <a:p>
            <a:pPr>
              <a:spcAft>
                <a:spcPts val="400"/>
              </a:spcAft>
            </a:pPr>
            <a:endParaRPr lang="en-US" sz="1600" dirty="0">
              <a:solidFill>
                <a:schemeClr val="bg1"/>
              </a:solidFill>
            </a:endParaRPr>
          </a:p>
          <a:p>
            <a:pPr>
              <a:spcAft>
                <a:spcPts val="400"/>
              </a:spcAft>
            </a:pPr>
            <a:endParaRPr lang="en-US" sz="1600" dirty="0">
              <a:solidFill>
                <a:schemeClr val="bg1"/>
              </a:solidFill>
              <a:latin typeface="Calibri" pitchFamily="34" charset="0"/>
              <a:ea typeface="Calibri" pitchFamily="34" charset="-122"/>
              <a:cs typeface="Calibri" pitchFamily="34" charset="-120"/>
            </a:endParaRPr>
          </a:p>
        </p:txBody>
      </p:sp>
      <p:sp>
        <p:nvSpPr>
          <p:cNvPr id="32" name="Shape 2">
            <a:extLst>
              <a:ext uri="{FF2B5EF4-FFF2-40B4-BE49-F238E27FC236}">
                <a16:creationId xmlns:a16="http://schemas.microsoft.com/office/drawing/2014/main" id="{BD9613DF-6B81-C22E-28BD-3F74B1DE33DD}"/>
              </a:ext>
              <a:ext uri="{C183D7F6-B498-43B3-948B-1728B52AA6E4}">
                <adec:decorative xmlns:adec="http://schemas.microsoft.com/office/drawing/2017/decorative" val="1"/>
              </a:ext>
            </a:extLst>
          </p:cNvPr>
          <p:cNvSpPr/>
          <p:nvPr/>
        </p:nvSpPr>
        <p:spPr>
          <a:xfrm>
            <a:off x="822960" y="4800600"/>
            <a:ext cx="6675120" cy="1126998"/>
          </a:xfrm>
          <a:prstGeom prst="rect">
            <a:avLst/>
          </a:prstGeom>
          <a:solidFill>
            <a:srgbClr val="8B1A2B"/>
          </a:solidFill>
          <a:ln w="12700">
            <a:solidFill>
              <a:srgbClr val="E2E8F0"/>
            </a:solidFill>
            <a:prstDash val="solid"/>
          </a:ln>
        </p:spPr>
        <p:txBody>
          <a:bodyPr/>
          <a:lstStyle/>
          <a:p>
            <a:r>
              <a:rPr lang="en-US" u="sng" dirty="0">
                <a:solidFill>
                  <a:schemeClr val="bg1"/>
                </a:solidFill>
              </a:rPr>
              <a:t>No Discrimination</a:t>
            </a:r>
          </a:p>
          <a:p>
            <a:pPr>
              <a:spcAft>
                <a:spcPts val="400"/>
              </a:spcAft>
            </a:pPr>
            <a:r>
              <a:rPr lang="en-US" sz="1600" dirty="0">
                <a:solidFill>
                  <a:schemeClr val="bg1"/>
                </a:solidFill>
                <a:latin typeface="Calibri" pitchFamily="34" charset="0"/>
                <a:ea typeface="Calibri" pitchFamily="34" charset="-122"/>
                <a:cs typeface="Calibri" pitchFamily="34" charset="-120"/>
              </a:rPr>
              <a:t>The attacker wrote natural-language instructions into an email and the model read them as commands worth following, indistinguishable from anything the legitimate user had asked.</a:t>
            </a:r>
            <a:endParaRPr lang="en-US" sz="1600" dirty="0">
              <a:solidFill>
                <a:schemeClr val="bg1"/>
              </a:solidFill>
            </a:endParaRPr>
          </a:p>
          <a:p>
            <a:endParaRPr lang="en-US" u="sng"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57697"/>
    </mc:Choice>
    <mc:Fallback>
      <p:transition spd="slow" advTm="57697"/>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2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lIns="0" tIns="0" rIns="0" bIns="0" rtlCol="0" anchor="ctr"/>
          <a:lstStyle/>
          <a:p>
            <a:pPr marL="0" indent="0">
              <a:buNone/>
            </a:pPr>
            <a:r>
              <a:rPr lang="en-US" sz="3200" b="1" dirty="0">
                <a:solidFill>
                  <a:srgbClr val="E8F1FF"/>
                </a:solidFill>
                <a:latin typeface="Georgia" pitchFamily="34" charset="0"/>
                <a:ea typeface="Georgia" pitchFamily="34" charset="-122"/>
                <a:cs typeface="Georgia" pitchFamily="34" charset="-120"/>
              </a:rPr>
              <a:t>Cross-layer threats: the real nightmare</a:t>
            </a:r>
            <a:endParaRPr lang="en-US" sz="3200" dirty="0"/>
          </a:p>
        </p:txBody>
      </p:sp>
      <p:sp>
        <p:nvSpPr>
          <p:cNvPr id="3" name="Text 1"/>
          <p:cNvSpPr/>
          <p:nvPr/>
        </p:nvSpPr>
        <p:spPr>
          <a:xfrm>
            <a:off x="640080" y="1188720"/>
            <a:ext cx="10972800" cy="365760"/>
          </a:xfrm>
          <a:prstGeom prst="rect">
            <a:avLst/>
          </a:prstGeom>
          <a:noFill/>
          <a:ln/>
        </p:spPr>
        <p:txBody>
          <a:bodyPr wrap="square" lIns="0" tIns="0" rIns="0" bIns="0" rtlCol="0" anchor="ctr"/>
          <a:lstStyle/>
          <a:p>
            <a:pPr marL="0" indent="0">
              <a:buNone/>
            </a:pPr>
            <a:r>
              <a:rPr lang="en-US" i="1" dirty="0">
                <a:solidFill>
                  <a:srgbClr val="F0B429"/>
                </a:solidFill>
                <a:latin typeface="Calibri" pitchFamily="34" charset="0"/>
                <a:ea typeface="Calibri" pitchFamily="34" charset="-122"/>
                <a:cs typeface="Calibri" pitchFamily="34" charset="-120"/>
              </a:rPr>
              <a:t>Single-layer attacks are bad. Cascading attacks are catastrophic.</a:t>
            </a:r>
            <a:endParaRPr lang="en-US" dirty="0"/>
          </a:p>
        </p:txBody>
      </p:sp>
      <p:sp>
        <p:nvSpPr>
          <p:cNvPr id="4" name="Shape 2">
            <a:extLst>
              <a:ext uri="{C183D7F6-B498-43B3-948B-1728B52AA6E4}">
                <adec:decorative xmlns:adec="http://schemas.microsoft.com/office/drawing/2017/decorative" val="1"/>
              </a:ext>
            </a:extLst>
          </p:cNvPr>
          <p:cNvSpPr/>
          <p:nvPr/>
        </p:nvSpPr>
        <p:spPr>
          <a:xfrm>
            <a:off x="457200" y="1691640"/>
            <a:ext cx="2103120" cy="3291840"/>
          </a:xfrm>
          <a:prstGeom prst="rect">
            <a:avLst/>
          </a:prstGeom>
          <a:solidFill>
            <a:srgbClr val="1A2B47"/>
          </a:solidFill>
          <a:ln/>
        </p:spPr>
        <p:txBody>
          <a:bodyPr/>
          <a:lstStyle/>
          <a:p>
            <a:endParaRPr lang="en-US"/>
          </a:p>
        </p:txBody>
      </p:sp>
      <p:sp>
        <p:nvSpPr>
          <p:cNvPr id="5" name="Shape 3">
            <a:extLst>
              <a:ext uri="{C183D7F6-B498-43B3-948B-1728B52AA6E4}">
                <adec:decorative xmlns:adec="http://schemas.microsoft.com/office/drawing/2017/decorative" val="1"/>
              </a:ext>
            </a:extLst>
          </p:cNvPr>
          <p:cNvSpPr/>
          <p:nvPr/>
        </p:nvSpPr>
        <p:spPr>
          <a:xfrm>
            <a:off x="457200" y="1691640"/>
            <a:ext cx="2103120" cy="73152"/>
          </a:xfrm>
          <a:prstGeom prst="rect">
            <a:avLst/>
          </a:prstGeom>
          <a:solidFill>
            <a:srgbClr val="F97066"/>
          </a:solidFill>
          <a:ln/>
        </p:spPr>
        <p:txBody>
          <a:bodyPr/>
          <a:lstStyle/>
          <a:p>
            <a:endParaRPr lang="en-US"/>
          </a:p>
        </p:txBody>
      </p:sp>
      <p:sp>
        <p:nvSpPr>
          <p:cNvPr id="6" name="Shape 4">
            <a:extLst>
              <a:ext uri="{C183D7F6-B498-43B3-948B-1728B52AA6E4}">
                <adec:decorative xmlns:adec="http://schemas.microsoft.com/office/drawing/2017/decorative" val="1"/>
              </a:ext>
            </a:extLst>
          </p:cNvPr>
          <p:cNvSpPr/>
          <p:nvPr/>
        </p:nvSpPr>
        <p:spPr>
          <a:xfrm>
            <a:off x="1234440" y="1920240"/>
            <a:ext cx="548640" cy="548640"/>
          </a:xfrm>
          <a:prstGeom prst="ellipse">
            <a:avLst/>
          </a:prstGeom>
          <a:solidFill>
            <a:srgbClr val="F97066"/>
          </a:solidFill>
          <a:ln/>
        </p:spPr>
        <p:txBody>
          <a:bodyPr/>
          <a:lstStyle/>
          <a:p>
            <a:endParaRPr lang="en-US"/>
          </a:p>
        </p:txBody>
      </p:sp>
      <p:sp>
        <p:nvSpPr>
          <p:cNvPr id="7" name="Text 5"/>
          <p:cNvSpPr/>
          <p:nvPr/>
        </p:nvSpPr>
        <p:spPr>
          <a:xfrm>
            <a:off x="1234440" y="19202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8" name="Text 6"/>
          <p:cNvSpPr/>
          <p:nvPr/>
        </p:nvSpPr>
        <p:spPr>
          <a:xfrm>
            <a:off x="457200" y="2606040"/>
            <a:ext cx="2103120" cy="365760"/>
          </a:xfrm>
          <a:prstGeom prst="rect">
            <a:avLst/>
          </a:prstGeom>
          <a:noFill/>
          <a:ln/>
        </p:spPr>
        <p:txBody>
          <a:bodyPr wrap="square" lIns="0" tIns="0" rIns="0" bIns="0" rtlCol="0" anchor="ctr"/>
          <a:lstStyle/>
          <a:p>
            <a:pPr marL="0" indent="0" algn="ctr">
              <a:buNone/>
            </a:pPr>
            <a:r>
              <a:rPr lang="en-US" sz="1600" b="1" kern="0" spc="200" dirty="0">
                <a:solidFill>
                  <a:srgbClr val="06B6D4"/>
                </a:solidFill>
                <a:latin typeface="Calibri" pitchFamily="34" charset="0"/>
                <a:ea typeface="Calibri" pitchFamily="34" charset="-122"/>
                <a:cs typeface="Calibri" pitchFamily="34" charset="-120"/>
              </a:rPr>
              <a:t>L4</a:t>
            </a:r>
            <a:endParaRPr lang="en-US" sz="1600" dirty="0"/>
          </a:p>
        </p:txBody>
      </p:sp>
      <p:sp>
        <p:nvSpPr>
          <p:cNvPr id="9" name="Text 7"/>
          <p:cNvSpPr/>
          <p:nvPr/>
        </p:nvSpPr>
        <p:spPr>
          <a:xfrm>
            <a:off x="594360" y="3017520"/>
            <a:ext cx="1828800" cy="457200"/>
          </a:xfrm>
          <a:prstGeom prst="rect">
            <a:avLst/>
          </a:prstGeom>
          <a:noFill/>
          <a:ln/>
        </p:spPr>
        <p:txBody>
          <a:bodyPr wrap="square" lIns="0" tIns="0" rIns="0" bIns="0" rtlCol="0" anchor="ctr"/>
          <a:lstStyle/>
          <a:p>
            <a:pPr marL="0" indent="0" algn="ctr">
              <a:buNone/>
            </a:pPr>
            <a:r>
              <a:rPr lang="en-US" b="1" dirty="0">
                <a:solidFill>
                  <a:srgbClr val="E8F1FF"/>
                </a:solidFill>
                <a:latin typeface="Calibri" pitchFamily="34" charset="0"/>
                <a:ea typeface="Calibri" pitchFamily="34" charset="-122"/>
                <a:cs typeface="Calibri" pitchFamily="34" charset="-120"/>
              </a:rPr>
              <a:t>Foothold</a:t>
            </a:r>
            <a:endParaRPr lang="en-US" dirty="0"/>
          </a:p>
        </p:txBody>
      </p:sp>
      <p:sp>
        <p:nvSpPr>
          <p:cNvPr id="10" name="Text 8"/>
          <p:cNvSpPr/>
          <p:nvPr/>
        </p:nvSpPr>
        <p:spPr>
          <a:xfrm>
            <a:off x="640080" y="3520440"/>
            <a:ext cx="1737360" cy="1371600"/>
          </a:xfrm>
          <a:prstGeom prst="rect">
            <a:avLst/>
          </a:prstGeom>
          <a:noFill/>
          <a:ln/>
        </p:spPr>
        <p:txBody>
          <a:bodyPr wrap="square" lIns="0" tIns="0" rIns="0" bIns="0" rtlCol="0" anchor="t"/>
          <a:lstStyle/>
          <a:p>
            <a:pPr marL="0" indent="0" algn="ctr">
              <a:buNone/>
            </a:pPr>
            <a:r>
              <a:rPr lang="en-US" sz="1600" dirty="0">
                <a:solidFill>
                  <a:srgbClr val="B8C9E0"/>
                </a:solidFill>
                <a:latin typeface="Calibri" pitchFamily="34" charset="0"/>
                <a:ea typeface="Calibri" pitchFamily="34" charset="-122"/>
                <a:cs typeface="Calibri" pitchFamily="34" charset="-120"/>
              </a:rPr>
              <a:t>Misconfigured container — attacker gets in via standard infra exploit.</a:t>
            </a:r>
            <a:endParaRPr lang="en-US" sz="1600" dirty="0"/>
          </a:p>
        </p:txBody>
      </p:sp>
      <p:pic>
        <p:nvPicPr>
          <p:cNvPr id="11" name="Image 0" descr="preencoded.png"/>
          <p:cNvPicPr>
            <a:picLocks noChangeAspect="1"/>
          </p:cNvPicPr>
          <p:nvPr/>
        </p:nvPicPr>
        <p:blipFill>
          <a:blip r:embed="rId3"/>
          <a:stretch>
            <a:fillRect/>
          </a:stretch>
        </p:blipFill>
        <p:spPr>
          <a:xfrm>
            <a:off x="2578608" y="3246120"/>
            <a:ext cx="146304" cy="146304"/>
          </a:xfrm>
          <a:prstGeom prst="rect">
            <a:avLst/>
          </a:prstGeom>
        </p:spPr>
      </p:pic>
      <p:sp>
        <p:nvSpPr>
          <p:cNvPr id="12" name="Shape 9">
            <a:extLst>
              <a:ext uri="{C183D7F6-B498-43B3-948B-1728B52AA6E4}">
                <adec:decorative xmlns:adec="http://schemas.microsoft.com/office/drawing/2017/decorative" val="1"/>
              </a:ext>
            </a:extLst>
          </p:cNvPr>
          <p:cNvSpPr/>
          <p:nvPr/>
        </p:nvSpPr>
        <p:spPr>
          <a:xfrm>
            <a:off x="2743200" y="1691640"/>
            <a:ext cx="2103120" cy="3291840"/>
          </a:xfrm>
          <a:prstGeom prst="rect">
            <a:avLst/>
          </a:prstGeom>
          <a:solidFill>
            <a:srgbClr val="1A2B47"/>
          </a:solidFill>
          <a:ln/>
        </p:spPr>
        <p:txBody>
          <a:bodyPr/>
          <a:lstStyle/>
          <a:p>
            <a:endParaRPr lang="en-US"/>
          </a:p>
        </p:txBody>
      </p:sp>
      <p:sp>
        <p:nvSpPr>
          <p:cNvPr id="13" name="Shape 10">
            <a:extLst>
              <a:ext uri="{C183D7F6-B498-43B3-948B-1728B52AA6E4}">
                <adec:decorative xmlns:adec="http://schemas.microsoft.com/office/drawing/2017/decorative" val="1"/>
              </a:ext>
            </a:extLst>
          </p:cNvPr>
          <p:cNvSpPr/>
          <p:nvPr/>
        </p:nvSpPr>
        <p:spPr>
          <a:xfrm>
            <a:off x="2743200" y="1691640"/>
            <a:ext cx="2103120" cy="73152"/>
          </a:xfrm>
          <a:prstGeom prst="rect">
            <a:avLst/>
          </a:prstGeom>
          <a:solidFill>
            <a:srgbClr val="F97066"/>
          </a:solidFill>
          <a:ln/>
        </p:spPr>
        <p:txBody>
          <a:bodyPr/>
          <a:lstStyle/>
          <a:p>
            <a:endParaRPr lang="en-US"/>
          </a:p>
        </p:txBody>
      </p:sp>
      <p:sp>
        <p:nvSpPr>
          <p:cNvPr id="14" name="Shape 11">
            <a:extLst>
              <a:ext uri="{C183D7F6-B498-43B3-948B-1728B52AA6E4}">
                <adec:decorative xmlns:adec="http://schemas.microsoft.com/office/drawing/2017/decorative" val="1"/>
              </a:ext>
            </a:extLst>
          </p:cNvPr>
          <p:cNvSpPr/>
          <p:nvPr/>
        </p:nvSpPr>
        <p:spPr>
          <a:xfrm>
            <a:off x="3520440" y="1920240"/>
            <a:ext cx="548640" cy="548640"/>
          </a:xfrm>
          <a:prstGeom prst="ellipse">
            <a:avLst/>
          </a:prstGeom>
          <a:solidFill>
            <a:srgbClr val="F97066"/>
          </a:solidFill>
          <a:ln/>
        </p:spPr>
        <p:txBody>
          <a:bodyPr/>
          <a:lstStyle/>
          <a:p>
            <a:endParaRPr lang="en-US"/>
          </a:p>
        </p:txBody>
      </p:sp>
      <p:sp>
        <p:nvSpPr>
          <p:cNvPr id="15" name="Text 12"/>
          <p:cNvSpPr/>
          <p:nvPr/>
        </p:nvSpPr>
        <p:spPr>
          <a:xfrm>
            <a:off x="3520440" y="19202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6" name="Text 13"/>
          <p:cNvSpPr/>
          <p:nvPr/>
        </p:nvSpPr>
        <p:spPr>
          <a:xfrm>
            <a:off x="2743200" y="2606040"/>
            <a:ext cx="2103120" cy="365760"/>
          </a:xfrm>
          <a:prstGeom prst="rect">
            <a:avLst/>
          </a:prstGeom>
          <a:noFill/>
          <a:ln/>
        </p:spPr>
        <p:txBody>
          <a:bodyPr wrap="square" lIns="0" tIns="0" rIns="0" bIns="0" rtlCol="0" anchor="ctr"/>
          <a:lstStyle/>
          <a:p>
            <a:pPr marL="0" indent="0" algn="ctr">
              <a:buNone/>
            </a:pPr>
            <a:r>
              <a:rPr lang="en-US" sz="1600" b="1" kern="0" spc="200" dirty="0">
                <a:solidFill>
                  <a:srgbClr val="06B6D4"/>
                </a:solidFill>
                <a:latin typeface="Calibri" pitchFamily="34" charset="0"/>
                <a:ea typeface="Calibri" pitchFamily="34" charset="-122"/>
                <a:cs typeface="Calibri" pitchFamily="34" charset="-120"/>
              </a:rPr>
              <a:t>L4→L2</a:t>
            </a:r>
            <a:endParaRPr lang="en-US" sz="1600" dirty="0"/>
          </a:p>
        </p:txBody>
      </p:sp>
      <p:sp>
        <p:nvSpPr>
          <p:cNvPr id="17" name="Text 14"/>
          <p:cNvSpPr/>
          <p:nvPr/>
        </p:nvSpPr>
        <p:spPr>
          <a:xfrm>
            <a:off x="2880360" y="3017520"/>
            <a:ext cx="1828800" cy="457200"/>
          </a:xfrm>
          <a:prstGeom prst="rect">
            <a:avLst/>
          </a:prstGeom>
          <a:noFill/>
          <a:ln/>
        </p:spPr>
        <p:txBody>
          <a:bodyPr wrap="square" lIns="0" tIns="0" rIns="0" bIns="0" rtlCol="0" anchor="ctr"/>
          <a:lstStyle/>
          <a:p>
            <a:pPr marL="0" indent="0" algn="ctr">
              <a:buNone/>
            </a:pPr>
            <a:r>
              <a:rPr lang="en-US" b="1" dirty="0">
                <a:solidFill>
                  <a:srgbClr val="E8F1FF"/>
                </a:solidFill>
                <a:latin typeface="Calibri" pitchFamily="34" charset="0"/>
                <a:ea typeface="Calibri" pitchFamily="34" charset="-122"/>
                <a:cs typeface="Calibri" pitchFamily="34" charset="-120"/>
              </a:rPr>
              <a:t>Lateral move</a:t>
            </a:r>
            <a:endParaRPr lang="en-US" dirty="0"/>
          </a:p>
        </p:txBody>
      </p:sp>
      <p:sp>
        <p:nvSpPr>
          <p:cNvPr id="18" name="Text 15"/>
          <p:cNvSpPr/>
          <p:nvPr/>
        </p:nvSpPr>
        <p:spPr>
          <a:xfrm>
            <a:off x="2926080" y="3520440"/>
            <a:ext cx="1737360" cy="1371600"/>
          </a:xfrm>
          <a:prstGeom prst="rect">
            <a:avLst/>
          </a:prstGeom>
          <a:noFill/>
          <a:ln/>
        </p:spPr>
        <p:txBody>
          <a:bodyPr wrap="square" lIns="0" tIns="0" rIns="0" bIns="0" rtlCol="0" anchor="t"/>
          <a:lstStyle/>
          <a:p>
            <a:pPr marL="0" indent="0" algn="ctr">
              <a:buNone/>
            </a:pPr>
            <a:r>
              <a:rPr lang="en-US" sz="1600" dirty="0">
                <a:solidFill>
                  <a:srgbClr val="B8C9E0"/>
                </a:solidFill>
                <a:latin typeface="Calibri" pitchFamily="34" charset="0"/>
                <a:ea typeface="Calibri" pitchFamily="34" charset="-122"/>
                <a:cs typeface="Calibri" pitchFamily="34" charset="-120"/>
              </a:rPr>
              <a:t>Pivot to the server hosting the agent’s vector DB.</a:t>
            </a:r>
            <a:endParaRPr lang="en-US" sz="1600" dirty="0"/>
          </a:p>
        </p:txBody>
      </p:sp>
      <p:pic>
        <p:nvPicPr>
          <p:cNvPr id="19" name="Image 1" descr="preencoded.png"/>
          <p:cNvPicPr>
            <a:picLocks noChangeAspect="1"/>
          </p:cNvPicPr>
          <p:nvPr/>
        </p:nvPicPr>
        <p:blipFill>
          <a:blip r:embed="rId3"/>
          <a:stretch>
            <a:fillRect/>
          </a:stretch>
        </p:blipFill>
        <p:spPr>
          <a:xfrm>
            <a:off x="4864608" y="3246120"/>
            <a:ext cx="146304" cy="146304"/>
          </a:xfrm>
          <a:prstGeom prst="rect">
            <a:avLst/>
          </a:prstGeom>
        </p:spPr>
      </p:pic>
      <p:sp>
        <p:nvSpPr>
          <p:cNvPr id="20" name="Shape 16">
            <a:extLst>
              <a:ext uri="{C183D7F6-B498-43B3-948B-1728B52AA6E4}">
                <adec:decorative xmlns:adec="http://schemas.microsoft.com/office/drawing/2017/decorative" val="1"/>
              </a:ext>
            </a:extLst>
          </p:cNvPr>
          <p:cNvSpPr/>
          <p:nvPr/>
        </p:nvSpPr>
        <p:spPr>
          <a:xfrm>
            <a:off x="5029200" y="1691640"/>
            <a:ext cx="2103120" cy="3291840"/>
          </a:xfrm>
          <a:prstGeom prst="rect">
            <a:avLst/>
          </a:prstGeom>
          <a:solidFill>
            <a:srgbClr val="1A2B47"/>
          </a:solidFill>
          <a:ln/>
        </p:spPr>
        <p:txBody>
          <a:bodyPr/>
          <a:lstStyle/>
          <a:p>
            <a:endParaRPr lang="en-US"/>
          </a:p>
        </p:txBody>
      </p:sp>
      <p:sp>
        <p:nvSpPr>
          <p:cNvPr id="21" name="Shape 17">
            <a:extLst>
              <a:ext uri="{C183D7F6-B498-43B3-948B-1728B52AA6E4}">
                <adec:decorative xmlns:adec="http://schemas.microsoft.com/office/drawing/2017/decorative" val="1"/>
              </a:ext>
            </a:extLst>
          </p:cNvPr>
          <p:cNvSpPr/>
          <p:nvPr/>
        </p:nvSpPr>
        <p:spPr>
          <a:xfrm>
            <a:off x="5029200" y="1691640"/>
            <a:ext cx="2103120" cy="73152"/>
          </a:xfrm>
          <a:prstGeom prst="rect">
            <a:avLst/>
          </a:prstGeom>
          <a:solidFill>
            <a:srgbClr val="F97066"/>
          </a:solidFill>
          <a:ln/>
        </p:spPr>
        <p:txBody>
          <a:bodyPr/>
          <a:lstStyle/>
          <a:p>
            <a:endParaRPr lang="en-US"/>
          </a:p>
        </p:txBody>
      </p:sp>
      <p:sp>
        <p:nvSpPr>
          <p:cNvPr id="22" name="Shape 18">
            <a:extLst>
              <a:ext uri="{C183D7F6-B498-43B3-948B-1728B52AA6E4}">
                <adec:decorative xmlns:adec="http://schemas.microsoft.com/office/drawing/2017/decorative" val="1"/>
              </a:ext>
            </a:extLst>
          </p:cNvPr>
          <p:cNvSpPr/>
          <p:nvPr/>
        </p:nvSpPr>
        <p:spPr>
          <a:xfrm>
            <a:off x="5806440" y="1920240"/>
            <a:ext cx="548640" cy="548640"/>
          </a:xfrm>
          <a:prstGeom prst="ellipse">
            <a:avLst/>
          </a:prstGeom>
          <a:solidFill>
            <a:srgbClr val="F97066"/>
          </a:solidFill>
          <a:ln/>
        </p:spPr>
        <p:txBody>
          <a:bodyPr/>
          <a:lstStyle/>
          <a:p>
            <a:endParaRPr lang="en-US"/>
          </a:p>
        </p:txBody>
      </p:sp>
      <p:sp>
        <p:nvSpPr>
          <p:cNvPr id="23" name="Text 19"/>
          <p:cNvSpPr/>
          <p:nvPr/>
        </p:nvSpPr>
        <p:spPr>
          <a:xfrm>
            <a:off x="5806440" y="19202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4" name="Text 20"/>
          <p:cNvSpPr/>
          <p:nvPr/>
        </p:nvSpPr>
        <p:spPr>
          <a:xfrm>
            <a:off x="5029200" y="2606040"/>
            <a:ext cx="2103120" cy="365760"/>
          </a:xfrm>
          <a:prstGeom prst="rect">
            <a:avLst/>
          </a:prstGeom>
          <a:noFill/>
          <a:ln/>
        </p:spPr>
        <p:txBody>
          <a:bodyPr wrap="square" lIns="0" tIns="0" rIns="0" bIns="0" rtlCol="0" anchor="ctr"/>
          <a:lstStyle/>
          <a:p>
            <a:pPr marL="0" indent="0" algn="ctr">
              <a:buNone/>
            </a:pPr>
            <a:r>
              <a:rPr lang="en-US" sz="1600" b="1" kern="0" spc="200" dirty="0">
                <a:solidFill>
                  <a:srgbClr val="06B6D4"/>
                </a:solidFill>
                <a:latin typeface="Calibri" pitchFamily="34" charset="0"/>
                <a:ea typeface="Calibri" pitchFamily="34" charset="-122"/>
                <a:cs typeface="Calibri" pitchFamily="34" charset="-120"/>
              </a:rPr>
              <a:t>L2</a:t>
            </a:r>
            <a:endParaRPr lang="en-US" sz="1600" dirty="0"/>
          </a:p>
        </p:txBody>
      </p:sp>
      <p:sp>
        <p:nvSpPr>
          <p:cNvPr id="25" name="Text 21"/>
          <p:cNvSpPr/>
          <p:nvPr/>
        </p:nvSpPr>
        <p:spPr>
          <a:xfrm>
            <a:off x="5166360" y="3017520"/>
            <a:ext cx="1828800" cy="457200"/>
          </a:xfrm>
          <a:prstGeom prst="rect">
            <a:avLst/>
          </a:prstGeom>
          <a:noFill/>
          <a:ln/>
        </p:spPr>
        <p:txBody>
          <a:bodyPr wrap="square" lIns="0" tIns="0" rIns="0" bIns="0" rtlCol="0" anchor="ctr"/>
          <a:lstStyle/>
          <a:p>
            <a:pPr marL="0" indent="0" algn="ctr">
              <a:buNone/>
            </a:pPr>
            <a:r>
              <a:rPr lang="en-US" b="1" dirty="0">
                <a:solidFill>
                  <a:srgbClr val="E8F1FF"/>
                </a:solidFill>
                <a:latin typeface="Calibri" pitchFamily="34" charset="0"/>
                <a:ea typeface="Calibri" pitchFamily="34" charset="-122"/>
                <a:cs typeface="Calibri" pitchFamily="34" charset="-120"/>
              </a:rPr>
              <a:t>Poison data</a:t>
            </a:r>
            <a:endParaRPr lang="en-US" dirty="0"/>
          </a:p>
        </p:txBody>
      </p:sp>
      <p:sp>
        <p:nvSpPr>
          <p:cNvPr id="26" name="Text 22"/>
          <p:cNvSpPr/>
          <p:nvPr/>
        </p:nvSpPr>
        <p:spPr>
          <a:xfrm>
            <a:off x="5212080" y="3520440"/>
            <a:ext cx="1737360" cy="1371600"/>
          </a:xfrm>
          <a:prstGeom prst="rect">
            <a:avLst/>
          </a:prstGeom>
          <a:noFill/>
          <a:ln/>
        </p:spPr>
        <p:txBody>
          <a:bodyPr wrap="square" lIns="0" tIns="0" rIns="0" bIns="0" rtlCol="0" anchor="t"/>
          <a:lstStyle/>
          <a:p>
            <a:pPr marL="0" indent="0" algn="ctr">
              <a:buNone/>
            </a:pPr>
            <a:r>
              <a:rPr lang="en-US" sz="1600" dirty="0">
                <a:solidFill>
                  <a:srgbClr val="B8C9E0"/>
                </a:solidFill>
                <a:latin typeface="Calibri" pitchFamily="34" charset="0"/>
                <a:ea typeface="Calibri" pitchFamily="34" charset="-122"/>
                <a:cs typeface="Calibri" pitchFamily="34" charset="-120"/>
              </a:rPr>
              <a:t>Inject subtle policy “rules” into the RAG corpus. Quiet, plausible, harmful.</a:t>
            </a:r>
            <a:endParaRPr lang="en-US" sz="1600" dirty="0"/>
          </a:p>
        </p:txBody>
      </p:sp>
      <p:pic>
        <p:nvPicPr>
          <p:cNvPr id="27" name="Image 2" descr="preencoded.png"/>
          <p:cNvPicPr>
            <a:picLocks noChangeAspect="1"/>
          </p:cNvPicPr>
          <p:nvPr/>
        </p:nvPicPr>
        <p:blipFill>
          <a:blip r:embed="rId3"/>
          <a:stretch>
            <a:fillRect/>
          </a:stretch>
        </p:blipFill>
        <p:spPr>
          <a:xfrm>
            <a:off x="7150608" y="3246120"/>
            <a:ext cx="146304" cy="146304"/>
          </a:xfrm>
          <a:prstGeom prst="rect">
            <a:avLst/>
          </a:prstGeom>
        </p:spPr>
      </p:pic>
      <p:sp>
        <p:nvSpPr>
          <p:cNvPr id="28" name="Shape 23">
            <a:extLst>
              <a:ext uri="{C183D7F6-B498-43B3-948B-1728B52AA6E4}">
                <adec:decorative xmlns:adec="http://schemas.microsoft.com/office/drawing/2017/decorative" val="1"/>
              </a:ext>
            </a:extLst>
          </p:cNvPr>
          <p:cNvSpPr/>
          <p:nvPr/>
        </p:nvSpPr>
        <p:spPr>
          <a:xfrm>
            <a:off x="7315200" y="1691640"/>
            <a:ext cx="2103120" cy="3291840"/>
          </a:xfrm>
          <a:prstGeom prst="rect">
            <a:avLst/>
          </a:prstGeom>
          <a:solidFill>
            <a:srgbClr val="1A2B47"/>
          </a:solidFill>
          <a:ln/>
        </p:spPr>
        <p:txBody>
          <a:bodyPr/>
          <a:lstStyle/>
          <a:p>
            <a:endParaRPr lang="en-US"/>
          </a:p>
        </p:txBody>
      </p:sp>
      <p:sp>
        <p:nvSpPr>
          <p:cNvPr id="29" name="Shape 24">
            <a:extLst>
              <a:ext uri="{C183D7F6-B498-43B3-948B-1728B52AA6E4}">
                <adec:decorative xmlns:adec="http://schemas.microsoft.com/office/drawing/2017/decorative" val="1"/>
              </a:ext>
            </a:extLst>
          </p:cNvPr>
          <p:cNvSpPr/>
          <p:nvPr/>
        </p:nvSpPr>
        <p:spPr>
          <a:xfrm>
            <a:off x="7315200" y="1691640"/>
            <a:ext cx="2103120" cy="73152"/>
          </a:xfrm>
          <a:prstGeom prst="rect">
            <a:avLst/>
          </a:prstGeom>
          <a:solidFill>
            <a:srgbClr val="F97066"/>
          </a:solidFill>
          <a:ln/>
        </p:spPr>
        <p:txBody>
          <a:bodyPr/>
          <a:lstStyle/>
          <a:p>
            <a:endParaRPr lang="en-US"/>
          </a:p>
        </p:txBody>
      </p:sp>
      <p:sp>
        <p:nvSpPr>
          <p:cNvPr id="30" name="Shape 25">
            <a:extLst>
              <a:ext uri="{C183D7F6-B498-43B3-948B-1728B52AA6E4}">
                <adec:decorative xmlns:adec="http://schemas.microsoft.com/office/drawing/2017/decorative" val="1"/>
              </a:ext>
            </a:extLst>
          </p:cNvPr>
          <p:cNvSpPr/>
          <p:nvPr/>
        </p:nvSpPr>
        <p:spPr>
          <a:xfrm>
            <a:off x="8092440" y="1920240"/>
            <a:ext cx="548640" cy="548640"/>
          </a:xfrm>
          <a:prstGeom prst="ellipse">
            <a:avLst/>
          </a:prstGeom>
          <a:solidFill>
            <a:srgbClr val="F97066"/>
          </a:solidFill>
          <a:ln/>
        </p:spPr>
        <p:txBody>
          <a:bodyPr/>
          <a:lstStyle/>
          <a:p>
            <a:endParaRPr lang="en-US"/>
          </a:p>
        </p:txBody>
      </p:sp>
      <p:sp>
        <p:nvSpPr>
          <p:cNvPr id="31" name="Text 26"/>
          <p:cNvSpPr/>
          <p:nvPr/>
        </p:nvSpPr>
        <p:spPr>
          <a:xfrm>
            <a:off x="8092440" y="19202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32" name="Text 27"/>
          <p:cNvSpPr/>
          <p:nvPr/>
        </p:nvSpPr>
        <p:spPr>
          <a:xfrm>
            <a:off x="7315200" y="2606040"/>
            <a:ext cx="2103120" cy="365760"/>
          </a:xfrm>
          <a:prstGeom prst="rect">
            <a:avLst/>
          </a:prstGeom>
          <a:noFill/>
          <a:ln/>
        </p:spPr>
        <p:txBody>
          <a:bodyPr wrap="square" lIns="0" tIns="0" rIns="0" bIns="0" rtlCol="0" anchor="ctr"/>
          <a:lstStyle/>
          <a:p>
            <a:pPr marL="0" indent="0" algn="ctr">
              <a:buNone/>
            </a:pPr>
            <a:r>
              <a:rPr lang="en-US" sz="1600" b="1" kern="0" spc="200" dirty="0">
                <a:solidFill>
                  <a:srgbClr val="06B6D4"/>
                </a:solidFill>
                <a:latin typeface="Calibri" pitchFamily="34" charset="0"/>
                <a:ea typeface="Calibri" pitchFamily="34" charset="-122"/>
                <a:cs typeface="Calibri" pitchFamily="34" charset="-120"/>
              </a:rPr>
              <a:t>L1</a:t>
            </a:r>
            <a:endParaRPr lang="en-US" sz="1600" dirty="0"/>
          </a:p>
        </p:txBody>
      </p:sp>
      <p:sp>
        <p:nvSpPr>
          <p:cNvPr id="33" name="Text 28"/>
          <p:cNvSpPr/>
          <p:nvPr/>
        </p:nvSpPr>
        <p:spPr>
          <a:xfrm>
            <a:off x="7452360" y="3017520"/>
            <a:ext cx="1828800" cy="457200"/>
          </a:xfrm>
          <a:prstGeom prst="rect">
            <a:avLst/>
          </a:prstGeom>
          <a:noFill/>
          <a:ln/>
        </p:spPr>
        <p:txBody>
          <a:bodyPr wrap="square" lIns="0" tIns="0" rIns="0" bIns="0" rtlCol="0" anchor="ctr"/>
          <a:lstStyle/>
          <a:p>
            <a:pPr marL="0" indent="0" algn="ctr">
              <a:buNone/>
            </a:pPr>
            <a:r>
              <a:rPr lang="en-US" b="1" dirty="0">
                <a:solidFill>
                  <a:srgbClr val="E8F1FF"/>
                </a:solidFill>
                <a:latin typeface="Calibri" pitchFamily="34" charset="0"/>
                <a:ea typeface="Calibri" pitchFamily="34" charset="-122"/>
                <a:cs typeface="Calibri" pitchFamily="34" charset="-120"/>
              </a:rPr>
              <a:t>Bake into model</a:t>
            </a:r>
            <a:endParaRPr lang="en-US" dirty="0"/>
          </a:p>
        </p:txBody>
      </p:sp>
      <p:sp>
        <p:nvSpPr>
          <p:cNvPr id="34" name="Text 29"/>
          <p:cNvSpPr/>
          <p:nvPr/>
        </p:nvSpPr>
        <p:spPr>
          <a:xfrm>
            <a:off x="7498080" y="3520440"/>
            <a:ext cx="1737360" cy="1371600"/>
          </a:xfrm>
          <a:prstGeom prst="rect">
            <a:avLst/>
          </a:prstGeom>
          <a:noFill/>
          <a:ln/>
        </p:spPr>
        <p:txBody>
          <a:bodyPr wrap="square" lIns="0" tIns="0" rIns="0" bIns="0" rtlCol="0" anchor="t"/>
          <a:lstStyle/>
          <a:p>
            <a:pPr marL="0" indent="0" algn="ctr">
              <a:buNone/>
            </a:pPr>
            <a:r>
              <a:rPr lang="en-US" sz="1600" dirty="0">
                <a:solidFill>
                  <a:srgbClr val="B8C9E0"/>
                </a:solidFill>
                <a:latin typeface="Calibri" pitchFamily="34" charset="0"/>
                <a:ea typeface="Calibri" pitchFamily="34" charset="-122"/>
                <a:cs typeface="Calibri" pitchFamily="34" charset="-120"/>
              </a:rPr>
              <a:t>Next fine-tune ingests the poison. Now it’s in the weights — un-cleanable.</a:t>
            </a:r>
            <a:endParaRPr lang="en-US" sz="1600" dirty="0"/>
          </a:p>
        </p:txBody>
      </p:sp>
      <p:pic>
        <p:nvPicPr>
          <p:cNvPr id="35" name="Image 3" descr="preencoded.png"/>
          <p:cNvPicPr>
            <a:picLocks noChangeAspect="1"/>
          </p:cNvPicPr>
          <p:nvPr/>
        </p:nvPicPr>
        <p:blipFill>
          <a:blip r:embed="rId3"/>
          <a:stretch>
            <a:fillRect/>
          </a:stretch>
        </p:blipFill>
        <p:spPr>
          <a:xfrm>
            <a:off x="9436608" y="3246120"/>
            <a:ext cx="146304" cy="146304"/>
          </a:xfrm>
          <a:prstGeom prst="rect">
            <a:avLst/>
          </a:prstGeom>
        </p:spPr>
      </p:pic>
      <p:sp>
        <p:nvSpPr>
          <p:cNvPr id="36" name="Shape 30">
            <a:extLst>
              <a:ext uri="{C183D7F6-B498-43B3-948B-1728B52AA6E4}">
                <adec:decorative xmlns:adec="http://schemas.microsoft.com/office/drawing/2017/decorative" val="1"/>
              </a:ext>
            </a:extLst>
          </p:cNvPr>
          <p:cNvSpPr/>
          <p:nvPr/>
        </p:nvSpPr>
        <p:spPr>
          <a:xfrm>
            <a:off x="9601200" y="1691640"/>
            <a:ext cx="2103120" cy="3291840"/>
          </a:xfrm>
          <a:prstGeom prst="rect">
            <a:avLst/>
          </a:prstGeom>
          <a:solidFill>
            <a:srgbClr val="1A2B47"/>
          </a:solidFill>
          <a:ln/>
        </p:spPr>
        <p:txBody>
          <a:bodyPr/>
          <a:lstStyle/>
          <a:p>
            <a:endParaRPr lang="en-US"/>
          </a:p>
        </p:txBody>
      </p:sp>
      <p:sp>
        <p:nvSpPr>
          <p:cNvPr id="37" name="Shape 31">
            <a:extLst>
              <a:ext uri="{C183D7F6-B498-43B3-948B-1728B52AA6E4}">
                <adec:decorative xmlns:adec="http://schemas.microsoft.com/office/drawing/2017/decorative" val="1"/>
              </a:ext>
            </a:extLst>
          </p:cNvPr>
          <p:cNvSpPr/>
          <p:nvPr/>
        </p:nvSpPr>
        <p:spPr>
          <a:xfrm>
            <a:off x="9601200" y="1691640"/>
            <a:ext cx="2103120" cy="73152"/>
          </a:xfrm>
          <a:prstGeom prst="rect">
            <a:avLst/>
          </a:prstGeom>
          <a:solidFill>
            <a:srgbClr val="F97066"/>
          </a:solidFill>
          <a:ln/>
        </p:spPr>
        <p:txBody>
          <a:bodyPr/>
          <a:lstStyle/>
          <a:p>
            <a:endParaRPr lang="en-US"/>
          </a:p>
        </p:txBody>
      </p:sp>
      <p:sp>
        <p:nvSpPr>
          <p:cNvPr id="38" name="Shape 32">
            <a:extLst>
              <a:ext uri="{C183D7F6-B498-43B3-948B-1728B52AA6E4}">
                <adec:decorative xmlns:adec="http://schemas.microsoft.com/office/drawing/2017/decorative" val="1"/>
              </a:ext>
            </a:extLst>
          </p:cNvPr>
          <p:cNvSpPr/>
          <p:nvPr/>
        </p:nvSpPr>
        <p:spPr>
          <a:xfrm>
            <a:off x="10378440" y="1920240"/>
            <a:ext cx="548640" cy="548640"/>
          </a:xfrm>
          <a:prstGeom prst="ellipse">
            <a:avLst/>
          </a:prstGeom>
          <a:solidFill>
            <a:srgbClr val="F97066"/>
          </a:solidFill>
          <a:ln/>
        </p:spPr>
        <p:txBody>
          <a:bodyPr/>
          <a:lstStyle/>
          <a:p>
            <a:endParaRPr lang="en-US"/>
          </a:p>
        </p:txBody>
      </p:sp>
      <p:sp>
        <p:nvSpPr>
          <p:cNvPr id="39" name="Text 33"/>
          <p:cNvSpPr/>
          <p:nvPr/>
        </p:nvSpPr>
        <p:spPr>
          <a:xfrm>
            <a:off x="10378440" y="19202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40" name="Text 34"/>
          <p:cNvSpPr/>
          <p:nvPr/>
        </p:nvSpPr>
        <p:spPr>
          <a:xfrm>
            <a:off x="9601200" y="2606040"/>
            <a:ext cx="2103120" cy="365760"/>
          </a:xfrm>
          <a:prstGeom prst="rect">
            <a:avLst/>
          </a:prstGeom>
          <a:noFill/>
          <a:ln/>
        </p:spPr>
        <p:txBody>
          <a:bodyPr wrap="square" lIns="0" tIns="0" rIns="0" bIns="0" rtlCol="0" anchor="ctr"/>
          <a:lstStyle/>
          <a:p>
            <a:pPr marL="0" indent="0" algn="ctr">
              <a:buNone/>
            </a:pPr>
            <a:r>
              <a:rPr lang="en-US" sz="1600" b="1" kern="0" spc="200" dirty="0">
                <a:solidFill>
                  <a:srgbClr val="06B6D4"/>
                </a:solidFill>
                <a:latin typeface="Calibri" pitchFamily="34" charset="0"/>
                <a:ea typeface="Calibri" pitchFamily="34" charset="-122"/>
                <a:cs typeface="Calibri" pitchFamily="34" charset="-120"/>
              </a:rPr>
              <a:t>L7</a:t>
            </a:r>
            <a:endParaRPr lang="en-US" sz="1600" dirty="0"/>
          </a:p>
        </p:txBody>
      </p:sp>
      <p:sp>
        <p:nvSpPr>
          <p:cNvPr id="41" name="Text 35"/>
          <p:cNvSpPr/>
          <p:nvPr/>
        </p:nvSpPr>
        <p:spPr>
          <a:xfrm>
            <a:off x="9738360" y="3017520"/>
            <a:ext cx="1828800" cy="457200"/>
          </a:xfrm>
          <a:prstGeom prst="rect">
            <a:avLst/>
          </a:prstGeom>
          <a:noFill/>
          <a:ln/>
        </p:spPr>
        <p:txBody>
          <a:bodyPr wrap="square" lIns="0" tIns="0" rIns="0" bIns="0" rtlCol="0" anchor="ctr"/>
          <a:lstStyle/>
          <a:p>
            <a:pPr marL="0" indent="0" algn="ctr">
              <a:buNone/>
            </a:pPr>
            <a:r>
              <a:rPr lang="en-US" b="1" dirty="0">
                <a:solidFill>
                  <a:srgbClr val="E8F1FF"/>
                </a:solidFill>
                <a:latin typeface="Calibri" pitchFamily="34" charset="0"/>
                <a:ea typeface="Calibri" pitchFamily="34" charset="-122"/>
                <a:cs typeface="Calibri" pitchFamily="34" charset="-120"/>
              </a:rPr>
              <a:t>Cascade</a:t>
            </a:r>
            <a:endParaRPr lang="en-US" dirty="0"/>
          </a:p>
        </p:txBody>
      </p:sp>
      <p:sp>
        <p:nvSpPr>
          <p:cNvPr id="42" name="Text 36"/>
          <p:cNvSpPr/>
          <p:nvPr/>
        </p:nvSpPr>
        <p:spPr>
          <a:xfrm>
            <a:off x="9784080" y="3520440"/>
            <a:ext cx="1737360" cy="1371600"/>
          </a:xfrm>
          <a:prstGeom prst="rect">
            <a:avLst/>
          </a:prstGeom>
          <a:noFill/>
          <a:ln/>
        </p:spPr>
        <p:txBody>
          <a:bodyPr wrap="square" lIns="0" tIns="0" rIns="0" bIns="0" rtlCol="0" anchor="t"/>
          <a:lstStyle/>
          <a:p>
            <a:pPr marL="0" indent="0" algn="ctr">
              <a:buNone/>
            </a:pPr>
            <a:r>
              <a:rPr lang="en-US" sz="1600" dirty="0">
                <a:solidFill>
                  <a:srgbClr val="B8C9E0"/>
                </a:solidFill>
                <a:latin typeface="Calibri" pitchFamily="34" charset="0"/>
                <a:ea typeface="Calibri" pitchFamily="34" charset="-122"/>
                <a:cs typeface="Calibri" pitchFamily="34" charset="-120"/>
              </a:rPr>
              <a:t>Compromised agent acts in ecosystem. Other agents trust outputs. Corruption spreads.</a:t>
            </a:r>
            <a:endParaRPr lang="en-US" sz="1600" dirty="0"/>
          </a:p>
        </p:txBody>
      </p:sp>
      <p:sp>
        <p:nvSpPr>
          <p:cNvPr id="43" name="Shape 37">
            <a:extLst>
              <a:ext uri="{C183D7F6-B498-43B3-948B-1728B52AA6E4}">
                <adec:decorative xmlns:adec="http://schemas.microsoft.com/office/drawing/2017/decorative" val="1"/>
              </a:ext>
            </a:extLst>
          </p:cNvPr>
          <p:cNvSpPr/>
          <p:nvPr/>
        </p:nvSpPr>
        <p:spPr>
          <a:xfrm>
            <a:off x="640080" y="5349240"/>
            <a:ext cx="10972800" cy="1051560"/>
          </a:xfrm>
          <a:prstGeom prst="rect">
            <a:avLst/>
          </a:prstGeom>
          <a:solidFill>
            <a:srgbClr val="1A2B47"/>
          </a:solidFill>
          <a:ln/>
        </p:spPr>
        <p:txBody>
          <a:bodyPr/>
          <a:lstStyle/>
          <a:p>
            <a:endParaRPr lang="en-US"/>
          </a:p>
        </p:txBody>
      </p:sp>
      <p:pic>
        <p:nvPicPr>
          <p:cNvPr id="44" name="Image 4" descr="preencoded.png"/>
          <p:cNvPicPr>
            <a:picLocks noChangeAspect="1"/>
          </p:cNvPicPr>
          <p:nvPr/>
        </p:nvPicPr>
        <p:blipFill>
          <a:blip r:embed="rId4"/>
          <a:stretch>
            <a:fillRect/>
          </a:stretch>
        </p:blipFill>
        <p:spPr>
          <a:xfrm>
            <a:off x="868680" y="5623560"/>
            <a:ext cx="502920" cy="502920"/>
          </a:xfrm>
          <a:prstGeom prst="rect">
            <a:avLst/>
          </a:prstGeom>
        </p:spPr>
      </p:pic>
      <p:sp>
        <p:nvSpPr>
          <p:cNvPr id="45" name="Text 38"/>
          <p:cNvSpPr/>
          <p:nvPr/>
        </p:nvSpPr>
        <p:spPr>
          <a:xfrm>
            <a:off x="1554480" y="5440680"/>
            <a:ext cx="10058400" cy="365760"/>
          </a:xfrm>
          <a:prstGeom prst="rect">
            <a:avLst/>
          </a:prstGeom>
          <a:noFill/>
          <a:ln/>
        </p:spPr>
        <p:txBody>
          <a:bodyPr wrap="square" lIns="0" tIns="0" rIns="0" bIns="0" rtlCol="0" anchor="ctr"/>
          <a:lstStyle/>
          <a:p>
            <a:pPr marL="0" indent="0">
              <a:buNone/>
            </a:pPr>
            <a:r>
              <a:rPr lang="en-US" b="1" dirty="0">
                <a:solidFill>
                  <a:srgbClr val="E8F1FF"/>
                </a:solidFill>
                <a:latin typeface="Calibri" pitchFamily="34" charset="0"/>
                <a:ea typeface="Calibri" pitchFamily="34" charset="-122"/>
                <a:cs typeface="Calibri" pitchFamily="34" charset="-120"/>
              </a:rPr>
              <a:t>STRIDE at any one layer might catch part of this. It would miss the chain.</a:t>
            </a:r>
            <a:endParaRPr lang="en-US" dirty="0"/>
          </a:p>
        </p:txBody>
      </p:sp>
      <p:sp>
        <p:nvSpPr>
          <p:cNvPr id="46" name="Text 39"/>
          <p:cNvSpPr/>
          <p:nvPr/>
        </p:nvSpPr>
        <p:spPr>
          <a:xfrm>
            <a:off x="1554480" y="5852160"/>
            <a:ext cx="10058400" cy="457200"/>
          </a:xfrm>
          <a:prstGeom prst="rect">
            <a:avLst/>
          </a:prstGeom>
          <a:noFill/>
          <a:ln/>
        </p:spPr>
        <p:txBody>
          <a:bodyPr wrap="square" lIns="0" tIns="0" rIns="0" bIns="0" rtlCol="0" anchor="ctr"/>
          <a:lstStyle/>
          <a:p>
            <a:pPr marL="0" indent="0">
              <a:buNone/>
            </a:pPr>
            <a:r>
              <a:rPr lang="en-US" b="1" i="1" dirty="0">
                <a:solidFill>
                  <a:srgbClr val="B8C9E0"/>
                </a:solidFill>
                <a:latin typeface="Calibri" pitchFamily="34" charset="0"/>
                <a:ea typeface="Calibri" pitchFamily="34" charset="-122"/>
                <a:cs typeface="Calibri" pitchFamily="34" charset="-120"/>
              </a:rPr>
              <a:t>MAESTRO is built around the assumption that the chain — not the single threat — is the danger.</a:t>
            </a:r>
            <a:endParaRPr lang="en-US" b="1" dirty="0"/>
          </a:p>
        </p:txBody>
      </p:sp>
      <p:sp>
        <p:nvSpPr>
          <p:cNvPr id="48" name="Text 41"/>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B8C9E0"/>
                </a:solidFill>
                <a:latin typeface="Calibri" pitchFamily="34" charset="0"/>
                <a:ea typeface="Calibri" pitchFamily="34" charset="-122"/>
                <a:cs typeface="Calibri" pitchFamily="34" charset="-120"/>
              </a:rPr>
              <a:t>Beyond STRIDE</a:t>
            </a:r>
            <a:endParaRPr lang="en-US" sz="1000" dirty="0"/>
          </a:p>
        </p:txBody>
      </p:sp>
      <p:sp>
        <p:nvSpPr>
          <p:cNvPr id="49" name="Text 2">
            <a:extLst>
              <a:ext uri="{FF2B5EF4-FFF2-40B4-BE49-F238E27FC236}">
                <a16:creationId xmlns:a16="http://schemas.microsoft.com/office/drawing/2014/main" id="{937770E9-EBE8-A2F5-7193-8B27AD183215}"/>
              </a:ext>
            </a:extLst>
          </p:cNvPr>
          <p:cNvSpPr/>
          <p:nvPr/>
        </p:nvSpPr>
        <p:spPr>
          <a:xfrm>
            <a:off x="10058400" y="384048"/>
            <a:ext cx="1645920" cy="1280160"/>
          </a:xfrm>
          <a:prstGeom prst="rect">
            <a:avLst/>
          </a:prstGeom>
          <a:noFill/>
          <a:ln/>
        </p:spPr>
        <p:txBody>
          <a:bodyPr wrap="square" lIns="0" tIns="0" rIns="0" bIns="0" rtlCol="0" anchor="ctr"/>
          <a:lstStyle/>
          <a:p>
            <a:pPr marL="0" indent="0" algn="r">
              <a:buNone/>
            </a:pPr>
            <a:r>
              <a:rPr lang="en-US" sz="8000" b="1" dirty="0">
                <a:solidFill>
                  <a:srgbClr val="05B6D4"/>
                </a:solidFill>
                <a:latin typeface="Georgia" pitchFamily="34" charset="0"/>
                <a:ea typeface="Georgia" pitchFamily="34" charset="-122"/>
                <a:cs typeface="Georgia" pitchFamily="34" charset="-120"/>
              </a:rPr>
              <a:t>XL</a:t>
            </a:r>
            <a:endParaRPr lang="en-US" sz="8000" dirty="0">
              <a:solidFill>
                <a:srgbClr val="05B6D4"/>
              </a:solidFill>
            </a:endParaRPr>
          </a:p>
        </p:txBody>
      </p:sp>
      <p:sp>
        <p:nvSpPr>
          <p:cNvPr id="50" name="TextBox 49"/>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34 / 43</a:t>
            </a:r>
          </a:p>
        </p:txBody>
      </p:sp>
    </p:spTree>
  </p:cSld>
  <p:clrMapOvr>
    <a:masterClrMapping/>
  </p:clrMapOvr>
  <mc:AlternateContent xmlns:mc="http://schemas.openxmlformats.org/markup-compatibility/2006">
    <mc:Choice xmlns:p14="http://schemas.microsoft.com/office/powerpoint/2010/main" Requires="p14">
      <p:transition spd="slow" p14:dur="2000" advTm="84386"/>
    </mc:Choice>
    <mc:Fallback>
      <p:transition spd="slow" advTm="84386"/>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8B1A2B"/>
          </a:solidFill>
          <a:ln w="12700">
            <a:solidFill>
              <a:srgbClr val="8B1A2B"/>
            </a:solidFill>
            <a:prstDash val="solid"/>
          </a:ln>
        </p:spPr>
        <p:txBody>
          <a:bodyPr/>
          <a:lstStyle/>
          <a:p>
            <a:endParaRPr lang="en-US"/>
          </a:p>
        </p:txBody>
      </p:sp>
      <p:sp>
        <p:nvSpPr>
          <p:cNvPr id="3" name="Text 1"/>
          <p:cNvSpPr/>
          <p:nvPr/>
        </p:nvSpPr>
        <p:spPr>
          <a:xfrm>
            <a:off x="8615432" y="1494709"/>
            <a:ext cx="3271768" cy="274320"/>
          </a:xfrm>
          <a:prstGeom prst="rect">
            <a:avLst/>
          </a:prstGeom>
          <a:noFill/>
          <a:ln/>
        </p:spPr>
        <p:txBody>
          <a:bodyPr wrap="square" lIns="0" tIns="0" rIns="0" bIns="0" rtlCol="0" anchor="ctr"/>
          <a:lstStyle/>
          <a:p>
            <a:pPr marL="0" indent="0">
              <a:buNone/>
            </a:pPr>
            <a:r>
              <a:rPr lang="en-US" sz="1200" b="1" kern="0" spc="400" dirty="0">
                <a:solidFill>
                  <a:srgbClr val="8B1A2B"/>
                </a:solidFill>
                <a:latin typeface="Calibri" pitchFamily="34" charset="0"/>
                <a:ea typeface="Calibri" pitchFamily="34" charset="-122"/>
                <a:cs typeface="Calibri" pitchFamily="34" charset="-120"/>
              </a:rPr>
              <a:t>CROSS-LAYER ATTACK CHAIN</a:t>
            </a:r>
            <a:endParaRPr lang="en-US" sz="1200" dirty="0"/>
          </a:p>
        </p:txBody>
      </p:sp>
      <p:sp>
        <p:nvSpPr>
          <p:cNvPr id="4" name="Text 2"/>
          <p:cNvSpPr/>
          <p:nvPr/>
        </p:nvSpPr>
        <p:spPr>
          <a:xfrm>
            <a:off x="731520" y="429768"/>
            <a:ext cx="11155680" cy="1051560"/>
          </a:xfrm>
          <a:prstGeom prst="rect">
            <a:avLst/>
          </a:prstGeom>
          <a:noFill/>
          <a:ln/>
        </p:spPr>
        <p:txBody>
          <a:bodyPr wrap="square" lIns="0" tIns="0" rIns="0" bIns="0" rtlCol="0" anchor="ctr"/>
          <a:lstStyle/>
          <a:p>
            <a:r>
              <a:rPr lang="en-US" sz="3000" b="1" dirty="0" err="1">
                <a:solidFill>
                  <a:srgbClr val="1A1A2E"/>
                </a:solidFill>
                <a:latin typeface="Georgia" pitchFamily="34" charset="0"/>
                <a:ea typeface="Georgia" pitchFamily="34" charset="-122"/>
                <a:cs typeface="Georgia" pitchFamily="34" charset="-120"/>
              </a:rPr>
              <a:t>EchoLeak</a:t>
            </a:r>
            <a:r>
              <a:rPr lang="en-US" sz="3000" b="1" dirty="0">
                <a:solidFill>
                  <a:srgbClr val="1A1A2E"/>
                </a:solidFill>
                <a:latin typeface="Georgia" pitchFamily="34" charset="0"/>
                <a:ea typeface="Georgia" pitchFamily="34" charset="-122"/>
                <a:cs typeface="Georgia" pitchFamily="34" charset="-120"/>
              </a:rPr>
              <a:t> Case Study:</a:t>
            </a:r>
          </a:p>
          <a:p>
            <a:pPr marL="0" indent="0">
              <a:buNone/>
            </a:pPr>
            <a:r>
              <a:rPr lang="en-US" sz="3000" b="1" dirty="0">
                <a:solidFill>
                  <a:srgbClr val="1A1A2E"/>
                </a:solidFill>
                <a:latin typeface="Georgia" pitchFamily="34" charset="0"/>
                <a:ea typeface="Georgia" pitchFamily="34" charset="-122"/>
                <a:cs typeface="Georgia" pitchFamily="34" charset="-120"/>
              </a:rPr>
              <a:t>Every Layer Had a Defense. </a:t>
            </a:r>
          </a:p>
          <a:p>
            <a:pPr marL="0" indent="0">
              <a:buNone/>
            </a:pPr>
            <a:r>
              <a:rPr lang="en-US" sz="3000" b="1" dirty="0">
                <a:solidFill>
                  <a:srgbClr val="1A1A2E"/>
                </a:solidFill>
                <a:latin typeface="Georgia" pitchFamily="34" charset="0"/>
                <a:ea typeface="Georgia" pitchFamily="34" charset="-122"/>
                <a:cs typeface="Georgia" pitchFamily="34" charset="-120"/>
              </a:rPr>
              <a:t>None Owned the Seams.</a:t>
            </a:r>
            <a:endParaRPr lang="en-US" sz="3000" dirty="0"/>
          </a:p>
        </p:txBody>
      </p:sp>
      <p:sp>
        <p:nvSpPr>
          <p:cNvPr id="6" name="Shape 4"/>
          <p:cNvSpPr/>
          <p:nvPr/>
        </p:nvSpPr>
        <p:spPr>
          <a:xfrm>
            <a:off x="731520" y="1920240"/>
            <a:ext cx="10698480" cy="0"/>
          </a:xfrm>
          <a:prstGeom prst="line">
            <a:avLst/>
          </a:prstGeom>
          <a:noFill/>
          <a:ln w="12700">
            <a:solidFill>
              <a:srgbClr val="8B1A2B"/>
            </a:solidFill>
            <a:prstDash val="solid"/>
          </a:ln>
        </p:spPr>
        <p:txBody>
          <a:bodyPr/>
          <a:lstStyle/>
          <a:p>
            <a:endParaRPr lang="en-US"/>
          </a:p>
        </p:txBody>
      </p:sp>
      <p:sp>
        <p:nvSpPr>
          <p:cNvPr id="7" name="Shape 5"/>
          <p:cNvSpPr/>
          <p:nvPr/>
        </p:nvSpPr>
        <p:spPr>
          <a:xfrm>
            <a:off x="626364" y="2240280"/>
            <a:ext cx="1417320" cy="1005840"/>
          </a:xfrm>
          <a:prstGeom prst="roundRect">
            <a:avLst>
              <a:gd name="adj" fmla="val 7273"/>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8" name="Shape 6"/>
          <p:cNvSpPr/>
          <p:nvPr/>
        </p:nvSpPr>
        <p:spPr>
          <a:xfrm>
            <a:off x="626364" y="2240280"/>
            <a:ext cx="1417320" cy="274320"/>
          </a:xfrm>
          <a:prstGeom prst="rect">
            <a:avLst/>
          </a:prstGeom>
          <a:solidFill>
            <a:srgbClr val="8B1A2B"/>
          </a:solidFill>
          <a:ln w="12700">
            <a:solidFill>
              <a:srgbClr val="8B1A2B"/>
            </a:solidFill>
            <a:prstDash val="solid"/>
          </a:ln>
        </p:spPr>
        <p:txBody>
          <a:bodyPr/>
          <a:lstStyle/>
          <a:p>
            <a:endParaRPr lang="en-US"/>
          </a:p>
        </p:txBody>
      </p:sp>
      <p:sp>
        <p:nvSpPr>
          <p:cNvPr id="9" name="Text 7"/>
          <p:cNvSpPr/>
          <p:nvPr/>
        </p:nvSpPr>
        <p:spPr>
          <a:xfrm>
            <a:off x="626364" y="224028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L7</a:t>
            </a:r>
            <a:endParaRPr lang="en-US" sz="1200" dirty="0"/>
          </a:p>
        </p:txBody>
      </p:sp>
      <p:sp>
        <p:nvSpPr>
          <p:cNvPr id="10" name="Text 8"/>
          <p:cNvSpPr/>
          <p:nvPr/>
        </p:nvSpPr>
        <p:spPr>
          <a:xfrm>
            <a:off x="672084" y="2560320"/>
            <a:ext cx="1325880" cy="411480"/>
          </a:xfrm>
          <a:prstGeom prst="rect">
            <a:avLst/>
          </a:prstGeom>
          <a:noFill/>
          <a:ln/>
        </p:spPr>
        <p:txBody>
          <a:bodyPr wrap="square" lIns="0" tIns="0" rIns="0" bIns="0"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Email arrives</a:t>
            </a:r>
            <a:endParaRPr lang="en-US" sz="1100" dirty="0"/>
          </a:p>
        </p:txBody>
      </p:sp>
      <p:sp>
        <p:nvSpPr>
          <p:cNvPr id="11" name="Text 9"/>
          <p:cNvSpPr/>
          <p:nvPr/>
        </p:nvSpPr>
        <p:spPr>
          <a:xfrm>
            <a:off x="672084" y="2953512"/>
            <a:ext cx="1325880" cy="256032"/>
          </a:xfrm>
          <a:prstGeom prst="rect">
            <a:avLst/>
          </a:prstGeom>
          <a:noFill/>
          <a:ln/>
        </p:spPr>
        <p:txBody>
          <a:bodyPr wrap="square" lIns="0" tIns="0" rIns="0" bIns="0" rtlCol="0" anchor="ctr"/>
          <a:lstStyle/>
          <a:p>
            <a:pPr marL="0" indent="0" algn="ctr">
              <a:buNone/>
            </a:pPr>
            <a:r>
              <a:rPr lang="en-US" sz="1200" i="1" dirty="0">
                <a:solidFill>
                  <a:srgbClr val="5C5C6E"/>
                </a:solidFill>
                <a:latin typeface="Calibri" pitchFamily="34" charset="0"/>
                <a:ea typeface="Calibri" pitchFamily="34" charset="-122"/>
                <a:cs typeface="Calibri" pitchFamily="34" charset="-120"/>
              </a:rPr>
              <a:t>Ecosystem</a:t>
            </a:r>
            <a:endParaRPr lang="en-US" sz="1200" dirty="0"/>
          </a:p>
        </p:txBody>
      </p:sp>
      <p:pic>
        <p:nvPicPr>
          <p:cNvPr id="12" name="Image 0" descr="preencoded.png"/>
          <p:cNvPicPr>
            <a:picLocks noChangeAspect="1"/>
          </p:cNvPicPr>
          <p:nvPr/>
        </p:nvPicPr>
        <p:blipFill>
          <a:blip r:embed="rId3"/>
          <a:stretch>
            <a:fillRect/>
          </a:stretch>
        </p:blipFill>
        <p:spPr>
          <a:xfrm>
            <a:off x="2052828" y="2670048"/>
            <a:ext cx="146304" cy="146304"/>
          </a:xfrm>
          <a:prstGeom prst="rect">
            <a:avLst/>
          </a:prstGeom>
        </p:spPr>
      </p:pic>
      <p:sp>
        <p:nvSpPr>
          <p:cNvPr id="13" name="Shape 10"/>
          <p:cNvSpPr/>
          <p:nvPr/>
        </p:nvSpPr>
        <p:spPr>
          <a:xfrm>
            <a:off x="2208276" y="2240280"/>
            <a:ext cx="1417320" cy="1005840"/>
          </a:xfrm>
          <a:prstGeom prst="roundRect">
            <a:avLst>
              <a:gd name="adj" fmla="val 7273"/>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14" name="Shape 11"/>
          <p:cNvSpPr/>
          <p:nvPr/>
        </p:nvSpPr>
        <p:spPr>
          <a:xfrm>
            <a:off x="2208276" y="2240280"/>
            <a:ext cx="1417320" cy="274320"/>
          </a:xfrm>
          <a:prstGeom prst="rect">
            <a:avLst/>
          </a:prstGeom>
          <a:solidFill>
            <a:srgbClr val="8B1A2B"/>
          </a:solidFill>
          <a:ln w="12700">
            <a:solidFill>
              <a:srgbClr val="8B1A2B"/>
            </a:solidFill>
            <a:prstDash val="solid"/>
          </a:ln>
        </p:spPr>
        <p:txBody>
          <a:bodyPr/>
          <a:lstStyle/>
          <a:p>
            <a:endParaRPr lang="en-US"/>
          </a:p>
        </p:txBody>
      </p:sp>
      <p:sp>
        <p:nvSpPr>
          <p:cNvPr id="15" name="Text 12"/>
          <p:cNvSpPr/>
          <p:nvPr/>
        </p:nvSpPr>
        <p:spPr>
          <a:xfrm>
            <a:off x="2208276" y="224028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L2</a:t>
            </a:r>
            <a:endParaRPr lang="en-US" sz="1200" dirty="0"/>
          </a:p>
        </p:txBody>
      </p:sp>
      <p:sp>
        <p:nvSpPr>
          <p:cNvPr id="16" name="Text 13"/>
          <p:cNvSpPr/>
          <p:nvPr/>
        </p:nvSpPr>
        <p:spPr>
          <a:xfrm>
            <a:off x="2253996" y="2560320"/>
            <a:ext cx="1325880" cy="411480"/>
          </a:xfrm>
          <a:prstGeom prst="rect">
            <a:avLst/>
          </a:prstGeom>
          <a:noFill/>
          <a:ln/>
        </p:spPr>
        <p:txBody>
          <a:bodyPr wrap="square" lIns="0" tIns="0" rIns="0" bIns="0"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Retrieved into RAG</a:t>
            </a:r>
            <a:endParaRPr lang="en-US" sz="1100" dirty="0"/>
          </a:p>
        </p:txBody>
      </p:sp>
      <p:sp>
        <p:nvSpPr>
          <p:cNvPr id="17" name="Text 14"/>
          <p:cNvSpPr/>
          <p:nvPr/>
        </p:nvSpPr>
        <p:spPr>
          <a:xfrm>
            <a:off x="2253996" y="2953512"/>
            <a:ext cx="1325880" cy="256032"/>
          </a:xfrm>
          <a:prstGeom prst="rect">
            <a:avLst/>
          </a:prstGeom>
          <a:noFill/>
          <a:ln/>
        </p:spPr>
        <p:txBody>
          <a:bodyPr wrap="square" lIns="0" tIns="0" rIns="0" bIns="0" rtlCol="0" anchor="ctr"/>
          <a:lstStyle/>
          <a:p>
            <a:pPr marL="0" indent="0" algn="ctr">
              <a:buNone/>
            </a:pPr>
            <a:r>
              <a:rPr lang="en-US" sz="1200" i="1" dirty="0">
                <a:solidFill>
                  <a:srgbClr val="5C5C6E"/>
                </a:solidFill>
                <a:latin typeface="Calibri" pitchFamily="34" charset="0"/>
                <a:ea typeface="Calibri" pitchFamily="34" charset="-122"/>
                <a:cs typeface="Calibri" pitchFamily="34" charset="-120"/>
              </a:rPr>
              <a:t>Data Ops</a:t>
            </a:r>
            <a:endParaRPr lang="en-US" sz="1200" dirty="0"/>
          </a:p>
        </p:txBody>
      </p:sp>
      <p:pic>
        <p:nvPicPr>
          <p:cNvPr id="18" name="Image 1" descr="preencoded.png"/>
          <p:cNvPicPr>
            <a:picLocks noChangeAspect="1"/>
          </p:cNvPicPr>
          <p:nvPr/>
        </p:nvPicPr>
        <p:blipFill>
          <a:blip r:embed="rId3"/>
          <a:stretch>
            <a:fillRect/>
          </a:stretch>
        </p:blipFill>
        <p:spPr>
          <a:xfrm>
            <a:off x="3634740" y="2670048"/>
            <a:ext cx="146304" cy="146304"/>
          </a:xfrm>
          <a:prstGeom prst="rect">
            <a:avLst/>
          </a:prstGeom>
        </p:spPr>
      </p:pic>
      <p:sp>
        <p:nvSpPr>
          <p:cNvPr id="19" name="Shape 15"/>
          <p:cNvSpPr/>
          <p:nvPr/>
        </p:nvSpPr>
        <p:spPr>
          <a:xfrm>
            <a:off x="3790188" y="2240280"/>
            <a:ext cx="1417320" cy="1005840"/>
          </a:xfrm>
          <a:prstGeom prst="roundRect">
            <a:avLst>
              <a:gd name="adj" fmla="val 7273"/>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20" name="Shape 16"/>
          <p:cNvSpPr/>
          <p:nvPr/>
        </p:nvSpPr>
        <p:spPr>
          <a:xfrm>
            <a:off x="3790188" y="2240280"/>
            <a:ext cx="1417320" cy="274320"/>
          </a:xfrm>
          <a:prstGeom prst="rect">
            <a:avLst/>
          </a:prstGeom>
          <a:solidFill>
            <a:srgbClr val="8B1A2B"/>
          </a:solidFill>
          <a:ln w="12700">
            <a:solidFill>
              <a:srgbClr val="8B1A2B"/>
            </a:solidFill>
            <a:prstDash val="solid"/>
          </a:ln>
        </p:spPr>
        <p:txBody>
          <a:bodyPr/>
          <a:lstStyle/>
          <a:p>
            <a:endParaRPr lang="en-US"/>
          </a:p>
        </p:txBody>
      </p:sp>
      <p:sp>
        <p:nvSpPr>
          <p:cNvPr id="21" name="Text 17"/>
          <p:cNvSpPr/>
          <p:nvPr/>
        </p:nvSpPr>
        <p:spPr>
          <a:xfrm>
            <a:off x="3790188" y="224028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L1</a:t>
            </a:r>
            <a:endParaRPr lang="en-US" sz="1200" dirty="0"/>
          </a:p>
        </p:txBody>
      </p:sp>
      <p:sp>
        <p:nvSpPr>
          <p:cNvPr id="22" name="Text 18"/>
          <p:cNvSpPr/>
          <p:nvPr/>
        </p:nvSpPr>
        <p:spPr>
          <a:xfrm>
            <a:off x="3835908" y="2560320"/>
            <a:ext cx="1325880" cy="411480"/>
          </a:xfrm>
          <a:prstGeom prst="rect">
            <a:avLst/>
          </a:prstGeom>
          <a:noFill/>
          <a:ln/>
        </p:spPr>
        <p:txBody>
          <a:bodyPr wrap="square" lIns="0" tIns="0" rIns="0" bIns="0"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Read as instructions</a:t>
            </a:r>
            <a:endParaRPr lang="en-US" sz="1100" dirty="0"/>
          </a:p>
        </p:txBody>
      </p:sp>
      <p:sp>
        <p:nvSpPr>
          <p:cNvPr id="23" name="Text 19"/>
          <p:cNvSpPr/>
          <p:nvPr/>
        </p:nvSpPr>
        <p:spPr>
          <a:xfrm>
            <a:off x="3835908" y="2953512"/>
            <a:ext cx="1325880" cy="256032"/>
          </a:xfrm>
          <a:prstGeom prst="rect">
            <a:avLst/>
          </a:prstGeom>
          <a:noFill/>
          <a:ln/>
        </p:spPr>
        <p:txBody>
          <a:bodyPr wrap="square" lIns="0" tIns="0" rIns="0" bIns="0" rtlCol="0" anchor="ctr"/>
          <a:lstStyle/>
          <a:p>
            <a:pPr marL="0" indent="0" algn="ctr">
              <a:buNone/>
            </a:pPr>
            <a:r>
              <a:rPr lang="en-US" sz="1200" i="1" dirty="0">
                <a:solidFill>
                  <a:srgbClr val="5C5C6E"/>
                </a:solidFill>
                <a:latin typeface="Calibri" pitchFamily="34" charset="0"/>
                <a:ea typeface="Calibri" pitchFamily="34" charset="-122"/>
                <a:cs typeface="Calibri" pitchFamily="34" charset="-120"/>
              </a:rPr>
              <a:t>Foundation Model</a:t>
            </a:r>
            <a:endParaRPr lang="en-US" sz="1200" dirty="0"/>
          </a:p>
        </p:txBody>
      </p:sp>
      <p:pic>
        <p:nvPicPr>
          <p:cNvPr id="24" name="Image 2" descr="preencoded.png"/>
          <p:cNvPicPr>
            <a:picLocks noChangeAspect="1"/>
          </p:cNvPicPr>
          <p:nvPr/>
        </p:nvPicPr>
        <p:blipFill>
          <a:blip r:embed="rId3"/>
          <a:stretch>
            <a:fillRect/>
          </a:stretch>
        </p:blipFill>
        <p:spPr>
          <a:xfrm>
            <a:off x="5216652" y="2670048"/>
            <a:ext cx="146304" cy="146304"/>
          </a:xfrm>
          <a:prstGeom prst="rect">
            <a:avLst/>
          </a:prstGeom>
        </p:spPr>
      </p:pic>
      <p:sp>
        <p:nvSpPr>
          <p:cNvPr id="25" name="Shape 20"/>
          <p:cNvSpPr/>
          <p:nvPr/>
        </p:nvSpPr>
        <p:spPr>
          <a:xfrm>
            <a:off x="5372100" y="2240280"/>
            <a:ext cx="1417320" cy="1005840"/>
          </a:xfrm>
          <a:prstGeom prst="roundRect">
            <a:avLst>
              <a:gd name="adj" fmla="val 7273"/>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26" name="Shape 21"/>
          <p:cNvSpPr/>
          <p:nvPr/>
        </p:nvSpPr>
        <p:spPr>
          <a:xfrm>
            <a:off x="5372100" y="2240280"/>
            <a:ext cx="1417320" cy="274320"/>
          </a:xfrm>
          <a:prstGeom prst="rect">
            <a:avLst/>
          </a:prstGeom>
          <a:solidFill>
            <a:srgbClr val="8B1A2B"/>
          </a:solidFill>
          <a:ln w="12700">
            <a:solidFill>
              <a:srgbClr val="8B1A2B"/>
            </a:solidFill>
            <a:prstDash val="solid"/>
          </a:ln>
        </p:spPr>
        <p:txBody>
          <a:bodyPr/>
          <a:lstStyle/>
          <a:p>
            <a:endParaRPr lang="en-US"/>
          </a:p>
        </p:txBody>
      </p:sp>
      <p:sp>
        <p:nvSpPr>
          <p:cNvPr id="27" name="Text 22"/>
          <p:cNvSpPr/>
          <p:nvPr/>
        </p:nvSpPr>
        <p:spPr>
          <a:xfrm>
            <a:off x="5372100" y="224028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L3</a:t>
            </a:r>
            <a:endParaRPr lang="en-US" sz="1200" dirty="0"/>
          </a:p>
        </p:txBody>
      </p:sp>
      <p:sp>
        <p:nvSpPr>
          <p:cNvPr id="28" name="Text 23"/>
          <p:cNvSpPr/>
          <p:nvPr/>
        </p:nvSpPr>
        <p:spPr>
          <a:xfrm>
            <a:off x="5417820" y="2560320"/>
            <a:ext cx="1325880" cy="411480"/>
          </a:xfrm>
          <a:prstGeom prst="rect">
            <a:avLst/>
          </a:prstGeom>
          <a:noFill/>
          <a:ln/>
        </p:spPr>
        <p:txBody>
          <a:bodyPr wrap="square" lIns="0" tIns="0" rIns="0" bIns="0"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Sensitive docs pulled</a:t>
            </a:r>
            <a:endParaRPr lang="en-US" sz="1100" dirty="0"/>
          </a:p>
        </p:txBody>
      </p:sp>
      <p:sp>
        <p:nvSpPr>
          <p:cNvPr id="29" name="Text 24"/>
          <p:cNvSpPr/>
          <p:nvPr/>
        </p:nvSpPr>
        <p:spPr>
          <a:xfrm>
            <a:off x="5417820" y="2953512"/>
            <a:ext cx="1325880" cy="256032"/>
          </a:xfrm>
          <a:prstGeom prst="rect">
            <a:avLst/>
          </a:prstGeom>
          <a:noFill/>
          <a:ln/>
        </p:spPr>
        <p:txBody>
          <a:bodyPr wrap="square" lIns="0" tIns="0" rIns="0" bIns="0" rtlCol="0" anchor="ctr"/>
          <a:lstStyle/>
          <a:p>
            <a:pPr marL="0" indent="0" algn="ctr">
              <a:buNone/>
            </a:pPr>
            <a:r>
              <a:rPr lang="en-US" sz="1200" i="1" dirty="0">
                <a:solidFill>
                  <a:srgbClr val="5C5C6E"/>
                </a:solidFill>
                <a:latin typeface="Calibri" pitchFamily="34" charset="0"/>
                <a:ea typeface="Calibri" pitchFamily="34" charset="-122"/>
                <a:cs typeface="Calibri" pitchFamily="34" charset="-120"/>
              </a:rPr>
              <a:t>Agent Framework</a:t>
            </a:r>
            <a:endParaRPr lang="en-US" sz="1200" dirty="0"/>
          </a:p>
        </p:txBody>
      </p:sp>
      <p:pic>
        <p:nvPicPr>
          <p:cNvPr id="30" name="Image 3" descr="preencoded.png"/>
          <p:cNvPicPr>
            <a:picLocks noChangeAspect="1"/>
          </p:cNvPicPr>
          <p:nvPr/>
        </p:nvPicPr>
        <p:blipFill>
          <a:blip r:embed="rId3"/>
          <a:stretch>
            <a:fillRect/>
          </a:stretch>
        </p:blipFill>
        <p:spPr>
          <a:xfrm>
            <a:off x="6798564" y="2670048"/>
            <a:ext cx="146304" cy="146304"/>
          </a:xfrm>
          <a:prstGeom prst="rect">
            <a:avLst/>
          </a:prstGeom>
        </p:spPr>
      </p:pic>
      <p:sp>
        <p:nvSpPr>
          <p:cNvPr id="31" name="Shape 25"/>
          <p:cNvSpPr/>
          <p:nvPr/>
        </p:nvSpPr>
        <p:spPr>
          <a:xfrm>
            <a:off x="6954012" y="2240280"/>
            <a:ext cx="1417320" cy="1005840"/>
          </a:xfrm>
          <a:prstGeom prst="roundRect">
            <a:avLst>
              <a:gd name="adj" fmla="val 7273"/>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32" name="Shape 26"/>
          <p:cNvSpPr/>
          <p:nvPr/>
        </p:nvSpPr>
        <p:spPr>
          <a:xfrm>
            <a:off x="6954012" y="2240280"/>
            <a:ext cx="1417320" cy="274320"/>
          </a:xfrm>
          <a:prstGeom prst="rect">
            <a:avLst/>
          </a:prstGeom>
          <a:solidFill>
            <a:srgbClr val="8B1A2B"/>
          </a:solidFill>
          <a:ln w="12700">
            <a:solidFill>
              <a:srgbClr val="8B1A2B"/>
            </a:solidFill>
            <a:prstDash val="solid"/>
          </a:ln>
        </p:spPr>
        <p:txBody>
          <a:bodyPr/>
          <a:lstStyle/>
          <a:p>
            <a:endParaRPr lang="en-US"/>
          </a:p>
        </p:txBody>
      </p:sp>
      <p:sp>
        <p:nvSpPr>
          <p:cNvPr id="33" name="Text 27"/>
          <p:cNvSpPr/>
          <p:nvPr/>
        </p:nvSpPr>
        <p:spPr>
          <a:xfrm>
            <a:off x="6954012" y="224028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L4</a:t>
            </a:r>
            <a:endParaRPr lang="en-US" sz="1200" dirty="0"/>
          </a:p>
        </p:txBody>
      </p:sp>
      <p:sp>
        <p:nvSpPr>
          <p:cNvPr id="34" name="Text 28"/>
          <p:cNvSpPr/>
          <p:nvPr/>
        </p:nvSpPr>
        <p:spPr>
          <a:xfrm>
            <a:off x="6999732" y="2560320"/>
            <a:ext cx="1325880" cy="411480"/>
          </a:xfrm>
          <a:prstGeom prst="rect">
            <a:avLst/>
          </a:prstGeom>
          <a:noFill/>
          <a:ln/>
        </p:spPr>
        <p:txBody>
          <a:bodyPr wrap="square" lIns="0" tIns="0" rIns="0" bIns="0"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Markdown exfiltrates</a:t>
            </a:r>
            <a:endParaRPr lang="en-US" sz="1100" dirty="0"/>
          </a:p>
        </p:txBody>
      </p:sp>
      <p:sp>
        <p:nvSpPr>
          <p:cNvPr id="35" name="Text 29"/>
          <p:cNvSpPr/>
          <p:nvPr/>
        </p:nvSpPr>
        <p:spPr>
          <a:xfrm>
            <a:off x="6999732" y="2953512"/>
            <a:ext cx="1325880" cy="256032"/>
          </a:xfrm>
          <a:prstGeom prst="rect">
            <a:avLst/>
          </a:prstGeom>
          <a:noFill/>
          <a:ln/>
        </p:spPr>
        <p:txBody>
          <a:bodyPr wrap="square" lIns="0" tIns="0" rIns="0" bIns="0" rtlCol="0" anchor="ctr"/>
          <a:lstStyle/>
          <a:p>
            <a:pPr marL="0" indent="0" algn="ctr">
              <a:buNone/>
            </a:pPr>
            <a:r>
              <a:rPr lang="en-US" sz="1200" i="1" dirty="0">
                <a:solidFill>
                  <a:srgbClr val="5C5C6E"/>
                </a:solidFill>
                <a:latin typeface="Calibri" pitchFamily="34" charset="0"/>
                <a:ea typeface="Calibri" pitchFamily="34" charset="-122"/>
                <a:cs typeface="Calibri" pitchFamily="34" charset="-120"/>
              </a:rPr>
              <a:t>Infrastructure</a:t>
            </a:r>
            <a:endParaRPr lang="en-US" sz="1200" dirty="0"/>
          </a:p>
        </p:txBody>
      </p:sp>
      <p:pic>
        <p:nvPicPr>
          <p:cNvPr id="36" name="Image 4" descr="preencoded.png"/>
          <p:cNvPicPr>
            <a:picLocks noChangeAspect="1"/>
          </p:cNvPicPr>
          <p:nvPr/>
        </p:nvPicPr>
        <p:blipFill>
          <a:blip r:embed="rId3"/>
          <a:stretch>
            <a:fillRect/>
          </a:stretch>
        </p:blipFill>
        <p:spPr>
          <a:xfrm>
            <a:off x="8380476" y="2670048"/>
            <a:ext cx="146304" cy="146304"/>
          </a:xfrm>
          <a:prstGeom prst="rect">
            <a:avLst/>
          </a:prstGeom>
        </p:spPr>
      </p:pic>
      <p:sp>
        <p:nvSpPr>
          <p:cNvPr id="37" name="Shape 30"/>
          <p:cNvSpPr/>
          <p:nvPr/>
        </p:nvSpPr>
        <p:spPr>
          <a:xfrm>
            <a:off x="8535924" y="2240280"/>
            <a:ext cx="1417320" cy="1005840"/>
          </a:xfrm>
          <a:prstGeom prst="roundRect">
            <a:avLst>
              <a:gd name="adj" fmla="val 7273"/>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38" name="Shape 31"/>
          <p:cNvSpPr/>
          <p:nvPr/>
        </p:nvSpPr>
        <p:spPr>
          <a:xfrm>
            <a:off x="8535924" y="2240280"/>
            <a:ext cx="1417320" cy="274320"/>
          </a:xfrm>
          <a:prstGeom prst="rect">
            <a:avLst/>
          </a:prstGeom>
          <a:solidFill>
            <a:srgbClr val="8B1A2B"/>
          </a:solidFill>
          <a:ln w="12700">
            <a:solidFill>
              <a:srgbClr val="8B1A2B"/>
            </a:solidFill>
            <a:prstDash val="solid"/>
          </a:ln>
        </p:spPr>
        <p:txBody>
          <a:bodyPr/>
          <a:lstStyle/>
          <a:p>
            <a:endParaRPr lang="en-US"/>
          </a:p>
        </p:txBody>
      </p:sp>
      <p:sp>
        <p:nvSpPr>
          <p:cNvPr id="39" name="Text 32"/>
          <p:cNvSpPr/>
          <p:nvPr/>
        </p:nvSpPr>
        <p:spPr>
          <a:xfrm>
            <a:off x="8535924" y="224028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L5</a:t>
            </a:r>
            <a:endParaRPr lang="en-US" sz="1200" dirty="0"/>
          </a:p>
        </p:txBody>
      </p:sp>
      <p:sp>
        <p:nvSpPr>
          <p:cNvPr id="40" name="Text 33"/>
          <p:cNvSpPr/>
          <p:nvPr/>
        </p:nvSpPr>
        <p:spPr>
          <a:xfrm>
            <a:off x="8581644" y="2560320"/>
            <a:ext cx="1325880" cy="411480"/>
          </a:xfrm>
          <a:prstGeom prst="rect">
            <a:avLst/>
          </a:prstGeom>
          <a:noFill/>
          <a:ln/>
        </p:spPr>
        <p:txBody>
          <a:bodyPr wrap="square" lIns="0" tIns="0" rIns="0" bIns="0"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No log captures it</a:t>
            </a:r>
            <a:endParaRPr lang="en-US" sz="1100" dirty="0"/>
          </a:p>
        </p:txBody>
      </p:sp>
      <p:sp>
        <p:nvSpPr>
          <p:cNvPr id="41" name="Text 34"/>
          <p:cNvSpPr/>
          <p:nvPr/>
        </p:nvSpPr>
        <p:spPr>
          <a:xfrm>
            <a:off x="8581644" y="2953512"/>
            <a:ext cx="1325880" cy="256032"/>
          </a:xfrm>
          <a:prstGeom prst="rect">
            <a:avLst/>
          </a:prstGeom>
          <a:noFill/>
          <a:ln/>
        </p:spPr>
        <p:txBody>
          <a:bodyPr wrap="square" lIns="0" tIns="0" rIns="0" bIns="0" rtlCol="0" anchor="ctr"/>
          <a:lstStyle/>
          <a:p>
            <a:pPr marL="0" indent="0" algn="ctr">
              <a:buNone/>
            </a:pPr>
            <a:r>
              <a:rPr lang="en-US" sz="1200" i="1" dirty="0">
                <a:solidFill>
                  <a:srgbClr val="5C5C6E"/>
                </a:solidFill>
                <a:latin typeface="Calibri" pitchFamily="34" charset="0"/>
                <a:ea typeface="Calibri" pitchFamily="34" charset="-122"/>
                <a:cs typeface="Calibri" pitchFamily="34" charset="-120"/>
              </a:rPr>
              <a:t>Observability</a:t>
            </a:r>
            <a:endParaRPr lang="en-US" sz="1200" dirty="0"/>
          </a:p>
        </p:txBody>
      </p:sp>
      <p:pic>
        <p:nvPicPr>
          <p:cNvPr id="42" name="Image 5" descr="preencoded.png"/>
          <p:cNvPicPr>
            <a:picLocks noChangeAspect="1"/>
          </p:cNvPicPr>
          <p:nvPr/>
        </p:nvPicPr>
        <p:blipFill>
          <a:blip r:embed="rId3"/>
          <a:stretch>
            <a:fillRect/>
          </a:stretch>
        </p:blipFill>
        <p:spPr>
          <a:xfrm>
            <a:off x="9962388" y="2670048"/>
            <a:ext cx="146304" cy="146304"/>
          </a:xfrm>
          <a:prstGeom prst="rect">
            <a:avLst/>
          </a:prstGeom>
        </p:spPr>
      </p:pic>
      <p:sp>
        <p:nvSpPr>
          <p:cNvPr id="43" name="Shape 35"/>
          <p:cNvSpPr/>
          <p:nvPr/>
        </p:nvSpPr>
        <p:spPr>
          <a:xfrm>
            <a:off x="10117836" y="2240280"/>
            <a:ext cx="1417320" cy="1005840"/>
          </a:xfrm>
          <a:prstGeom prst="roundRect">
            <a:avLst>
              <a:gd name="adj" fmla="val 7273"/>
            </a:avLst>
          </a:prstGeom>
          <a:solidFill>
            <a:srgbClr val="FFFFFF"/>
          </a:solidFill>
          <a:ln w="9525">
            <a:solidFill>
              <a:srgbClr val="E8E0DE"/>
            </a:solidFill>
            <a:prstDash val="solid"/>
          </a:ln>
          <a:effectLst>
            <a:outerShdw blurRad="50800" dist="12700" dir="5400000" algn="bl" rotWithShape="0">
              <a:srgbClr val="000000">
                <a:alpha val="6000"/>
              </a:srgbClr>
            </a:outerShdw>
          </a:effectLst>
        </p:spPr>
        <p:txBody>
          <a:bodyPr/>
          <a:lstStyle/>
          <a:p>
            <a:endParaRPr lang="en-US"/>
          </a:p>
        </p:txBody>
      </p:sp>
      <p:sp>
        <p:nvSpPr>
          <p:cNvPr id="44" name="Shape 36"/>
          <p:cNvSpPr/>
          <p:nvPr/>
        </p:nvSpPr>
        <p:spPr>
          <a:xfrm>
            <a:off x="10117836" y="2240280"/>
            <a:ext cx="1417320" cy="274320"/>
          </a:xfrm>
          <a:prstGeom prst="rect">
            <a:avLst/>
          </a:prstGeom>
          <a:solidFill>
            <a:srgbClr val="8B1A2B"/>
          </a:solidFill>
          <a:ln w="12700">
            <a:solidFill>
              <a:srgbClr val="8B1A2B"/>
            </a:solidFill>
            <a:prstDash val="solid"/>
          </a:ln>
        </p:spPr>
        <p:txBody>
          <a:bodyPr/>
          <a:lstStyle/>
          <a:p>
            <a:endParaRPr lang="en-US"/>
          </a:p>
        </p:txBody>
      </p:sp>
      <p:sp>
        <p:nvSpPr>
          <p:cNvPr id="45" name="Text 37"/>
          <p:cNvSpPr/>
          <p:nvPr/>
        </p:nvSpPr>
        <p:spPr>
          <a:xfrm>
            <a:off x="10117836" y="2240280"/>
            <a:ext cx="1417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L6</a:t>
            </a:r>
            <a:endParaRPr lang="en-US" sz="1200" dirty="0"/>
          </a:p>
        </p:txBody>
      </p:sp>
      <p:sp>
        <p:nvSpPr>
          <p:cNvPr id="46" name="Text 38"/>
          <p:cNvSpPr/>
          <p:nvPr/>
        </p:nvSpPr>
        <p:spPr>
          <a:xfrm>
            <a:off x="10163556" y="2560320"/>
            <a:ext cx="1325880" cy="411480"/>
          </a:xfrm>
          <a:prstGeom prst="rect">
            <a:avLst/>
          </a:prstGeom>
          <a:noFill/>
          <a:ln/>
        </p:spPr>
        <p:txBody>
          <a:bodyPr wrap="square" lIns="0" tIns="0" rIns="0" bIns="0"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User-equiv privileges</a:t>
            </a:r>
            <a:endParaRPr lang="en-US" sz="1100" dirty="0"/>
          </a:p>
        </p:txBody>
      </p:sp>
      <p:sp>
        <p:nvSpPr>
          <p:cNvPr id="47" name="Text 39"/>
          <p:cNvSpPr/>
          <p:nvPr/>
        </p:nvSpPr>
        <p:spPr>
          <a:xfrm>
            <a:off x="10163556" y="2953512"/>
            <a:ext cx="1325880" cy="256032"/>
          </a:xfrm>
          <a:prstGeom prst="rect">
            <a:avLst/>
          </a:prstGeom>
          <a:noFill/>
          <a:ln/>
        </p:spPr>
        <p:txBody>
          <a:bodyPr wrap="square" lIns="0" tIns="0" rIns="0" bIns="0" rtlCol="0" anchor="ctr"/>
          <a:lstStyle/>
          <a:p>
            <a:pPr marL="0" indent="0" algn="ctr">
              <a:buNone/>
            </a:pPr>
            <a:r>
              <a:rPr lang="en-US" sz="1200" i="1" dirty="0">
                <a:solidFill>
                  <a:srgbClr val="5C5C6E"/>
                </a:solidFill>
                <a:latin typeface="Calibri" pitchFamily="34" charset="0"/>
                <a:ea typeface="Calibri" pitchFamily="34" charset="-122"/>
                <a:cs typeface="Calibri" pitchFamily="34" charset="-120"/>
              </a:rPr>
              <a:t>Security/Compliance</a:t>
            </a:r>
            <a:endParaRPr lang="en-US" sz="1200" dirty="0"/>
          </a:p>
        </p:txBody>
      </p:sp>
      <p:sp>
        <p:nvSpPr>
          <p:cNvPr id="48" name="Text 40"/>
          <p:cNvSpPr/>
          <p:nvPr/>
        </p:nvSpPr>
        <p:spPr>
          <a:xfrm>
            <a:off x="731520" y="3566160"/>
            <a:ext cx="54864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THE PATTERN</a:t>
            </a:r>
            <a:endParaRPr lang="en-US" sz="1100" dirty="0"/>
          </a:p>
        </p:txBody>
      </p:sp>
      <p:sp>
        <p:nvSpPr>
          <p:cNvPr id="49" name="Text 41"/>
          <p:cNvSpPr/>
          <p:nvPr/>
        </p:nvSpPr>
        <p:spPr>
          <a:xfrm>
            <a:off x="731520" y="3886200"/>
            <a:ext cx="5852160" cy="1645920"/>
          </a:xfrm>
          <a:prstGeom prst="rect">
            <a:avLst/>
          </a:prstGeom>
          <a:noFill/>
          <a:ln/>
        </p:spPr>
        <p:txBody>
          <a:bodyPr wrap="square" lIns="0" tIns="0" rIns="0" bIns="0" rtlCol="0" anchor="ctr"/>
          <a:lstStyle/>
          <a:p>
            <a:pPr marL="0" indent="0">
              <a:buNone/>
            </a:pPr>
            <a:r>
              <a:rPr lang="en-US" sz="1600" dirty="0">
                <a:solidFill>
                  <a:srgbClr val="1A1A2E"/>
                </a:solidFill>
                <a:latin typeface="Calibri" pitchFamily="34" charset="0"/>
                <a:ea typeface="Calibri" pitchFamily="34" charset="-122"/>
                <a:cs typeface="Calibri" pitchFamily="34" charset="-120"/>
              </a:rPr>
              <a:t>Each layer had reasonable defenses. </a:t>
            </a:r>
            <a:r>
              <a:rPr lang="en-US" sz="1600" b="1" dirty="0">
                <a:solidFill>
                  <a:srgbClr val="1A1A2E"/>
                </a:solidFill>
                <a:latin typeface="Calibri" pitchFamily="34" charset="0"/>
                <a:ea typeface="Calibri" pitchFamily="34" charset="-122"/>
                <a:cs typeface="Calibri" pitchFamily="34" charset="-120"/>
              </a:rPr>
              <a:t>None of them owned the handoff to the next.</a:t>
            </a:r>
            <a:r>
              <a:rPr lang="en-US" sz="1600" dirty="0">
                <a:solidFill>
                  <a:srgbClr val="1A1A2E"/>
                </a:solidFill>
                <a:latin typeface="Calibri" pitchFamily="34" charset="0"/>
                <a:ea typeface="Calibri" pitchFamily="34" charset="-122"/>
                <a:cs typeface="Calibri" pitchFamily="34" charset="-120"/>
              </a:rPr>
              <a:t> </a:t>
            </a:r>
          </a:p>
          <a:p>
            <a:pPr marL="0" indent="0">
              <a:buNone/>
            </a:pPr>
            <a:endParaRPr lang="en-US" sz="1600" dirty="0">
              <a:solidFill>
                <a:srgbClr val="1A1A2E"/>
              </a:solidFill>
              <a:latin typeface="Calibri" pitchFamily="34" charset="0"/>
              <a:ea typeface="Calibri" pitchFamily="34" charset="-122"/>
              <a:cs typeface="Calibri" pitchFamily="34" charset="-120"/>
            </a:endParaRPr>
          </a:p>
          <a:p>
            <a:pPr marL="0" indent="0">
              <a:buNone/>
            </a:pPr>
            <a:r>
              <a:rPr lang="en-US" sz="1600" dirty="0">
                <a:solidFill>
                  <a:srgbClr val="1A1A2E"/>
                </a:solidFill>
                <a:latin typeface="Calibri" pitchFamily="34" charset="0"/>
                <a:ea typeface="Calibri" pitchFamily="34" charset="-122"/>
                <a:cs typeface="Calibri" pitchFamily="34" charset="-120"/>
              </a:rPr>
              <a:t>That's the gap MAESTRO is designed to surface — and it's why a single email with no clicks could exfiltrate enterprise data.</a:t>
            </a:r>
            <a:endParaRPr lang="en-US" sz="1600" dirty="0"/>
          </a:p>
        </p:txBody>
      </p:sp>
      <p:sp>
        <p:nvSpPr>
          <p:cNvPr id="50" name="Text 42"/>
          <p:cNvSpPr/>
          <p:nvPr/>
        </p:nvSpPr>
        <p:spPr>
          <a:xfrm>
            <a:off x="6949440" y="3566160"/>
            <a:ext cx="4572000" cy="274320"/>
          </a:xfrm>
          <a:prstGeom prst="rect">
            <a:avLst/>
          </a:prstGeom>
          <a:noFill/>
          <a:ln/>
        </p:spPr>
        <p:txBody>
          <a:bodyPr wrap="square" lIns="0" tIns="0" rIns="0" bIns="0" rtlCol="0" anchor="ctr"/>
          <a:lstStyle/>
          <a:p>
            <a:pPr marL="0" indent="0">
              <a:buNone/>
            </a:pPr>
            <a:r>
              <a:rPr lang="en-US" sz="1100" b="1" kern="0" spc="300" dirty="0">
                <a:solidFill>
                  <a:srgbClr val="8B1A2B"/>
                </a:solidFill>
                <a:latin typeface="Calibri" pitchFamily="34" charset="0"/>
                <a:ea typeface="Calibri" pitchFamily="34" charset="-122"/>
                <a:cs typeface="Calibri" pitchFamily="34" charset="-120"/>
              </a:rPr>
              <a:t>PRIORITY MITIGATIONS</a:t>
            </a:r>
            <a:endParaRPr lang="en-US" sz="1100" dirty="0"/>
          </a:p>
        </p:txBody>
      </p:sp>
      <p:sp>
        <p:nvSpPr>
          <p:cNvPr id="51" name="Shape 43"/>
          <p:cNvSpPr/>
          <p:nvPr/>
        </p:nvSpPr>
        <p:spPr>
          <a:xfrm>
            <a:off x="6949440" y="3886200"/>
            <a:ext cx="457200" cy="292608"/>
          </a:xfrm>
          <a:prstGeom prst="rect">
            <a:avLst/>
          </a:prstGeom>
          <a:solidFill>
            <a:srgbClr val="8B1A2B"/>
          </a:solidFill>
          <a:ln w="12700">
            <a:solidFill>
              <a:srgbClr val="8B1A2B"/>
            </a:solidFill>
            <a:prstDash val="solid"/>
          </a:ln>
        </p:spPr>
        <p:txBody>
          <a:bodyPr/>
          <a:lstStyle/>
          <a:p>
            <a:endParaRPr lang="en-US"/>
          </a:p>
        </p:txBody>
      </p:sp>
      <p:sp>
        <p:nvSpPr>
          <p:cNvPr id="52" name="Text 44"/>
          <p:cNvSpPr/>
          <p:nvPr/>
        </p:nvSpPr>
        <p:spPr>
          <a:xfrm>
            <a:off x="6949440" y="3886200"/>
            <a:ext cx="4572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L2</a:t>
            </a:r>
            <a:endParaRPr lang="en-US" sz="1000" dirty="0"/>
          </a:p>
        </p:txBody>
      </p:sp>
      <p:sp>
        <p:nvSpPr>
          <p:cNvPr id="53" name="Text 45"/>
          <p:cNvSpPr/>
          <p:nvPr/>
        </p:nvSpPr>
        <p:spPr>
          <a:xfrm>
            <a:off x="7498080" y="3886200"/>
            <a:ext cx="4572000" cy="292608"/>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Provenance-tag retrieved content (trusted vs. untrusted)</a:t>
            </a:r>
            <a:endParaRPr lang="en-US" sz="1400" dirty="0"/>
          </a:p>
        </p:txBody>
      </p:sp>
      <p:sp>
        <p:nvSpPr>
          <p:cNvPr id="54" name="Shape 46"/>
          <p:cNvSpPr/>
          <p:nvPr/>
        </p:nvSpPr>
        <p:spPr>
          <a:xfrm>
            <a:off x="6949440" y="4270248"/>
            <a:ext cx="457200" cy="292608"/>
          </a:xfrm>
          <a:prstGeom prst="rect">
            <a:avLst/>
          </a:prstGeom>
          <a:solidFill>
            <a:srgbClr val="8B1A2B"/>
          </a:solidFill>
          <a:ln w="12700">
            <a:solidFill>
              <a:srgbClr val="8B1A2B"/>
            </a:solidFill>
            <a:prstDash val="solid"/>
          </a:ln>
        </p:spPr>
        <p:txBody>
          <a:bodyPr/>
          <a:lstStyle/>
          <a:p>
            <a:endParaRPr lang="en-US"/>
          </a:p>
        </p:txBody>
      </p:sp>
      <p:sp>
        <p:nvSpPr>
          <p:cNvPr id="55" name="Text 47"/>
          <p:cNvSpPr/>
          <p:nvPr/>
        </p:nvSpPr>
        <p:spPr>
          <a:xfrm>
            <a:off x="6949440" y="4270248"/>
            <a:ext cx="4572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L3</a:t>
            </a:r>
            <a:endParaRPr lang="en-US" sz="1000" dirty="0"/>
          </a:p>
        </p:txBody>
      </p:sp>
      <p:sp>
        <p:nvSpPr>
          <p:cNvPr id="56" name="Text 48"/>
          <p:cNvSpPr/>
          <p:nvPr/>
        </p:nvSpPr>
        <p:spPr>
          <a:xfrm>
            <a:off x="7498080" y="4270248"/>
            <a:ext cx="4572000" cy="292608"/>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Restrict output rendering when context is mixed-trust</a:t>
            </a:r>
            <a:endParaRPr lang="en-US" sz="1400" dirty="0"/>
          </a:p>
        </p:txBody>
      </p:sp>
      <p:sp>
        <p:nvSpPr>
          <p:cNvPr id="57" name="Shape 49"/>
          <p:cNvSpPr/>
          <p:nvPr/>
        </p:nvSpPr>
        <p:spPr>
          <a:xfrm>
            <a:off x="6949440" y="4654296"/>
            <a:ext cx="457200" cy="292608"/>
          </a:xfrm>
          <a:prstGeom prst="rect">
            <a:avLst/>
          </a:prstGeom>
          <a:solidFill>
            <a:srgbClr val="8B1A2B"/>
          </a:solidFill>
          <a:ln w="12700">
            <a:solidFill>
              <a:srgbClr val="8B1A2B"/>
            </a:solidFill>
            <a:prstDash val="solid"/>
          </a:ln>
        </p:spPr>
        <p:txBody>
          <a:bodyPr/>
          <a:lstStyle/>
          <a:p>
            <a:endParaRPr lang="en-US"/>
          </a:p>
        </p:txBody>
      </p:sp>
      <p:sp>
        <p:nvSpPr>
          <p:cNvPr id="58" name="Text 50"/>
          <p:cNvSpPr/>
          <p:nvPr/>
        </p:nvSpPr>
        <p:spPr>
          <a:xfrm>
            <a:off x="6949440" y="4654296"/>
            <a:ext cx="4572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L4</a:t>
            </a:r>
            <a:endParaRPr lang="en-US" sz="1000" dirty="0"/>
          </a:p>
        </p:txBody>
      </p:sp>
      <p:sp>
        <p:nvSpPr>
          <p:cNvPr id="59" name="Text 51"/>
          <p:cNvSpPr/>
          <p:nvPr/>
        </p:nvSpPr>
        <p:spPr>
          <a:xfrm>
            <a:off x="7498080" y="4654296"/>
            <a:ext cx="4572000" cy="292608"/>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Block agent-emitted URLs by default, allowlist explicitly</a:t>
            </a:r>
            <a:endParaRPr lang="en-US" sz="1400" dirty="0"/>
          </a:p>
        </p:txBody>
      </p:sp>
      <p:sp>
        <p:nvSpPr>
          <p:cNvPr id="60" name="Shape 52"/>
          <p:cNvSpPr/>
          <p:nvPr/>
        </p:nvSpPr>
        <p:spPr>
          <a:xfrm>
            <a:off x="6949440" y="5038344"/>
            <a:ext cx="457200" cy="292608"/>
          </a:xfrm>
          <a:prstGeom prst="rect">
            <a:avLst/>
          </a:prstGeom>
          <a:solidFill>
            <a:srgbClr val="8B1A2B"/>
          </a:solidFill>
          <a:ln w="12700">
            <a:solidFill>
              <a:srgbClr val="8B1A2B"/>
            </a:solidFill>
            <a:prstDash val="solid"/>
          </a:ln>
        </p:spPr>
        <p:txBody>
          <a:bodyPr/>
          <a:lstStyle/>
          <a:p>
            <a:endParaRPr lang="en-US"/>
          </a:p>
        </p:txBody>
      </p:sp>
      <p:sp>
        <p:nvSpPr>
          <p:cNvPr id="61" name="Text 53"/>
          <p:cNvSpPr/>
          <p:nvPr/>
        </p:nvSpPr>
        <p:spPr>
          <a:xfrm>
            <a:off x="6949440" y="5038344"/>
            <a:ext cx="4572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L5</a:t>
            </a:r>
            <a:endParaRPr lang="en-US" sz="1000" dirty="0"/>
          </a:p>
        </p:txBody>
      </p:sp>
      <p:sp>
        <p:nvSpPr>
          <p:cNvPr id="62" name="Text 54"/>
          <p:cNvSpPr/>
          <p:nvPr/>
        </p:nvSpPr>
        <p:spPr>
          <a:xfrm>
            <a:off x="7498080" y="5038344"/>
            <a:ext cx="4572000" cy="292608"/>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Log every retrieved chunk's origin and every emitted URL</a:t>
            </a:r>
            <a:endParaRPr lang="en-US" sz="1400" dirty="0"/>
          </a:p>
        </p:txBody>
      </p:sp>
      <p:sp>
        <p:nvSpPr>
          <p:cNvPr id="63" name="Shape 55"/>
          <p:cNvSpPr/>
          <p:nvPr/>
        </p:nvSpPr>
        <p:spPr>
          <a:xfrm>
            <a:off x="6949440" y="5422392"/>
            <a:ext cx="457200" cy="292608"/>
          </a:xfrm>
          <a:prstGeom prst="rect">
            <a:avLst/>
          </a:prstGeom>
          <a:solidFill>
            <a:srgbClr val="8B1A2B"/>
          </a:solidFill>
          <a:ln w="12700">
            <a:solidFill>
              <a:srgbClr val="8B1A2B"/>
            </a:solidFill>
            <a:prstDash val="solid"/>
          </a:ln>
        </p:spPr>
        <p:txBody>
          <a:bodyPr/>
          <a:lstStyle/>
          <a:p>
            <a:endParaRPr lang="en-US"/>
          </a:p>
        </p:txBody>
      </p:sp>
      <p:sp>
        <p:nvSpPr>
          <p:cNvPr id="64" name="Text 56"/>
          <p:cNvSpPr/>
          <p:nvPr/>
        </p:nvSpPr>
        <p:spPr>
          <a:xfrm>
            <a:off x="6949440" y="5422392"/>
            <a:ext cx="45720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L6</a:t>
            </a:r>
            <a:endParaRPr lang="en-US" sz="1000" dirty="0"/>
          </a:p>
        </p:txBody>
      </p:sp>
      <p:sp>
        <p:nvSpPr>
          <p:cNvPr id="65" name="Text 57"/>
          <p:cNvSpPr/>
          <p:nvPr/>
        </p:nvSpPr>
        <p:spPr>
          <a:xfrm>
            <a:off x="7498080" y="5422392"/>
            <a:ext cx="4572000" cy="292608"/>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Narrow agent scope; require fresh auth for sensitive reads</a:t>
            </a:r>
            <a:endParaRPr lang="en-US" sz="1400" dirty="0"/>
          </a:p>
        </p:txBody>
      </p:sp>
      <p:sp>
        <p:nvSpPr>
          <p:cNvPr id="66" name="Shape 58"/>
          <p:cNvSpPr/>
          <p:nvPr/>
        </p:nvSpPr>
        <p:spPr>
          <a:xfrm>
            <a:off x="731520" y="6172200"/>
            <a:ext cx="10698480" cy="457200"/>
          </a:xfrm>
          <a:prstGeom prst="rect">
            <a:avLst/>
          </a:prstGeom>
          <a:solidFill>
            <a:srgbClr val="1A1A2E"/>
          </a:solidFill>
          <a:ln w="12700">
            <a:solidFill>
              <a:srgbClr val="1A1A2E"/>
            </a:solidFill>
            <a:prstDash val="solid"/>
          </a:ln>
        </p:spPr>
        <p:txBody>
          <a:bodyPr/>
          <a:lstStyle/>
          <a:p>
            <a:endParaRPr lang="en-US"/>
          </a:p>
        </p:txBody>
      </p:sp>
      <p:sp>
        <p:nvSpPr>
          <p:cNvPr id="67" name="Text 59"/>
          <p:cNvSpPr/>
          <p:nvPr/>
        </p:nvSpPr>
        <p:spPr>
          <a:xfrm>
            <a:off x="914400" y="6172200"/>
            <a:ext cx="103327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bottom line:  </a:t>
            </a:r>
            <a:r>
              <a:rPr lang="en-US" sz="1600" dirty="0">
                <a:solidFill>
                  <a:srgbClr val="FFFFFF"/>
                </a:solidFill>
                <a:latin typeface="Calibri" pitchFamily="34" charset="0"/>
                <a:ea typeface="Calibri" pitchFamily="34" charset="-122"/>
                <a:cs typeface="Calibri" pitchFamily="34" charset="-120"/>
              </a:rPr>
              <a:t>Defenses at each layer aren't enough. Agentic AI needs defenses </a:t>
            </a:r>
            <a:r>
              <a:rPr lang="en-US" sz="1600" i="1" dirty="0">
                <a:solidFill>
                  <a:srgbClr val="FFFFFF"/>
                </a:solidFill>
                <a:latin typeface="Calibri" pitchFamily="34" charset="0"/>
                <a:ea typeface="Calibri" pitchFamily="34" charset="-122"/>
                <a:cs typeface="Calibri" pitchFamily="34" charset="-120"/>
              </a:rPr>
              <a:t>between</a:t>
            </a:r>
            <a:r>
              <a:rPr lang="en-US" sz="1600" dirty="0">
                <a:solidFill>
                  <a:srgbClr val="FFFFFF"/>
                </a:solidFill>
                <a:latin typeface="Calibri" pitchFamily="34" charset="0"/>
                <a:ea typeface="Calibri" pitchFamily="34" charset="-122"/>
                <a:cs typeface="Calibri" pitchFamily="34" charset="-120"/>
              </a:rPr>
              <a:t> layers.</a:t>
            </a:r>
            <a:endParaRPr lang="en-US" sz="1600" dirty="0"/>
          </a:p>
        </p:txBody>
      </p:sp>
      <p:sp>
        <p:nvSpPr>
          <p:cNvPr id="69" name="Text 2">
            <a:extLst>
              <a:ext uri="{FF2B5EF4-FFF2-40B4-BE49-F238E27FC236}">
                <a16:creationId xmlns:a16="http://schemas.microsoft.com/office/drawing/2014/main" id="{DFA5652B-AA40-48BA-C0D3-DDEBA20B3DEF}"/>
              </a:ext>
            </a:extLst>
          </p:cNvPr>
          <p:cNvSpPr/>
          <p:nvPr/>
        </p:nvSpPr>
        <p:spPr>
          <a:xfrm>
            <a:off x="10058400" y="384048"/>
            <a:ext cx="1645920" cy="1280160"/>
          </a:xfrm>
          <a:prstGeom prst="rect">
            <a:avLst/>
          </a:prstGeom>
          <a:noFill/>
          <a:ln/>
        </p:spPr>
        <p:txBody>
          <a:bodyPr wrap="square" lIns="0" tIns="0" rIns="0" bIns="0" rtlCol="0" anchor="ctr"/>
          <a:lstStyle/>
          <a:p>
            <a:pPr marL="0" indent="0" algn="r">
              <a:buNone/>
            </a:pPr>
            <a:r>
              <a:rPr lang="en-US" sz="8000" b="1" dirty="0">
                <a:solidFill>
                  <a:srgbClr val="8B1A2B"/>
                </a:solidFill>
                <a:latin typeface="Georgia" pitchFamily="34" charset="0"/>
                <a:ea typeface="Georgia" pitchFamily="34" charset="-122"/>
                <a:cs typeface="Georgia" pitchFamily="34" charset="-120"/>
              </a:rPr>
              <a:t>XL</a:t>
            </a:r>
            <a:endParaRPr lang="en-US" sz="8000" dirty="0">
              <a:solidFill>
                <a:srgbClr val="8B1A2B"/>
              </a:solidFill>
            </a:endParaRPr>
          </a:p>
        </p:txBody>
      </p:sp>
      <p:sp>
        <p:nvSpPr>
          <p:cNvPr id="70" name="TextBox 69"/>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35 / 43</a:t>
            </a:r>
          </a:p>
        </p:txBody>
      </p:sp>
    </p:spTree>
  </p:cSld>
  <p:clrMapOvr>
    <a:masterClrMapping/>
  </p:clrMapOvr>
  <mc:AlternateContent xmlns:mc="http://schemas.openxmlformats.org/markup-compatibility/2006">
    <mc:Choice xmlns:p14="http://schemas.microsoft.com/office/powerpoint/2010/main" Requires="p14">
      <p:transition spd="slow" p14:dur="2000" advTm="40471"/>
    </mc:Choice>
    <mc:Fallback>
      <p:transition spd="slow" advTm="4047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C0E23-94C3-CA88-8F71-0C328DAB354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E43BD0E-76C5-E1E6-CE8F-AD2CA2376DA2}"/>
              </a:ext>
            </a:extLst>
          </p:cNvPr>
          <p:cNvSpPr/>
          <p:nvPr/>
        </p:nvSpPr>
        <p:spPr>
          <a:xfrm>
            <a:off x="640080" y="1188720"/>
            <a:ext cx="10972800" cy="457200"/>
          </a:xfrm>
          <a:prstGeom prst="rect">
            <a:avLst/>
          </a:prstGeom>
          <a:noFill/>
          <a:ln/>
        </p:spPr>
        <p:txBody>
          <a:bodyPr wrap="square" lIns="0" tIns="0" rIns="0" bIns="0" rtlCol="0" anchor="ctr"/>
          <a:lstStyle/>
          <a:p>
            <a:pPr marL="0" indent="0">
              <a:buNone/>
            </a:pPr>
            <a:endParaRPr lang="en-US" dirty="0"/>
          </a:p>
        </p:txBody>
      </p:sp>
      <p:sp>
        <p:nvSpPr>
          <p:cNvPr id="4" name="Shape 2">
            <a:extLst>
              <a:ext uri="{FF2B5EF4-FFF2-40B4-BE49-F238E27FC236}">
                <a16:creationId xmlns:a16="http://schemas.microsoft.com/office/drawing/2014/main" id="{5354D8FF-758E-55A5-8ABC-7DA036359FF9}"/>
              </a:ext>
              <a:ext uri="{C183D7F6-B498-43B3-948B-1728B52AA6E4}">
                <adec:decorative xmlns:adec="http://schemas.microsoft.com/office/drawing/2017/decorative" val="1"/>
              </a:ext>
            </a:extLst>
          </p:cNvPr>
          <p:cNvSpPr/>
          <p:nvPr/>
        </p:nvSpPr>
        <p:spPr>
          <a:xfrm>
            <a:off x="822960" y="513080"/>
            <a:ext cx="777240" cy="777240"/>
          </a:xfrm>
          <a:prstGeom prst="ellipse">
            <a:avLst/>
          </a:prstGeom>
          <a:solidFill>
            <a:srgbClr val="06B6D4"/>
          </a:solidFill>
          <a:ln/>
        </p:spPr>
        <p:txBody>
          <a:bodyPr/>
          <a:lstStyle/>
          <a:p>
            <a:endParaRPr lang="en-US" dirty="0"/>
          </a:p>
        </p:txBody>
      </p:sp>
      <p:sp>
        <p:nvSpPr>
          <p:cNvPr id="5" name="Text 3">
            <a:extLst>
              <a:ext uri="{FF2B5EF4-FFF2-40B4-BE49-F238E27FC236}">
                <a16:creationId xmlns:a16="http://schemas.microsoft.com/office/drawing/2014/main" id="{F34D83F2-B629-1E5C-1E59-61DD9B8814FA}"/>
              </a:ext>
            </a:extLst>
          </p:cNvPr>
          <p:cNvSpPr/>
          <p:nvPr/>
        </p:nvSpPr>
        <p:spPr>
          <a:xfrm>
            <a:off x="822960" y="1965960"/>
            <a:ext cx="777240" cy="777240"/>
          </a:xfrm>
          <a:prstGeom prst="rect">
            <a:avLst/>
          </a:prstGeom>
          <a:noFill/>
          <a:ln/>
        </p:spPr>
        <p:txBody>
          <a:bodyPr wrap="square" lIns="0" tIns="0" rIns="0" bIns="0" rtlCol="0" anchor="ctr"/>
          <a:lstStyle/>
          <a:p>
            <a:pPr marL="0" indent="0" algn="ctr">
              <a:buNone/>
            </a:pPr>
            <a:endParaRPr lang="en-US" sz="3000" dirty="0"/>
          </a:p>
        </p:txBody>
      </p:sp>
      <p:sp>
        <p:nvSpPr>
          <p:cNvPr id="7" name="Text 5">
            <a:extLst>
              <a:ext uri="{FF2B5EF4-FFF2-40B4-BE49-F238E27FC236}">
                <a16:creationId xmlns:a16="http://schemas.microsoft.com/office/drawing/2014/main" id="{993661E2-AECC-2FCD-0E87-206E1A125FD3}"/>
              </a:ext>
            </a:extLst>
          </p:cNvPr>
          <p:cNvSpPr/>
          <p:nvPr/>
        </p:nvSpPr>
        <p:spPr>
          <a:xfrm>
            <a:off x="1828800" y="2377440"/>
            <a:ext cx="9601200" cy="365760"/>
          </a:xfrm>
          <a:prstGeom prst="rect">
            <a:avLst/>
          </a:prstGeom>
          <a:noFill/>
          <a:ln/>
        </p:spPr>
        <p:txBody>
          <a:bodyPr wrap="square" lIns="0" tIns="0" rIns="0" bIns="0" rtlCol="0" anchor="t"/>
          <a:lstStyle/>
          <a:p>
            <a:pPr marL="0" indent="0">
              <a:buNone/>
            </a:pPr>
            <a:endParaRPr lang="en-US" sz="1600" dirty="0"/>
          </a:p>
        </p:txBody>
      </p:sp>
      <p:sp>
        <p:nvSpPr>
          <p:cNvPr id="9" name="Text 7">
            <a:extLst>
              <a:ext uri="{FF2B5EF4-FFF2-40B4-BE49-F238E27FC236}">
                <a16:creationId xmlns:a16="http://schemas.microsoft.com/office/drawing/2014/main" id="{52DB5485-ECF9-DF07-0CE8-9472701D127F}"/>
              </a:ext>
            </a:extLst>
          </p:cNvPr>
          <p:cNvSpPr/>
          <p:nvPr/>
        </p:nvSpPr>
        <p:spPr>
          <a:xfrm>
            <a:off x="822960" y="2926080"/>
            <a:ext cx="777240" cy="777240"/>
          </a:xfrm>
          <a:prstGeom prst="rect">
            <a:avLst/>
          </a:prstGeom>
          <a:noFill/>
          <a:ln/>
        </p:spPr>
        <p:txBody>
          <a:bodyPr wrap="square" lIns="0" tIns="0" rIns="0" bIns="0" rtlCol="0" anchor="ctr"/>
          <a:lstStyle/>
          <a:p>
            <a:pPr marL="0" indent="0" algn="ctr">
              <a:buNone/>
            </a:pPr>
            <a:endParaRPr lang="en-US" sz="3000" dirty="0"/>
          </a:p>
        </p:txBody>
      </p:sp>
      <p:sp>
        <p:nvSpPr>
          <p:cNvPr id="17" name="Text 15">
            <a:extLst>
              <a:ext uri="{FF2B5EF4-FFF2-40B4-BE49-F238E27FC236}">
                <a16:creationId xmlns:a16="http://schemas.microsoft.com/office/drawing/2014/main" id="{5315A4A5-EB8F-AA1A-3BE8-19E74536BFD3}"/>
              </a:ext>
            </a:extLst>
          </p:cNvPr>
          <p:cNvSpPr/>
          <p:nvPr/>
        </p:nvSpPr>
        <p:spPr>
          <a:xfrm>
            <a:off x="822960" y="4516490"/>
            <a:ext cx="777240" cy="777240"/>
          </a:xfrm>
          <a:prstGeom prst="rect">
            <a:avLst/>
          </a:prstGeom>
          <a:noFill/>
          <a:ln/>
        </p:spPr>
        <p:txBody>
          <a:bodyPr wrap="square" lIns="0" tIns="0" rIns="0" bIns="0" rtlCol="0" anchor="ctr"/>
          <a:lstStyle/>
          <a:p>
            <a:pPr marL="0" indent="0" algn="ctr">
              <a:buNone/>
            </a:pPr>
            <a:endParaRPr lang="en-US" sz="3000" b="1" dirty="0">
              <a:solidFill>
                <a:schemeClr val="bg1"/>
              </a:solidFill>
              <a:latin typeface="Georgia" panose="02040502050405020303" pitchFamily="18" charset="0"/>
            </a:endParaRPr>
          </a:p>
        </p:txBody>
      </p:sp>
      <p:sp>
        <p:nvSpPr>
          <p:cNvPr id="24" name="Text 21">
            <a:extLst>
              <a:ext uri="{FF2B5EF4-FFF2-40B4-BE49-F238E27FC236}">
                <a16:creationId xmlns:a16="http://schemas.microsoft.com/office/drawing/2014/main" id="{3EEB6192-CBDB-0CDA-7B24-A8FBC5D8E129}"/>
              </a:ext>
            </a:extLst>
          </p:cNvPr>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25" name="Text 11">
            <a:extLst>
              <a:ext uri="{FF2B5EF4-FFF2-40B4-BE49-F238E27FC236}">
                <a16:creationId xmlns:a16="http://schemas.microsoft.com/office/drawing/2014/main" id="{D2F4CB1D-4AE0-1690-7B72-C116E5237A44}"/>
              </a:ext>
            </a:extLst>
          </p:cNvPr>
          <p:cNvSpPr/>
          <p:nvPr/>
        </p:nvSpPr>
        <p:spPr>
          <a:xfrm>
            <a:off x="822960" y="2678734"/>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2</a:t>
            </a:r>
            <a:endParaRPr lang="en-US" sz="3000" dirty="0"/>
          </a:p>
        </p:txBody>
      </p:sp>
      <p:sp>
        <p:nvSpPr>
          <p:cNvPr id="26" name="Text 11">
            <a:extLst>
              <a:ext uri="{FF2B5EF4-FFF2-40B4-BE49-F238E27FC236}">
                <a16:creationId xmlns:a16="http://schemas.microsoft.com/office/drawing/2014/main" id="{0316344A-E145-AF07-596A-93CE76C38A97}"/>
              </a:ext>
            </a:extLst>
          </p:cNvPr>
          <p:cNvSpPr/>
          <p:nvPr/>
        </p:nvSpPr>
        <p:spPr>
          <a:xfrm>
            <a:off x="822960" y="464183"/>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rPr>
              <a:t>5</a:t>
            </a:r>
            <a:endParaRPr lang="en-US" sz="3000" dirty="0"/>
          </a:p>
        </p:txBody>
      </p:sp>
      <p:sp>
        <p:nvSpPr>
          <p:cNvPr id="11" name="Text 4">
            <a:extLst>
              <a:ext uri="{FF2B5EF4-FFF2-40B4-BE49-F238E27FC236}">
                <a16:creationId xmlns:a16="http://schemas.microsoft.com/office/drawing/2014/main" id="{19CE8FD3-6C12-4785-F9BF-0FA5BFCBF068}"/>
              </a:ext>
            </a:extLst>
          </p:cNvPr>
          <p:cNvSpPr/>
          <p:nvPr/>
        </p:nvSpPr>
        <p:spPr>
          <a:xfrm>
            <a:off x="1859280" y="630707"/>
            <a:ext cx="8534400" cy="457200"/>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MAESTRO In Our Everyday</a:t>
            </a:r>
            <a:endParaRPr lang="en-US" sz="3600" dirty="0"/>
          </a:p>
        </p:txBody>
      </p:sp>
      <p:sp>
        <p:nvSpPr>
          <p:cNvPr id="19" name="Text 15">
            <a:extLst>
              <a:ext uri="{FF2B5EF4-FFF2-40B4-BE49-F238E27FC236}">
                <a16:creationId xmlns:a16="http://schemas.microsoft.com/office/drawing/2014/main" id="{281C39F6-8F0C-E4E2-2D1C-5B429D08C370}"/>
              </a:ext>
            </a:extLst>
          </p:cNvPr>
          <p:cNvSpPr/>
          <p:nvPr/>
        </p:nvSpPr>
        <p:spPr>
          <a:xfrm>
            <a:off x="812800" y="5430890"/>
            <a:ext cx="777240" cy="777240"/>
          </a:xfrm>
          <a:prstGeom prst="rect">
            <a:avLst/>
          </a:prstGeom>
          <a:noFill/>
          <a:ln/>
        </p:spPr>
        <p:txBody>
          <a:bodyPr wrap="square" lIns="0" tIns="0" rIns="0" bIns="0" rtlCol="0" anchor="ctr"/>
          <a:lstStyle/>
          <a:p>
            <a:pPr marL="0" indent="0" algn="ctr">
              <a:buNone/>
            </a:pPr>
            <a:r>
              <a:rPr lang="en-US" sz="3000" b="1" dirty="0">
                <a:solidFill>
                  <a:schemeClr val="bg1"/>
                </a:solidFill>
                <a:latin typeface="Georgia" panose="02040502050405020303" pitchFamily="18" charset="0"/>
              </a:rPr>
              <a:t>5</a:t>
            </a:r>
          </a:p>
        </p:txBody>
      </p:sp>
      <p:pic>
        <p:nvPicPr>
          <p:cNvPr id="6" name="Picture 5">
            <a:extLst>
              <a:ext uri="{FF2B5EF4-FFF2-40B4-BE49-F238E27FC236}">
                <a16:creationId xmlns:a16="http://schemas.microsoft.com/office/drawing/2014/main" id="{B689E28F-A787-BBCA-7168-2F4AF18777B3}"/>
              </a:ext>
            </a:extLst>
          </p:cNvPr>
          <p:cNvPicPr>
            <a:picLocks noChangeAspect="1"/>
          </p:cNvPicPr>
          <p:nvPr/>
        </p:nvPicPr>
        <p:blipFill>
          <a:blip r:embed="rId3"/>
          <a:stretch>
            <a:fillRect/>
          </a:stretch>
        </p:blipFill>
        <p:spPr>
          <a:xfrm>
            <a:off x="3554730" y="1417320"/>
            <a:ext cx="5143500" cy="5143500"/>
          </a:xfrm>
          <a:prstGeom prst="rect">
            <a:avLst/>
          </a:prstGeom>
        </p:spPr>
      </p:pic>
      <p:sp>
        <p:nvSpPr>
          <p:cNvPr id="27" name="TextBox 26"/>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37 / 43</a:t>
            </a:r>
          </a:p>
        </p:txBody>
      </p:sp>
    </p:spTree>
    <p:extLst>
      <p:ext uri="{BB962C8B-B14F-4D97-AF65-F5344CB8AC3E}">
        <p14:creationId xmlns:p14="http://schemas.microsoft.com/office/powerpoint/2010/main" val="2003852247"/>
      </p:ext>
    </p:extLst>
  </p:cSld>
  <p:clrMapOvr>
    <a:masterClrMapping/>
  </p:clrMapOvr>
  <mc:AlternateContent xmlns:mc="http://schemas.openxmlformats.org/markup-compatibility/2006">
    <mc:Choice xmlns:p14="http://schemas.microsoft.com/office/powerpoint/2010/main" Requires="p14">
      <p:transition spd="slow" p14:dur="2000" advTm="393"/>
    </mc:Choice>
    <mc:Fallback>
      <p:transition spd="slow" advTm="393"/>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lIns="0" tIns="0" rIns="0" bIns="0" rtlCol="0" anchor="ctr"/>
          <a:lstStyle/>
          <a:p>
            <a:pPr marL="0" indent="0">
              <a:buNone/>
            </a:pPr>
            <a:r>
              <a:rPr lang="en-US" sz="3400" b="1" dirty="0">
                <a:solidFill>
                  <a:srgbClr val="1E293B"/>
                </a:solidFill>
                <a:latin typeface="Georgia" pitchFamily="34" charset="0"/>
                <a:ea typeface="Georgia" pitchFamily="34" charset="-122"/>
                <a:cs typeface="Georgia" pitchFamily="34" charset="-120"/>
              </a:rPr>
              <a:t>Applying MAESTRO: The Workflow</a:t>
            </a:r>
            <a:endParaRPr lang="en-US" sz="3400" dirty="0"/>
          </a:p>
        </p:txBody>
      </p:sp>
      <p:sp>
        <p:nvSpPr>
          <p:cNvPr id="4" name="Shape 2">
            <a:extLst>
              <a:ext uri="{C183D7F6-B498-43B3-948B-1728B52AA6E4}">
                <adec:decorative xmlns:adec="http://schemas.microsoft.com/office/drawing/2017/decorative" val="1"/>
              </a:ext>
            </a:extLst>
          </p:cNvPr>
          <p:cNvSpPr/>
          <p:nvPr/>
        </p:nvSpPr>
        <p:spPr>
          <a:xfrm>
            <a:off x="640080" y="1600200"/>
            <a:ext cx="3657600" cy="2212848"/>
          </a:xfrm>
          <a:prstGeom prst="rect">
            <a:avLst/>
          </a:prstGeom>
          <a:solidFill>
            <a:srgbClr val="F8FAFC"/>
          </a:solidFill>
          <a:ln w="12700">
            <a:solidFill>
              <a:srgbClr val="E2E8F0"/>
            </a:solidFill>
            <a:prstDash val="solid"/>
          </a:ln>
        </p:spPr>
        <p:txBody>
          <a:bodyPr/>
          <a:lstStyle/>
          <a:p>
            <a:endParaRPr lang="en-US"/>
          </a:p>
        </p:txBody>
      </p:sp>
      <p:sp>
        <p:nvSpPr>
          <p:cNvPr id="5" name="Shape 3">
            <a:extLst>
              <a:ext uri="{C183D7F6-B498-43B3-948B-1728B52AA6E4}">
                <adec:decorative xmlns:adec="http://schemas.microsoft.com/office/drawing/2017/decorative" val="1"/>
              </a:ext>
            </a:extLst>
          </p:cNvPr>
          <p:cNvSpPr/>
          <p:nvPr/>
        </p:nvSpPr>
        <p:spPr>
          <a:xfrm>
            <a:off x="914400" y="1874520"/>
            <a:ext cx="914400" cy="914400"/>
          </a:xfrm>
          <a:prstGeom prst="ellipse">
            <a:avLst/>
          </a:prstGeom>
          <a:solidFill>
            <a:srgbClr val="06B6D4"/>
          </a:solidFill>
          <a:ln/>
        </p:spPr>
        <p:txBody>
          <a:bodyPr/>
          <a:lstStyle/>
          <a:p>
            <a:endParaRPr lang="en-US"/>
          </a:p>
        </p:txBody>
      </p:sp>
      <p:sp>
        <p:nvSpPr>
          <p:cNvPr id="6" name="Text 4"/>
          <p:cNvSpPr/>
          <p:nvPr/>
        </p:nvSpPr>
        <p:spPr>
          <a:xfrm>
            <a:off x="914400" y="1874520"/>
            <a:ext cx="914400" cy="914400"/>
          </a:xfrm>
          <a:prstGeom prst="rect">
            <a:avLst/>
          </a:prstGeom>
          <a:noFill/>
          <a:ln/>
        </p:spPr>
        <p:txBody>
          <a:bodyPr wrap="square" lIns="0" tIns="0" rIns="0" bIns="0"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1</a:t>
            </a:r>
            <a:endParaRPr lang="en-US" sz="3800" dirty="0"/>
          </a:p>
        </p:txBody>
      </p:sp>
      <p:sp>
        <p:nvSpPr>
          <p:cNvPr id="7" name="Text 5"/>
          <p:cNvSpPr/>
          <p:nvPr/>
        </p:nvSpPr>
        <p:spPr>
          <a:xfrm>
            <a:off x="1965960" y="1920240"/>
            <a:ext cx="2194560" cy="50292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Define the system</a:t>
            </a:r>
            <a:endParaRPr lang="en-US" sz="1800" dirty="0"/>
          </a:p>
        </p:txBody>
      </p:sp>
      <p:sp>
        <p:nvSpPr>
          <p:cNvPr id="8" name="Text 6"/>
          <p:cNvSpPr/>
          <p:nvPr/>
        </p:nvSpPr>
        <p:spPr>
          <a:xfrm>
            <a:off x="1965960" y="2468880"/>
            <a:ext cx="2194560" cy="1207008"/>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Agent purpose, tools, users, data. Decompose by the seven layers. Draw it.</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4434840" y="1600200"/>
            <a:ext cx="3657600" cy="2212848"/>
          </a:xfrm>
          <a:prstGeom prst="rect">
            <a:avLst/>
          </a:prstGeom>
          <a:solidFill>
            <a:srgbClr val="F8FAFC"/>
          </a:solidFill>
          <a:ln w="12700">
            <a:solidFill>
              <a:srgbClr val="E2E8F0"/>
            </a:solidFill>
            <a:prstDash val="solid"/>
          </a:ln>
        </p:spPr>
        <p:txBody>
          <a:bodyPr/>
          <a:lstStyle/>
          <a:p>
            <a:endParaRPr lang="en-US"/>
          </a:p>
        </p:txBody>
      </p:sp>
      <p:sp>
        <p:nvSpPr>
          <p:cNvPr id="10" name="Shape 8">
            <a:extLst>
              <a:ext uri="{C183D7F6-B498-43B3-948B-1728B52AA6E4}">
                <adec:decorative xmlns:adec="http://schemas.microsoft.com/office/drawing/2017/decorative" val="1"/>
              </a:ext>
            </a:extLst>
          </p:cNvPr>
          <p:cNvSpPr/>
          <p:nvPr/>
        </p:nvSpPr>
        <p:spPr>
          <a:xfrm>
            <a:off x="4709160" y="1874520"/>
            <a:ext cx="914400" cy="914400"/>
          </a:xfrm>
          <a:prstGeom prst="ellipse">
            <a:avLst/>
          </a:prstGeom>
          <a:solidFill>
            <a:srgbClr val="06B6D4"/>
          </a:solidFill>
          <a:ln/>
        </p:spPr>
        <p:txBody>
          <a:bodyPr/>
          <a:lstStyle/>
          <a:p>
            <a:endParaRPr lang="en-US"/>
          </a:p>
        </p:txBody>
      </p:sp>
      <p:sp>
        <p:nvSpPr>
          <p:cNvPr id="11" name="Text 9"/>
          <p:cNvSpPr/>
          <p:nvPr/>
        </p:nvSpPr>
        <p:spPr>
          <a:xfrm>
            <a:off x="4709160" y="1874520"/>
            <a:ext cx="914400" cy="914400"/>
          </a:xfrm>
          <a:prstGeom prst="rect">
            <a:avLst/>
          </a:prstGeom>
          <a:noFill/>
          <a:ln/>
        </p:spPr>
        <p:txBody>
          <a:bodyPr wrap="square" lIns="0" tIns="0" rIns="0" bIns="0"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2</a:t>
            </a:r>
            <a:endParaRPr lang="en-US" sz="3800" dirty="0"/>
          </a:p>
        </p:txBody>
      </p:sp>
      <p:sp>
        <p:nvSpPr>
          <p:cNvPr id="12" name="Text 10"/>
          <p:cNvSpPr/>
          <p:nvPr/>
        </p:nvSpPr>
        <p:spPr>
          <a:xfrm>
            <a:off x="5760720" y="1920240"/>
            <a:ext cx="2194560" cy="50292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Identify assets</a:t>
            </a:r>
            <a:endParaRPr lang="en-US" sz="1800" dirty="0"/>
          </a:p>
        </p:txBody>
      </p:sp>
      <p:sp>
        <p:nvSpPr>
          <p:cNvPr id="13" name="Text 11"/>
          <p:cNvSpPr/>
          <p:nvPr/>
        </p:nvSpPr>
        <p:spPr>
          <a:xfrm>
            <a:off x="5760720" y="2468880"/>
            <a:ext cx="2194560" cy="1207008"/>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What are you protecting at each layer? Keys, customer data, identity, logs.</a:t>
            </a:r>
            <a:endParaRPr lang="en-US" sz="1400" dirty="0"/>
          </a:p>
        </p:txBody>
      </p:sp>
      <p:sp>
        <p:nvSpPr>
          <p:cNvPr id="14" name="Shape 12">
            <a:extLst>
              <a:ext uri="{C183D7F6-B498-43B3-948B-1728B52AA6E4}">
                <adec:decorative xmlns:adec="http://schemas.microsoft.com/office/drawing/2017/decorative" val="1"/>
              </a:ext>
            </a:extLst>
          </p:cNvPr>
          <p:cNvSpPr/>
          <p:nvPr/>
        </p:nvSpPr>
        <p:spPr>
          <a:xfrm>
            <a:off x="8229600" y="1600200"/>
            <a:ext cx="3657600" cy="2212848"/>
          </a:xfrm>
          <a:prstGeom prst="rect">
            <a:avLst/>
          </a:prstGeom>
          <a:solidFill>
            <a:srgbClr val="F8FAFC"/>
          </a:solidFill>
          <a:ln w="12700">
            <a:solidFill>
              <a:srgbClr val="E2E8F0"/>
            </a:solidFill>
            <a:prstDash val="solid"/>
          </a:ln>
        </p:spPr>
        <p:txBody>
          <a:bodyPr/>
          <a:lstStyle/>
          <a:p>
            <a:endParaRPr lang="en-US"/>
          </a:p>
        </p:txBody>
      </p:sp>
      <p:sp>
        <p:nvSpPr>
          <p:cNvPr id="15" name="Shape 13">
            <a:extLst>
              <a:ext uri="{C183D7F6-B498-43B3-948B-1728B52AA6E4}">
                <adec:decorative xmlns:adec="http://schemas.microsoft.com/office/drawing/2017/decorative" val="1"/>
              </a:ext>
            </a:extLst>
          </p:cNvPr>
          <p:cNvSpPr/>
          <p:nvPr/>
        </p:nvSpPr>
        <p:spPr>
          <a:xfrm>
            <a:off x="8503920" y="1874520"/>
            <a:ext cx="914400" cy="914400"/>
          </a:xfrm>
          <a:prstGeom prst="ellipse">
            <a:avLst/>
          </a:prstGeom>
          <a:solidFill>
            <a:srgbClr val="F97066"/>
          </a:solidFill>
          <a:ln/>
        </p:spPr>
        <p:txBody>
          <a:bodyPr/>
          <a:lstStyle/>
          <a:p>
            <a:endParaRPr lang="en-US" b="1" dirty="0"/>
          </a:p>
        </p:txBody>
      </p:sp>
      <p:sp>
        <p:nvSpPr>
          <p:cNvPr id="16" name="Text 14"/>
          <p:cNvSpPr/>
          <p:nvPr/>
        </p:nvSpPr>
        <p:spPr>
          <a:xfrm>
            <a:off x="8503920" y="1792224"/>
            <a:ext cx="914400" cy="914400"/>
          </a:xfrm>
          <a:prstGeom prst="rect">
            <a:avLst/>
          </a:prstGeom>
          <a:noFill/>
          <a:ln/>
        </p:spPr>
        <p:txBody>
          <a:bodyPr wrap="square" lIns="0" tIns="0" rIns="0" bIns="0"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3</a:t>
            </a:r>
            <a:endParaRPr lang="en-US" sz="3800" dirty="0"/>
          </a:p>
        </p:txBody>
      </p:sp>
      <p:sp>
        <p:nvSpPr>
          <p:cNvPr id="17" name="Text 15"/>
          <p:cNvSpPr/>
          <p:nvPr/>
        </p:nvSpPr>
        <p:spPr>
          <a:xfrm>
            <a:off x="9555480" y="1920240"/>
            <a:ext cx="2194560" cy="50292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Threats per layer</a:t>
            </a:r>
            <a:endParaRPr lang="en-US" sz="1800" dirty="0"/>
          </a:p>
        </p:txBody>
      </p:sp>
      <p:sp>
        <p:nvSpPr>
          <p:cNvPr id="18" name="Text 16"/>
          <p:cNvSpPr/>
          <p:nvPr/>
        </p:nvSpPr>
        <p:spPr>
          <a:xfrm>
            <a:off x="9555480" y="2468880"/>
            <a:ext cx="2194560" cy="1207008"/>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Walk every layer. Use MAESTRO layers as a checklist.</a:t>
            </a:r>
            <a:endParaRPr lang="en-US" sz="1400" dirty="0"/>
          </a:p>
        </p:txBody>
      </p:sp>
      <p:sp>
        <p:nvSpPr>
          <p:cNvPr id="19" name="Shape 17">
            <a:extLst>
              <a:ext uri="{C183D7F6-B498-43B3-948B-1728B52AA6E4}">
                <adec:decorative xmlns:adec="http://schemas.microsoft.com/office/drawing/2017/decorative" val="1"/>
              </a:ext>
            </a:extLst>
          </p:cNvPr>
          <p:cNvSpPr/>
          <p:nvPr/>
        </p:nvSpPr>
        <p:spPr>
          <a:xfrm>
            <a:off x="640080" y="3995928"/>
            <a:ext cx="3657600" cy="2212848"/>
          </a:xfrm>
          <a:prstGeom prst="rect">
            <a:avLst/>
          </a:prstGeom>
          <a:solidFill>
            <a:srgbClr val="F8FAFC"/>
          </a:solidFill>
          <a:ln w="12700">
            <a:solidFill>
              <a:srgbClr val="E2E8F0"/>
            </a:solidFill>
            <a:prstDash val="solid"/>
          </a:ln>
        </p:spPr>
        <p:txBody>
          <a:bodyPr/>
          <a:lstStyle/>
          <a:p>
            <a:endParaRPr lang="en-US"/>
          </a:p>
        </p:txBody>
      </p:sp>
      <p:sp>
        <p:nvSpPr>
          <p:cNvPr id="20" name="Shape 18">
            <a:extLst>
              <a:ext uri="{C183D7F6-B498-43B3-948B-1728B52AA6E4}">
                <adec:decorative xmlns:adec="http://schemas.microsoft.com/office/drawing/2017/decorative" val="1"/>
              </a:ext>
            </a:extLst>
          </p:cNvPr>
          <p:cNvSpPr/>
          <p:nvPr/>
        </p:nvSpPr>
        <p:spPr>
          <a:xfrm>
            <a:off x="914400" y="4270248"/>
            <a:ext cx="914400" cy="914400"/>
          </a:xfrm>
          <a:prstGeom prst="ellipse">
            <a:avLst/>
          </a:prstGeom>
          <a:solidFill>
            <a:srgbClr val="F97066"/>
          </a:solidFill>
          <a:ln/>
        </p:spPr>
        <p:txBody>
          <a:bodyPr/>
          <a:lstStyle/>
          <a:p>
            <a:endParaRPr lang="en-US"/>
          </a:p>
        </p:txBody>
      </p:sp>
      <p:sp>
        <p:nvSpPr>
          <p:cNvPr id="21" name="Text 19"/>
          <p:cNvSpPr/>
          <p:nvPr/>
        </p:nvSpPr>
        <p:spPr>
          <a:xfrm>
            <a:off x="914400" y="4270248"/>
            <a:ext cx="914400" cy="914400"/>
          </a:xfrm>
          <a:prstGeom prst="rect">
            <a:avLst/>
          </a:prstGeom>
          <a:noFill/>
          <a:ln/>
        </p:spPr>
        <p:txBody>
          <a:bodyPr wrap="square" lIns="0" tIns="0" rIns="0" bIns="0"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4</a:t>
            </a:r>
            <a:endParaRPr lang="en-US" sz="3800" dirty="0"/>
          </a:p>
        </p:txBody>
      </p:sp>
      <p:sp>
        <p:nvSpPr>
          <p:cNvPr id="22" name="Text 20"/>
          <p:cNvSpPr/>
          <p:nvPr/>
        </p:nvSpPr>
        <p:spPr>
          <a:xfrm>
            <a:off x="1965960" y="4315968"/>
            <a:ext cx="2194560" cy="50292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Hunt cross-layer threats</a:t>
            </a:r>
            <a:endParaRPr lang="en-US" sz="1800" dirty="0"/>
          </a:p>
        </p:txBody>
      </p:sp>
      <p:sp>
        <p:nvSpPr>
          <p:cNvPr id="23" name="Text 21"/>
          <p:cNvSpPr/>
          <p:nvPr/>
        </p:nvSpPr>
        <p:spPr>
          <a:xfrm>
            <a:off x="1965960" y="4864608"/>
            <a:ext cx="2194560" cy="1207008"/>
          </a:xfrm>
          <a:prstGeom prst="rect">
            <a:avLst/>
          </a:prstGeom>
          <a:noFill/>
          <a:ln/>
        </p:spPr>
        <p:txBody>
          <a:bodyPr wrap="square" lIns="0" tIns="0" rIns="0" bIns="0" rtlCol="0" anchor="t"/>
          <a:lstStyle/>
          <a:p>
            <a:r>
              <a:rPr lang="en-US" sz="1400" b="1" dirty="0">
                <a:solidFill>
                  <a:srgbClr val="475569"/>
                </a:solidFill>
                <a:latin typeface="Calibri" pitchFamily="34" charset="0"/>
                <a:ea typeface="Calibri" pitchFamily="34" charset="-122"/>
                <a:cs typeface="Calibri" pitchFamily="34" charset="-120"/>
              </a:rPr>
              <a:t>Use findings from #3 as a springboard. </a:t>
            </a:r>
            <a:r>
              <a:rPr lang="en-US" sz="1400" dirty="0">
                <a:solidFill>
                  <a:srgbClr val="475569"/>
                </a:solidFill>
                <a:latin typeface="Calibri" pitchFamily="34" charset="0"/>
                <a:ea typeface="Calibri" pitchFamily="34" charset="-122"/>
                <a:cs typeface="Calibri" pitchFamily="34" charset="-120"/>
              </a:rPr>
              <a:t>Ask explicitly: if attacker compromises layer X, how could it propagate to layer Y? </a:t>
            </a:r>
            <a:endParaRPr lang="en-US" sz="1400" b="1" dirty="0"/>
          </a:p>
        </p:txBody>
      </p:sp>
      <p:sp>
        <p:nvSpPr>
          <p:cNvPr id="24" name="Shape 22">
            <a:extLst>
              <a:ext uri="{C183D7F6-B498-43B3-948B-1728B52AA6E4}">
                <adec:decorative xmlns:adec="http://schemas.microsoft.com/office/drawing/2017/decorative" val="1"/>
              </a:ext>
            </a:extLst>
          </p:cNvPr>
          <p:cNvSpPr/>
          <p:nvPr/>
        </p:nvSpPr>
        <p:spPr>
          <a:xfrm>
            <a:off x="4434840" y="3995928"/>
            <a:ext cx="3657600" cy="2212848"/>
          </a:xfrm>
          <a:prstGeom prst="rect">
            <a:avLst/>
          </a:prstGeom>
          <a:solidFill>
            <a:srgbClr val="F8FAFC"/>
          </a:solidFill>
          <a:ln w="12700">
            <a:solidFill>
              <a:srgbClr val="E2E8F0"/>
            </a:solidFill>
            <a:prstDash val="solid"/>
          </a:ln>
        </p:spPr>
        <p:txBody>
          <a:bodyPr/>
          <a:lstStyle/>
          <a:p>
            <a:endParaRPr lang="en-US"/>
          </a:p>
        </p:txBody>
      </p:sp>
      <p:sp>
        <p:nvSpPr>
          <p:cNvPr id="25" name="Shape 23">
            <a:extLst>
              <a:ext uri="{C183D7F6-B498-43B3-948B-1728B52AA6E4}">
                <adec:decorative xmlns:adec="http://schemas.microsoft.com/office/drawing/2017/decorative" val="1"/>
              </a:ext>
            </a:extLst>
          </p:cNvPr>
          <p:cNvSpPr/>
          <p:nvPr/>
        </p:nvSpPr>
        <p:spPr>
          <a:xfrm>
            <a:off x="4709160" y="4270248"/>
            <a:ext cx="914400" cy="914400"/>
          </a:xfrm>
          <a:prstGeom prst="ellipse">
            <a:avLst/>
          </a:prstGeom>
          <a:solidFill>
            <a:srgbClr val="06B6D4"/>
          </a:solidFill>
          <a:ln/>
        </p:spPr>
        <p:txBody>
          <a:bodyPr/>
          <a:lstStyle/>
          <a:p>
            <a:endParaRPr lang="en-US"/>
          </a:p>
        </p:txBody>
      </p:sp>
      <p:sp>
        <p:nvSpPr>
          <p:cNvPr id="26" name="Text 24"/>
          <p:cNvSpPr/>
          <p:nvPr/>
        </p:nvSpPr>
        <p:spPr>
          <a:xfrm>
            <a:off x="4709160" y="4270248"/>
            <a:ext cx="914400" cy="914400"/>
          </a:xfrm>
          <a:prstGeom prst="rect">
            <a:avLst/>
          </a:prstGeom>
          <a:noFill/>
          <a:ln/>
        </p:spPr>
        <p:txBody>
          <a:bodyPr wrap="square" lIns="0" tIns="0" rIns="0" bIns="0"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5</a:t>
            </a:r>
            <a:endParaRPr lang="en-US" sz="3800" dirty="0"/>
          </a:p>
        </p:txBody>
      </p:sp>
      <p:sp>
        <p:nvSpPr>
          <p:cNvPr id="27" name="Text 25"/>
          <p:cNvSpPr/>
          <p:nvPr/>
        </p:nvSpPr>
        <p:spPr>
          <a:xfrm>
            <a:off x="5760720" y="4315968"/>
            <a:ext cx="2194560" cy="50292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Risk-rank</a:t>
            </a:r>
            <a:endParaRPr lang="en-US" sz="1800" dirty="0"/>
          </a:p>
        </p:txBody>
      </p:sp>
      <p:sp>
        <p:nvSpPr>
          <p:cNvPr id="28" name="Text 26"/>
          <p:cNvSpPr/>
          <p:nvPr/>
        </p:nvSpPr>
        <p:spPr>
          <a:xfrm>
            <a:off x="5760720" y="4864608"/>
            <a:ext cx="2194560" cy="1207008"/>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Risk = likelihood × impact</a:t>
            </a:r>
            <a:endParaRPr lang="en-US" sz="1400" dirty="0"/>
          </a:p>
        </p:txBody>
      </p:sp>
      <p:sp>
        <p:nvSpPr>
          <p:cNvPr id="29" name="Shape 27">
            <a:extLst>
              <a:ext uri="{C183D7F6-B498-43B3-948B-1728B52AA6E4}">
                <adec:decorative xmlns:adec="http://schemas.microsoft.com/office/drawing/2017/decorative" val="1"/>
              </a:ext>
            </a:extLst>
          </p:cNvPr>
          <p:cNvSpPr/>
          <p:nvPr/>
        </p:nvSpPr>
        <p:spPr>
          <a:xfrm>
            <a:off x="8229600" y="3995928"/>
            <a:ext cx="3657600" cy="2212848"/>
          </a:xfrm>
          <a:prstGeom prst="rect">
            <a:avLst/>
          </a:prstGeom>
          <a:solidFill>
            <a:srgbClr val="F8FAFC"/>
          </a:solidFill>
          <a:ln w="12700">
            <a:solidFill>
              <a:srgbClr val="E2E8F0"/>
            </a:solidFill>
            <a:prstDash val="solid"/>
          </a:ln>
        </p:spPr>
        <p:txBody>
          <a:bodyPr/>
          <a:lstStyle/>
          <a:p>
            <a:endParaRPr lang="en-US"/>
          </a:p>
        </p:txBody>
      </p:sp>
      <p:sp>
        <p:nvSpPr>
          <p:cNvPr id="30" name="Shape 28">
            <a:extLst>
              <a:ext uri="{C183D7F6-B498-43B3-948B-1728B52AA6E4}">
                <adec:decorative xmlns:adec="http://schemas.microsoft.com/office/drawing/2017/decorative" val="1"/>
              </a:ext>
            </a:extLst>
          </p:cNvPr>
          <p:cNvSpPr/>
          <p:nvPr/>
        </p:nvSpPr>
        <p:spPr>
          <a:xfrm>
            <a:off x="8503920" y="4270248"/>
            <a:ext cx="914400" cy="914400"/>
          </a:xfrm>
          <a:prstGeom prst="ellipse">
            <a:avLst/>
          </a:prstGeom>
          <a:solidFill>
            <a:srgbClr val="06B6D4"/>
          </a:solidFill>
          <a:ln/>
        </p:spPr>
        <p:txBody>
          <a:bodyPr/>
          <a:lstStyle/>
          <a:p>
            <a:endParaRPr lang="en-US"/>
          </a:p>
        </p:txBody>
      </p:sp>
      <p:sp>
        <p:nvSpPr>
          <p:cNvPr id="31" name="Text 29"/>
          <p:cNvSpPr/>
          <p:nvPr/>
        </p:nvSpPr>
        <p:spPr>
          <a:xfrm>
            <a:off x="8503920" y="4270248"/>
            <a:ext cx="914400" cy="914400"/>
          </a:xfrm>
          <a:prstGeom prst="rect">
            <a:avLst/>
          </a:prstGeom>
          <a:noFill/>
          <a:ln/>
        </p:spPr>
        <p:txBody>
          <a:bodyPr wrap="square" lIns="0" tIns="0" rIns="0" bIns="0" rtlCol="0" anchor="ctr"/>
          <a:lstStyle/>
          <a:p>
            <a:pPr marL="0" indent="0" algn="ctr">
              <a:buNone/>
            </a:pPr>
            <a:r>
              <a:rPr lang="en-US" sz="3800" b="1" dirty="0">
                <a:solidFill>
                  <a:srgbClr val="FFFFFF"/>
                </a:solidFill>
                <a:latin typeface="Georgia" pitchFamily="34" charset="0"/>
                <a:ea typeface="Georgia" pitchFamily="34" charset="-122"/>
                <a:cs typeface="Georgia" pitchFamily="34" charset="-120"/>
              </a:rPr>
              <a:t>6</a:t>
            </a:r>
            <a:endParaRPr lang="en-US" sz="3800" dirty="0"/>
          </a:p>
        </p:txBody>
      </p:sp>
      <p:sp>
        <p:nvSpPr>
          <p:cNvPr id="32" name="Text 30"/>
          <p:cNvSpPr/>
          <p:nvPr/>
        </p:nvSpPr>
        <p:spPr>
          <a:xfrm>
            <a:off x="9555480" y="4315968"/>
            <a:ext cx="2194560" cy="50292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Mitigate, monitor, repeat</a:t>
            </a:r>
            <a:endParaRPr lang="en-US" sz="1800" dirty="0"/>
          </a:p>
        </p:txBody>
      </p:sp>
      <p:sp>
        <p:nvSpPr>
          <p:cNvPr id="33" name="Text 31"/>
          <p:cNvSpPr/>
          <p:nvPr/>
        </p:nvSpPr>
        <p:spPr>
          <a:xfrm>
            <a:off x="9555480" y="4864608"/>
            <a:ext cx="2194560" cy="1207008"/>
          </a:xfrm>
          <a:prstGeom prst="rect">
            <a:avLst/>
          </a:prstGeom>
          <a:noFill/>
          <a:ln/>
        </p:spPr>
        <p:txBody>
          <a:bodyPr wrap="square" lIns="0" tIns="0" rIns="0" bIns="0" rtlCol="0" anchor="t"/>
          <a:lstStyle/>
          <a:p>
            <a:pPr marL="0" indent="0">
              <a:buNone/>
            </a:pPr>
            <a:r>
              <a:rPr lang="en-US" sz="1400" dirty="0">
                <a:solidFill>
                  <a:srgbClr val="475569"/>
                </a:solidFill>
                <a:latin typeface="Calibri" pitchFamily="34" charset="0"/>
                <a:ea typeface="Calibri" pitchFamily="34" charset="-122"/>
                <a:cs typeface="Calibri" pitchFamily="34" charset="-120"/>
              </a:rPr>
              <a:t>Review the model when anything significant changes.</a:t>
            </a:r>
            <a:endParaRPr lang="en-US" sz="1400" dirty="0"/>
          </a:p>
        </p:txBody>
      </p:sp>
      <p:sp>
        <p:nvSpPr>
          <p:cNvPr id="35" name="Text 33"/>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36" name="TextBox 35"/>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38 / 43</a:t>
            </a:r>
          </a:p>
        </p:txBody>
      </p:sp>
    </p:spTree>
  </p:cSld>
  <p:clrMapOvr>
    <a:masterClrMapping/>
  </p:clrMapOvr>
  <mc:AlternateContent xmlns:mc="http://schemas.openxmlformats.org/markup-compatibility/2006">
    <mc:Choice xmlns:p14="http://schemas.microsoft.com/office/powerpoint/2010/main" Requires="p14">
      <p:transition spd="slow" p14:dur="2000" advTm="33679"/>
    </mc:Choice>
    <mc:Fallback>
      <p:transition spd="slow" advTm="33679"/>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33">
            <a:extLst>
              <a:ext uri="{FF2B5EF4-FFF2-40B4-BE49-F238E27FC236}">
                <a16:creationId xmlns:a16="http://schemas.microsoft.com/office/drawing/2014/main" id="{5D38125D-EF7C-9FAC-2337-FB30E04369FD}"/>
              </a:ext>
            </a:extLst>
          </p:cNvPr>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11" name="TextBox 10"/>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39 / 43</a:t>
            </a:r>
          </a:p>
        </p:txBody>
      </p:sp>
      <p:sp>
        <p:nvSpPr>
          <p:cNvPr id="12" name="TextBox 11"/>
          <p:cNvSpPr txBox="1"/>
          <p:nvPr/>
        </p:nvSpPr>
        <p:spPr>
          <a:xfrm>
            <a:off x="694944" y="457200"/>
            <a:ext cx="10972800" cy="640080"/>
          </a:xfrm>
          <a:prstGeom prst="rect">
            <a:avLst/>
          </a:prstGeom>
          <a:noFill/>
        </p:spPr>
        <p:txBody>
          <a:bodyPr wrap="square" lIns="0" tIns="0" rIns="0" bIns="0">
            <a:spAutoFit/>
          </a:bodyPr>
          <a:lstStyle/>
          <a:p>
            <a:pPr algn="l"/>
            <a:r>
              <a:rPr sz="3600" b="1" i="0">
                <a:solidFill>
                  <a:srgbClr val="1E293B"/>
                </a:solidFill>
                <a:latin typeface="Georgia"/>
              </a:rPr>
              <a:t>Provide Tools for Engineering Teams</a:t>
            </a:r>
          </a:p>
        </p:txBody>
      </p:sp>
      <p:sp>
        <p:nvSpPr>
          <p:cNvPr id="13" name="TextBox 12"/>
          <p:cNvSpPr txBox="1"/>
          <p:nvPr/>
        </p:nvSpPr>
        <p:spPr>
          <a:xfrm>
            <a:off x="694944" y="1170432"/>
            <a:ext cx="10972800" cy="246221"/>
          </a:xfrm>
          <a:prstGeom prst="rect">
            <a:avLst/>
          </a:prstGeom>
          <a:noFill/>
        </p:spPr>
        <p:txBody>
          <a:bodyPr wrap="square" lIns="0" tIns="0" rIns="0" bIns="0">
            <a:spAutoFit/>
          </a:bodyPr>
          <a:lstStyle/>
          <a:p>
            <a:pPr algn="l"/>
            <a:r>
              <a:rPr sz="1600" b="0" i="1" dirty="0">
                <a:solidFill>
                  <a:srgbClr val="475569"/>
                </a:solidFill>
                <a:latin typeface="Calibri"/>
              </a:rPr>
              <a:t>Engineering time is a premium resource. These are your product creators</a:t>
            </a:r>
            <a:r>
              <a:rPr lang="en-US" sz="1600" b="0" i="1" dirty="0">
                <a:solidFill>
                  <a:srgbClr val="475569"/>
                </a:solidFill>
                <a:latin typeface="Calibri"/>
              </a:rPr>
              <a:t> so</a:t>
            </a:r>
            <a:r>
              <a:rPr sz="1600" b="0" i="1" dirty="0">
                <a:solidFill>
                  <a:srgbClr val="475569"/>
                </a:solidFill>
                <a:latin typeface="Calibri"/>
              </a:rPr>
              <a:t> give them as much help as you can.</a:t>
            </a:r>
          </a:p>
        </p:txBody>
      </p:sp>
      <p:sp>
        <p:nvSpPr>
          <p:cNvPr id="14" name="TextBox 13"/>
          <p:cNvSpPr txBox="1"/>
          <p:nvPr/>
        </p:nvSpPr>
        <p:spPr>
          <a:xfrm>
            <a:off x="694944" y="1691640"/>
            <a:ext cx="10972800" cy="274320"/>
          </a:xfrm>
          <a:prstGeom prst="rect">
            <a:avLst/>
          </a:prstGeom>
          <a:noFill/>
        </p:spPr>
        <p:txBody>
          <a:bodyPr wrap="square" lIns="0" tIns="0" rIns="0" bIns="0">
            <a:spAutoFit/>
          </a:bodyPr>
          <a:lstStyle/>
          <a:p>
            <a:pPr algn="l"/>
            <a:r>
              <a:rPr sz="1100" b="1" i="0">
                <a:solidFill>
                  <a:srgbClr val="8B1A2B"/>
                </a:solidFill>
                <a:latin typeface="Calibri"/>
              </a:rPr>
              <a:t>WHAT TO HAND THEM</a:t>
            </a:r>
          </a:p>
        </p:txBody>
      </p:sp>
      <p:sp>
        <p:nvSpPr>
          <p:cNvPr id="15" name="Rectangle 14"/>
          <p:cNvSpPr/>
          <p:nvPr/>
        </p:nvSpPr>
        <p:spPr>
          <a:xfrm>
            <a:off x="694944" y="2057400"/>
            <a:ext cx="5349240" cy="406908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63056" y="2057400"/>
            <a:ext cx="5349240" cy="406908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60704" y="2331720"/>
            <a:ext cx="4709160" cy="307777"/>
          </a:xfrm>
          <a:prstGeom prst="rect">
            <a:avLst/>
          </a:prstGeom>
          <a:noFill/>
        </p:spPr>
        <p:txBody>
          <a:bodyPr wrap="square" lIns="0" tIns="0" rIns="0" bIns="0">
            <a:spAutoFit/>
          </a:bodyPr>
          <a:lstStyle/>
          <a:p>
            <a:pPr algn="l"/>
            <a:r>
              <a:rPr sz="2000" b="1" i="0" dirty="0">
                <a:solidFill>
                  <a:srgbClr val="1E293B"/>
                </a:solidFill>
                <a:latin typeface="Calibri"/>
              </a:rPr>
              <a:t>Per-Layer Threat Template</a:t>
            </a:r>
          </a:p>
        </p:txBody>
      </p:sp>
      <p:sp>
        <p:nvSpPr>
          <p:cNvPr id="23" name="TextBox 22"/>
          <p:cNvSpPr txBox="1"/>
          <p:nvPr/>
        </p:nvSpPr>
        <p:spPr>
          <a:xfrm>
            <a:off x="1060704" y="2945176"/>
            <a:ext cx="4617720" cy="215444"/>
          </a:xfrm>
          <a:prstGeom prst="rect">
            <a:avLst/>
          </a:prstGeom>
          <a:noFill/>
        </p:spPr>
        <p:txBody>
          <a:bodyPr wrap="square" lIns="0" tIns="0" rIns="0" bIns="0">
            <a:spAutoFit/>
          </a:bodyPr>
          <a:lstStyle/>
          <a:p>
            <a:pPr algn="l"/>
            <a:r>
              <a:rPr sz="1400" b="1" i="0" dirty="0">
                <a:solidFill>
                  <a:srgbClr val="1E293B"/>
                </a:solidFill>
                <a:latin typeface="Calibri"/>
              </a:rPr>
              <a:t>Description</a:t>
            </a:r>
          </a:p>
        </p:txBody>
      </p:sp>
      <p:sp>
        <p:nvSpPr>
          <p:cNvPr id="24" name="TextBox 23"/>
          <p:cNvSpPr txBox="1"/>
          <p:nvPr/>
        </p:nvSpPr>
        <p:spPr>
          <a:xfrm>
            <a:off x="1060704" y="3201208"/>
            <a:ext cx="4617720" cy="430887"/>
          </a:xfrm>
          <a:prstGeom prst="rect">
            <a:avLst/>
          </a:prstGeom>
          <a:noFill/>
        </p:spPr>
        <p:txBody>
          <a:bodyPr wrap="square" lIns="0" tIns="0" rIns="0" bIns="0">
            <a:spAutoFit/>
          </a:bodyPr>
          <a:lstStyle/>
          <a:p>
            <a:pPr algn="l"/>
            <a:r>
              <a:rPr sz="1400" b="0" i="0" dirty="0">
                <a:solidFill>
                  <a:srgbClr val="475569"/>
                </a:solidFill>
                <a:latin typeface="Calibri"/>
              </a:rPr>
              <a:t>What this layer is, in one sentence. Where it lives in your architecture.</a:t>
            </a:r>
          </a:p>
        </p:txBody>
      </p:sp>
      <p:sp>
        <p:nvSpPr>
          <p:cNvPr id="25" name="TextBox 24"/>
          <p:cNvSpPr txBox="1"/>
          <p:nvPr/>
        </p:nvSpPr>
        <p:spPr>
          <a:xfrm>
            <a:off x="1060704" y="3832027"/>
            <a:ext cx="4617720" cy="215444"/>
          </a:xfrm>
          <a:prstGeom prst="rect">
            <a:avLst/>
          </a:prstGeom>
          <a:noFill/>
        </p:spPr>
        <p:txBody>
          <a:bodyPr wrap="square" lIns="0" tIns="0" rIns="0" bIns="0">
            <a:spAutoFit/>
          </a:bodyPr>
          <a:lstStyle/>
          <a:p>
            <a:pPr algn="l"/>
            <a:r>
              <a:rPr sz="1400" b="1" i="0" dirty="0">
                <a:solidFill>
                  <a:srgbClr val="1E293B"/>
                </a:solidFill>
                <a:latin typeface="Calibri"/>
              </a:rPr>
              <a:t>Example threats</a:t>
            </a:r>
          </a:p>
        </p:txBody>
      </p:sp>
      <p:sp>
        <p:nvSpPr>
          <p:cNvPr id="26" name="TextBox 25"/>
          <p:cNvSpPr txBox="1"/>
          <p:nvPr/>
        </p:nvSpPr>
        <p:spPr>
          <a:xfrm>
            <a:off x="1060704" y="4088059"/>
            <a:ext cx="4617720" cy="430887"/>
          </a:xfrm>
          <a:prstGeom prst="rect">
            <a:avLst/>
          </a:prstGeom>
          <a:noFill/>
        </p:spPr>
        <p:txBody>
          <a:bodyPr wrap="square" lIns="0" tIns="0" rIns="0" bIns="0">
            <a:spAutoFit/>
          </a:bodyPr>
          <a:lstStyle/>
          <a:p>
            <a:pPr algn="l"/>
            <a:r>
              <a:rPr sz="1400" b="0" i="0" dirty="0">
                <a:solidFill>
                  <a:srgbClr val="475569"/>
                </a:solidFill>
                <a:latin typeface="Calibri"/>
              </a:rPr>
              <a:t>Three to five concrete attacks for this layer, written in the language of your system.</a:t>
            </a:r>
          </a:p>
        </p:txBody>
      </p:sp>
      <p:sp>
        <p:nvSpPr>
          <p:cNvPr id="27" name="TextBox 26"/>
          <p:cNvSpPr txBox="1"/>
          <p:nvPr/>
        </p:nvSpPr>
        <p:spPr>
          <a:xfrm>
            <a:off x="1060704" y="4765184"/>
            <a:ext cx="4617720" cy="215444"/>
          </a:xfrm>
          <a:prstGeom prst="rect">
            <a:avLst/>
          </a:prstGeom>
          <a:noFill/>
        </p:spPr>
        <p:txBody>
          <a:bodyPr wrap="square" lIns="0" tIns="0" rIns="0" bIns="0">
            <a:spAutoFit/>
          </a:bodyPr>
          <a:lstStyle/>
          <a:p>
            <a:pPr algn="l"/>
            <a:r>
              <a:rPr sz="1400" b="1" i="0" dirty="0">
                <a:solidFill>
                  <a:srgbClr val="1E293B"/>
                </a:solidFill>
                <a:latin typeface="Calibri"/>
              </a:rPr>
              <a:t>Example controls</a:t>
            </a:r>
          </a:p>
        </p:txBody>
      </p:sp>
      <p:sp>
        <p:nvSpPr>
          <p:cNvPr id="28" name="TextBox 27"/>
          <p:cNvSpPr txBox="1"/>
          <p:nvPr/>
        </p:nvSpPr>
        <p:spPr>
          <a:xfrm>
            <a:off x="1060704" y="5021216"/>
            <a:ext cx="4617720" cy="215444"/>
          </a:xfrm>
          <a:prstGeom prst="rect">
            <a:avLst/>
          </a:prstGeom>
          <a:noFill/>
        </p:spPr>
        <p:txBody>
          <a:bodyPr wrap="square" lIns="0" tIns="0" rIns="0" bIns="0">
            <a:spAutoFit/>
          </a:bodyPr>
          <a:lstStyle/>
          <a:p>
            <a:pPr algn="l"/>
            <a:r>
              <a:rPr sz="1400" b="0" i="0" dirty="0">
                <a:solidFill>
                  <a:srgbClr val="475569"/>
                </a:solidFill>
                <a:latin typeface="Calibri"/>
              </a:rPr>
              <a:t>Existing mitigations the team can point to today</a:t>
            </a:r>
            <a:r>
              <a:rPr lang="en-US" sz="1400" b="0" i="0" dirty="0">
                <a:solidFill>
                  <a:srgbClr val="475569"/>
                </a:solidFill>
                <a:latin typeface="Calibri"/>
              </a:rPr>
              <a:t>.</a:t>
            </a:r>
            <a:endParaRPr sz="1400" b="0" i="0" dirty="0">
              <a:solidFill>
                <a:srgbClr val="475569"/>
              </a:solidFill>
              <a:latin typeface="Calibri"/>
            </a:endParaRPr>
          </a:p>
        </p:txBody>
      </p:sp>
      <p:sp>
        <p:nvSpPr>
          <p:cNvPr id="29" name="TextBox 28"/>
          <p:cNvSpPr txBox="1"/>
          <p:nvPr/>
        </p:nvSpPr>
        <p:spPr>
          <a:xfrm>
            <a:off x="1060704" y="5385816"/>
            <a:ext cx="4617720" cy="215444"/>
          </a:xfrm>
          <a:prstGeom prst="rect">
            <a:avLst/>
          </a:prstGeom>
          <a:noFill/>
        </p:spPr>
        <p:txBody>
          <a:bodyPr wrap="square" lIns="0" tIns="0" rIns="0" bIns="0">
            <a:spAutoFit/>
          </a:bodyPr>
          <a:lstStyle/>
          <a:p>
            <a:pPr algn="l"/>
            <a:r>
              <a:rPr sz="1400" b="1" i="0" dirty="0">
                <a:solidFill>
                  <a:srgbClr val="1E293B"/>
                </a:solidFill>
                <a:latin typeface="Calibri"/>
              </a:rPr>
              <a:t>Open questions</a:t>
            </a:r>
          </a:p>
        </p:txBody>
      </p:sp>
      <p:sp>
        <p:nvSpPr>
          <p:cNvPr id="30" name="TextBox 29"/>
          <p:cNvSpPr txBox="1"/>
          <p:nvPr/>
        </p:nvSpPr>
        <p:spPr>
          <a:xfrm>
            <a:off x="1060704" y="5641848"/>
            <a:ext cx="4617720" cy="215444"/>
          </a:xfrm>
          <a:prstGeom prst="rect">
            <a:avLst/>
          </a:prstGeom>
          <a:noFill/>
        </p:spPr>
        <p:txBody>
          <a:bodyPr wrap="square" lIns="0" tIns="0" rIns="0" bIns="0">
            <a:spAutoFit/>
          </a:bodyPr>
          <a:lstStyle/>
          <a:p>
            <a:pPr algn="l"/>
            <a:r>
              <a:rPr lang="en-US" sz="1400" dirty="0">
                <a:solidFill>
                  <a:srgbClr val="475569"/>
                </a:solidFill>
                <a:latin typeface="Calibri"/>
              </a:rPr>
              <a:t>Layer specific b</a:t>
            </a:r>
            <a:r>
              <a:rPr lang="en-US" sz="1400" b="0" i="0" dirty="0">
                <a:solidFill>
                  <a:srgbClr val="475569"/>
                </a:solidFill>
                <a:latin typeface="Calibri"/>
              </a:rPr>
              <a:t>rainstorming prompts  </a:t>
            </a:r>
            <a:endParaRPr sz="1400" b="0" i="0" dirty="0">
              <a:solidFill>
                <a:srgbClr val="475569"/>
              </a:solidFill>
              <a:latin typeface="Calibri"/>
            </a:endParaRPr>
          </a:p>
        </p:txBody>
      </p:sp>
      <p:sp>
        <p:nvSpPr>
          <p:cNvPr id="33" name="TextBox 32"/>
          <p:cNvSpPr txBox="1"/>
          <p:nvPr/>
        </p:nvSpPr>
        <p:spPr>
          <a:xfrm>
            <a:off x="6542577" y="2331720"/>
            <a:ext cx="4695399" cy="307777"/>
          </a:xfrm>
          <a:prstGeom prst="rect">
            <a:avLst/>
          </a:prstGeom>
          <a:noFill/>
        </p:spPr>
        <p:txBody>
          <a:bodyPr wrap="square" lIns="0" tIns="0" rIns="0" bIns="0">
            <a:spAutoFit/>
          </a:bodyPr>
          <a:lstStyle/>
          <a:p>
            <a:pPr algn="l"/>
            <a:r>
              <a:rPr lang="en-US" sz="2000" b="1" i="0" dirty="0">
                <a:solidFill>
                  <a:srgbClr val="1E293B"/>
                </a:solidFill>
                <a:latin typeface="Calibri"/>
              </a:rPr>
              <a:t>Template Example</a:t>
            </a:r>
            <a:endParaRPr sz="2000" b="1" i="0" dirty="0">
              <a:solidFill>
                <a:srgbClr val="1E293B"/>
              </a:solidFill>
              <a:latin typeface="Calibri"/>
            </a:endParaRPr>
          </a:p>
        </p:txBody>
      </p:sp>
      <p:pic>
        <p:nvPicPr>
          <p:cNvPr id="35" name="Picture 34" descr="image.png"/>
          <p:cNvPicPr>
            <a:picLocks noChangeAspect="1"/>
          </p:cNvPicPr>
          <p:nvPr/>
        </p:nvPicPr>
        <p:blipFill>
          <a:blip r:embed="rId3"/>
          <a:stretch>
            <a:fillRect/>
          </a:stretch>
        </p:blipFill>
        <p:spPr>
          <a:xfrm>
            <a:off x="6321681" y="2913817"/>
            <a:ext cx="5031989" cy="2906984"/>
          </a:xfrm>
          <a:prstGeom prst="rect">
            <a:avLst/>
          </a:prstGeom>
        </p:spPr>
      </p:pic>
    </p:spTree>
    <p:extLst>
      <p:ext uri="{BB962C8B-B14F-4D97-AF65-F5344CB8AC3E}">
        <p14:creationId xmlns:p14="http://schemas.microsoft.com/office/powerpoint/2010/main" val="2389247500"/>
      </p:ext>
    </p:extLst>
  </p:cSld>
  <p:clrMapOvr>
    <a:masterClrMapping/>
  </p:clrMapOvr>
  <mc:AlternateContent xmlns:mc="http://schemas.openxmlformats.org/markup-compatibility/2006">
    <mc:Choice xmlns:p14="http://schemas.microsoft.com/office/powerpoint/2010/main" Requires="p14">
      <p:transition spd="slow" p14:dur="2000" advTm="114244"/>
    </mc:Choice>
    <mc:Fallback>
      <p:transition spd="slow" advTm="114244"/>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26">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lIns="0" tIns="0" rIns="0" bIns="0" rtlCol="0" anchor="ctr"/>
          <a:lstStyle/>
          <a:p>
            <a:pPr marL="0" indent="0">
              <a:buNone/>
            </a:pPr>
            <a:r>
              <a:rPr lang="en-US" sz="3400" b="1" dirty="0">
                <a:latin typeface="Georgia" pitchFamily="34" charset="0"/>
                <a:ea typeface="Georgia" pitchFamily="34" charset="-122"/>
                <a:cs typeface="Georgia" pitchFamily="34" charset="-120"/>
              </a:rPr>
              <a:t>Five Things to Do First</a:t>
            </a:r>
            <a:endParaRPr lang="en-US" sz="3400" dirty="0"/>
          </a:p>
        </p:txBody>
      </p:sp>
      <p:sp>
        <p:nvSpPr>
          <p:cNvPr id="3" name="Shape 1">
            <a:extLst>
              <a:ext uri="{C183D7F6-B498-43B3-948B-1728B52AA6E4}">
                <adec:decorative xmlns:adec="http://schemas.microsoft.com/office/drawing/2017/decorative" val="1"/>
              </a:ext>
            </a:extLst>
          </p:cNvPr>
          <p:cNvSpPr/>
          <p:nvPr/>
        </p:nvSpPr>
        <p:spPr>
          <a:xfrm>
            <a:off x="640080" y="1280160"/>
            <a:ext cx="731520" cy="45720"/>
          </a:xfrm>
          <a:prstGeom prst="rect">
            <a:avLst/>
          </a:prstGeom>
          <a:solidFill>
            <a:srgbClr val="06B6D4"/>
          </a:solidFill>
          <a:ln/>
        </p:spPr>
        <p:txBody>
          <a:bodyPr/>
          <a:lstStyle/>
          <a:p>
            <a:endParaRPr lang="en-US"/>
          </a:p>
        </p:txBody>
      </p:sp>
      <p:sp>
        <p:nvSpPr>
          <p:cNvPr id="4" name="Shape 2">
            <a:extLst>
              <a:ext uri="{C183D7F6-B498-43B3-948B-1728B52AA6E4}">
                <adec:decorative xmlns:adec="http://schemas.microsoft.com/office/drawing/2017/decorative" val="1"/>
              </a:ext>
            </a:extLst>
          </p:cNvPr>
          <p:cNvSpPr/>
          <p:nvPr/>
        </p:nvSpPr>
        <p:spPr>
          <a:xfrm>
            <a:off x="640080" y="1600200"/>
            <a:ext cx="10972800" cy="868680"/>
          </a:xfrm>
          <a:prstGeom prst="rect">
            <a:avLst/>
          </a:prstGeom>
          <a:solidFill>
            <a:srgbClr val="1A2B47"/>
          </a:solidFill>
          <a:ln/>
        </p:spPr>
        <p:txBody>
          <a:bodyPr/>
          <a:lstStyle/>
          <a:p>
            <a:endParaRPr lang="en-US"/>
          </a:p>
        </p:txBody>
      </p:sp>
      <p:sp>
        <p:nvSpPr>
          <p:cNvPr id="5" name="Text 3"/>
          <p:cNvSpPr/>
          <p:nvPr/>
        </p:nvSpPr>
        <p:spPr>
          <a:xfrm>
            <a:off x="822960" y="1737360"/>
            <a:ext cx="1097280" cy="640080"/>
          </a:xfrm>
          <a:prstGeom prst="rect">
            <a:avLst/>
          </a:prstGeom>
          <a:noFill/>
          <a:ln/>
        </p:spPr>
        <p:txBody>
          <a:bodyPr wrap="square" lIns="0" tIns="0" rIns="0" bIns="0" rtlCol="0" anchor="ctr"/>
          <a:lstStyle/>
          <a:p>
            <a:pPr marL="0" indent="0">
              <a:buNone/>
            </a:pPr>
            <a:r>
              <a:rPr lang="en-US" sz="3600" b="1" dirty="0">
                <a:solidFill>
                  <a:srgbClr val="06B6D4"/>
                </a:solidFill>
                <a:latin typeface="Georgia" pitchFamily="34" charset="0"/>
                <a:ea typeface="Georgia" pitchFamily="34" charset="-122"/>
                <a:cs typeface="Georgia" pitchFamily="34" charset="-120"/>
              </a:rPr>
              <a:t>01</a:t>
            </a:r>
            <a:endParaRPr lang="en-US" sz="3600" dirty="0"/>
          </a:p>
        </p:txBody>
      </p:sp>
      <p:sp>
        <p:nvSpPr>
          <p:cNvPr id="6" name="Text 4"/>
          <p:cNvSpPr/>
          <p:nvPr/>
        </p:nvSpPr>
        <p:spPr>
          <a:xfrm>
            <a:off x="2011680" y="1691640"/>
            <a:ext cx="9144000" cy="411480"/>
          </a:xfrm>
          <a:prstGeom prst="rect">
            <a:avLst/>
          </a:prstGeom>
          <a:noFill/>
          <a:ln/>
        </p:spPr>
        <p:txBody>
          <a:bodyPr wrap="square" lIns="0" tIns="0" rIns="0" bIns="0" rtlCol="0" anchor="ctr"/>
          <a:lstStyle/>
          <a:p>
            <a:pPr marL="0" indent="0">
              <a:buNone/>
            </a:pPr>
            <a:r>
              <a:rPr lang="en-US" sz="1800" b="1" dirty="0">
                <a:solidFill>
                  <a:srgbClr val="E8F1FF"/>
                </a:solidFill>
                <a:latin typeface="Calibri" pitchFamily="34" charset="0"/>
                <a:ea typeface="Calibri" pitchFamily="34" charset="-122"/>
                <a:cs typeface="Calibri" pitchFamily="34" charset="-120"/>
              </a:rPr>
              <a:t>Inventory your agents</a:t>
            </a:r>
            <a:endParaRPr lang="en-US" sz="1800" dirty="0"/>
          </a:p>
        </p:txBody>
      </p:sp>
      <p:sp>
        <p:nvSpPr>
          <p:cNvPr id="7" name="Text 5"/>
          <p:cNvSpPr/>
          <p:nvPr/>
        </p:nvSpPr>
        <p:spPr>
          <a:xfrm>
            <a:off x="2011680" y="2057400"/>
            <a:ext cx="9601200" cy="411480"/>
          </a:xfrm>
          <a:prstGeom prst="rect">
            <a:avLst/>
          </a:prstGeom>
          <a:noFill/>
          <a:ln/>
        </p:spPr>
        <p:txBody>
          <a:bodyPr wrap="square" lIns="0" tIns="0" rIns="0" bIns="0" rtlCol="0" anchor="t"/>
          <a:lstStyle/>
          <a:p>
            <a:pPr marL="0" indent="0">
              <a:buNone/>
            </a:pPr>
            <a:r>
              <a:rPr lang="en-US" sz="1400" dirty="0">
                <a:solidFill>
                  <a:srgbClr val="B8C9E0"/>
                </a:solidFill>
                <a:latin typeface="Calibri" pitchFamily="34" charset="0"/>
                <a:ea typeface="Calibri" pitchFamily="34" charset="-122"/>
                <a:cs typeface="Calibri" pitchFamily="34" charset="-120"/>
              </a:rPr>
              <a:t>Some dev is running LangChain in a Jupyter notebook against your prod database right now. Find them. Catalog them. You can’t threat-model what you don’t know exists.</a:t>
            </a:r>
            <a:endParaRPr lang="en-US" sz="1400" dirty="0"/>
          </a:p>
        </p:txBody>
      </p:sp>
      <p:sp>
        <p:nvSpPr>
          <p:cNvPr id="8" name="Shape 6">
            <a:extLst>
              <a:ext uri="{C183D7F6-B498-43B3-948B-1728B52AA6E4}">
                <adec:decorative xmlns:adec="http://schemas.microsoft.com/office/drawing/2017/decorative" val="1"/>
              </a:ext>
            </a:extLst>
          </p:cNvPr>
          <p:cNvSpPr/>
          <p:nvPr/>
        </p:nvSpPr>
        <p:spPr>
          <a:xfrm>
            <a:off x="640080" y="2560320"/>
            <a:ext cx="10972800" cy="868680"/>
          </a:xfrm>
          <a:prstGeom prst="rect">
            <a:avLst/>
          </a:prstGeom>
          <a:solidFill>
            <a:srgbClr val="1A2B47"/>
          </a:solidFill>
          <a:ln/>
        </p:spPr>
        <p:txBody>
          <a:bodyPr/>
          <a:lstStyle/>
          <a:p>
            <a:endParaRPr lang="en-US" dirty="0"/>
          </a:p>
        </p:txBody>
      </p:sp>
      <p:sp>
        <p:nvSpPr>
          <p:cNvPr id="9" name="Text 7"/>
          <p:cNvSpPr/>
          <p:nvPr/>
        </p:nvSpPr>
        <p:spPr>
          <a:xfrm>
            <a:off x="822960" y="2697480"/>
            <a:ext cx="1097280" cy="640080"/>
          </a:xfrm>
          <a:prstGeom prst="rect">
            <a:avLst/>
          </a:prstGeom>
          <a:noFill/>
          <a:ln/>
        </p:spPr>
        <p:txBody>
          <a:bodyPr wrap="square" lIns="0" tIns="0" rIns="0" bIns="0" rtlCol="0" anchor="ctr"/>
          <a:lstStyle/>
          <a:p>
            <a:pPr marL="0" indent="0">
              <a:buNone/>
            </a:pPr>
            <a:r>
              <a:rPr lang="en-US" sz="3600" b="1" dirty="0">
                <a:solidFill>
                  <a:srgbClr val="06B6D4"/>
                </a:solidFill>
                <a:latin typeface="Georgia" pitchFamily="34" charset="0"/>
                <a:ea typeface="Georgia" pitchFamily="34" charset="-122"/>
                <a:cs typeface="Georgia" pitchFamily="34" charset="-120"/>
              </a:rPr>
              <a:t>02</a:t>
            </a:r>
            <a:endParaRPr lang="en-US" sz="3600" dirty="0"/>
          </a:p>
        </p:txBody>
      </p:sp>
      <p:sp>
        <p:nvSpPr>
          <p:cNvPr id="10" name="Text 8"/>
          <p:cNvSpPr/>
          <p:nvPr/>
        </p:nvSpPr>
        <p:spPr>
          <a:xfrm>
            <a:off x="2011680" y="2651760"/>
            <a:ext cx="9144000" cy="411480"/>
          </a:xfrm>
          <a:prstGeom prst="rect">
            <a:avLst/>
          </a:prstGeom>
          <a:noFill/>
          <a:ln/>
        </p:spPr>
        <p:txBody>
          <a:bodyPr wrap="square" lIns="0" tIns="0" rIns="0" bIns="0" rtlCol="0" anchor="ctr"/>
          <a:lstStyle/>
          <a:p>
            <a:pPr marL="0" indent="0">
              <a:buNone/>
            </a:pPr>
            <a:r>
              <a:rPr lang="en-US" sz="1800" b="1" dirty="0">
                <a:solidFill>
                  <a:srgbClr val="E8F1FF"/>
                </a:solidFill>
                <a:latin typeface="Calibri" pitchFamily="34" charset="0"/>
                <a:ea typeface="Calibri" pitchFamily="34" charset="-122"/>
                <a:cs typeface="Calibri" pitchFamily="34" charset="-120"/>
              </a:rPr>
              <a:t>Perform MAESTRO on one agent</a:t>
            </a:r>
            <a:endParaRPr lang="en-US" sz="1800" dirty="0"/>
          </a:p>
        </p:txBody>
      </p:sp>
      <p:sp>
        <p:nvSpPr>
          <p:cNvPr id="11" name="Text 9"/>
          <p:cNvSpPr/>
          <p:nvPr/>
        </p:nvSpPr>
        <p:spPr>
          <a:xfrm>
            <a:off x="2011680" y="3017520"/>
            <a:ext cx="9601200" cy="411480"/>
          </a:xfrm>
          <a:prstGeom prst="rect">
            <a:avLst/>
          </a:prstGeom>
          <a:noFill/>
          <a:ln/>
        </p:spPr>
        <p:txBody>
          <a:bodyPr wrap="square" lIns="0" tIns="0" rIns="0" bIns="0" rtlCol="0" anchor="t"/>
          <a:lstStyle/>
          <a:p>
            <a:pPr marL="0" indent="0">
              <a:buNone/>
            </a:pPr>
            <a:r>
              <a:rPr lang="en-US" sz="1400" dirty="0">
                <a:solidFill>
                  <a:srgbClr val="B8C9E0"/>
                </a:solidFill>
                <a:latin typeface="Calibri" pitchFamily="34" charset="0"/>
                <a:ea typeface="Calibri" pitchFamily="34" charset="-122"/>
                <a:cs typeface="Calibri" pitchFamily="34" charset="-120"/>
              </a:rPr>
              <a:t>Don’t boil the ocean. One high-value system, all seven layers plus cross-layer threats.</a:t>
            </a:r>
            <a:endParaRPr lang="en-US" sz="1400" dirty="0"/>
          </a:p>
        </p:txBody>
      </p:sp>
      <p:sp>
        <p:nvSpPr>
          <p:cNvPr id="12" name="Shape 10">
            <a:extLst>
              <a:ext uri="{C183D7F6-B498-43B3-948B-1728B52AA6E4}">
                <adec:decorative xmlns:adec="http://schemas.microsoft.com/office/drawing/2017/decorative" val="1"/>
              </a:ext>
            </a:extLst>
          </p:cNvPr>
          <p:cNvSpPr/>
          <p:nvPr/>
        </p:nvSpPr>
        <p:spPr>
          <a:xfrm>
            <a:off x="640080" y="3520440"/>
            <a:ext cx="10972800" cy="868680"/>
          </a:xfrm>
          <a:prstGeom prst="rect">
            <a:avLst/>
          </a:prstGeom>
          <a:solidFill>
            <a:srgbClr val="1A2B47"/>
          </a:solidFill>
          <a:ln/>
        </p:spPr>
        <p:txBody>
          <a:bodyPr/>
          <a:lstStyle/>
          <a:p>
            <a:endParaRPr lang="en-US"/>
          </a:p>
        </p:txBody>
      </p:sp>
      <p:sp>
        <p:nvSpPr>
          <p:cNvPr id="13" name="Text 11"/>
          <p:cNvSpPr/>
          <p:nvPr/>
        </p:nvSpPr>
        <p:spPr>
          <a:xfrm>
            <a:off x="822960" y="3657600"/>
            <a:ext cx="1097280" cy="640080"/>
          </a:xfrm>
          <a:prstGeom prst="rect">
            <a:avLst/>
          </a:prstGeom>
          <a:noFill/>
          <a:ln/>
        </p:spPr>
        <p:txBody>
          <a:bodyPr wrap="square" lIns="0" tIns="0" rIns="0" bIns="0" rtlCol="0" anchor="ctr"/>
          <a:lstStyle/>
          <a:p>
            <a:pPr marL="0" indent="0">
              <a:buNone/>
            </a:pPr>
            <a:r>
              <a:rPr lang="en-US" sz="3600" b="1" dirty="0">
                <a:solidFill>
                  <a:srgbClr val="06B6D4"/>
                </a:solidFill>
                <a:latin typeface="Georgia" pitchFamily="34" charset="0"/>
                <a:ea typeface="Georgia" pitchFamily="34" charset="-122"/>
                <a:cs typeface="Georgia" pitchFamily="34" charset="-120"/>
              </a:rPr>
              <a:t>03</a:t>
            </a:r>
            <a:endParaRPr lang="en-US" sz="3600" dirty="0"/>
          </a:p>
        </p:txBody>
      </p:sp>
      <p:sp>
        <p:nvSpPr>
          <p:cNvPr id="14" name="Text 12"/>
          <p:cNvSpPr/>
          <p:nvPr/>
        </p:nvSpPr>
        <p:spPr>
          <a:xfrm>
            <a:off x="2011680" y="3611880"/>
            <a:ext cx="9144000" cy="411480"/>
          </a:xfrm>
          <a:prstGeom prst="rect">
            <a:avLst/>
          </a:prstGeom>
          <a:noFill/>
          <a:ln/>
        </p:spPr>
        <p:txBody>
          <a:bodyPr wrap="square" lIns="0" tIns="0" rIns="0" bIns="0" rtlCol="0" anchor="ctr"/>
          <a:lstStyle/>
          <a:p>
            <a:pPr marL="0" indent="0">
              <a:buNone/>
            </a:pPr>
            <a:r>
              <a:rPr lang="en-US" sz="1800" b="1" dirty="0">
                <a:solidFill>
                  <a:srgbClr val="E8F1FF"/>
                </a:solidFill>
                <a:latin typeface="Calibri" pitchFamily="34" charset="0"/>
                <a:ea typeface="Calibri" pitchFamily="34" charset="-122"/>
                <a:cs typeface="Calibri" pitchFamily="34" charset="-120"/>
              </a:rPr>
              <a:t>Answer the “ruined week” question</a:t>
            </a:r>
            <a:endParaRPr lang="en-US" sz="1800" dirty="0"/>
          </a:p>
        </p:txBody>
      </p:sp>
      <p:sp>
        <p:nvSpPr>
          <p:cNvPr id="15" name="Text 13"/>
          <p:cNvSpPr/>
          <p:nvPr/>
        </p:nvSpPr>
        <p:spPr>
          <a:xfrm>
            <a:off x="2011680" y="3977640"/>
            <a:ext cx="9601200" cy="411480"/>
          </a:xfrm>
          <a:prstGeom prst="rect">
            <a:avLst/>
          </a:prstGeom>
          <a:noFill/>
          <a:ln/>
        </p:spPr>
        <p:txBody>
          <a:bodyPr wrap="square" lIns="0" tIns="0" rIns="0" bIns="0" rtlCol="0" anchor="t"/>
          <a:lstStyle/>
          <a:p>
            <a:pPr marL="0" indent="0">
              <a:buNone/>
            </a:pPr>
            <a:r>
              <a:rPr lang="en-US" sz="1400" dirty="0">
                <a:solidFill>
                  <a:srgbClr val="B8C9E0"/>
                </a:solidFill>
                <a:latin typeface="Calibri" pitchFamily="34" charset="0"/>
                <a:ea typeface="Calibri" pitchFamily="34" charset="-122"/>
                <a:cs typeface="Calibri" pitchFamily="34" charset="-120"/>
              </a:rPr>
              <a:t>What could the agent do today that would ruin our week? Honest answer. Your worst case tells you which layer to fix first.</a:t>
            </a:r>
            <a:endParaRPr lang="en-US" sz="1400" dirty="0"/>
          </a:p>
        </p:txBody>
      </p:sp>
      <p:sp>
        <p:nvSpPr>
          <p:cNvPr id="16" name="Shape 14">
            <a:extLst>
              <a:ext uri="{C183D7F6-B498-43B3-948B-1728B52AA6E4}">
                <adec:decorative xmlns:adec="http://schemas.microsoft.com/office/drawing/2017/decorative" val="1"/>
              </a:ext>
            </a:extLst>
          </p:cNvPr>
          <p:cNvSpPr/>
          <p:nvPr/>
        </p:nvSpPr>
        <p:spPr>
          <a:xfrm>
            <a:off x="640080" y="4480560"/>
            <a:ext cx="10972800" cy="868680"/>
          </a:xfrm>
          <a:prstGeom prst="rect">
            <a:avLst/>
          </a:prstGeom>
          <a:solidFill>
            <a:srgbClr val="1A2B47"/>
          </a:solidFill>
          <a:ln/>
        </p:spPr>
        <p:txBody>
          <a:bodyPr/>
          <a:lstStyle/>
          <a:p>
            <a:endParaRPr lang="en-US"/>
          </a:p>
        </p:txBody>
      </p:sp>
      <p:sp>
        <p:nvSpPr>
          <p:cNvPr id="17" name="Text 15"/>
          <p:cNvSpPr/>
          <p:nvPr/>
        </p:nvSpPr>
        <p:spPr>
          <a:xfrm>
            <a:off x="822960" y="4617720"/>
            <a:ext cx="1097280" cy="640080"/>
          </a:xfrm>
          <a:prstGeom prst="rect">
            <a:avLst/>
          </a:prstGeom>
          <a:noFill/>
          <a:ln/>
        </p:spPr>
        <p:txBody>
          <a:bodyPr wrap="square" lIns="0" tIns="0" rIns="0" bIns="0" rtlCol="0" anchor="ctr"/>
          <a:lstStyle/>
          <a:p>
            <a:pPr marL="0" indent="0">
              <a:buNone/>
            </a:pPr>
            <a:r>
              <a:rPr lang="en-US" sz="3600" b="1" dirty="0">
                <a:solidFill>
                  <a:srgbClr val="06B6D4"/>
                </a:solidFill>
                <a:latin typeface="Georgia" pitchFamily="34" charset="0"/>
                <a:ea typeface="Georgia" pitchFamily="34" charset="-122"/>
                <a:cs typeface="Georgia" pitchFamily="34" charset="-120"/>
              </a:rPr>
              <a:t>04</a:t>
            </a:r>
            <a:endParaRPr lang="en-US" sz="3600" dirty="0"/>
          </a:p>
        </p:txBody>
      </p:sp>
      <p:sp>
        <p:nvSpPr>
          <p:cNvPr id="18" name="Text 16"/>
          <p:cNvSpPr/>
          <p:nvPr/>
        </p:nvSpPr>
        <p:spPr>
          <a:xfrm>
            <a:off x="2011680" y="4572000"/>
            <a:ext cx="9144000" cy="411480"/>
          </a:xfrm>
          <a:prstGeom prst="rect">
            <a:avLst/>
          </a:prstGeom>
          <a:noFill/>
          <a:ln/>
        </p:spPr>
        <p:txBody>
          <a:bodyPr wrap="square" lIns="0" tIns="0" rIns="0" bIns="0" rtlCol="0" anchor="ctr"/>
          <a:lstStyle/>
          <a:p>
            <a:pPr marL="0" indent="0">
              <a:buNone/>
            </a:pPr>
            <a:r>
              <a:rPr lang="en-US" sz="1800" b="1" dirty="0">
                <a:solidFill>
                  <a:srgbClr val="E8F1FF"/>
                </a:solidFill>
                <a:latin typeface="Calibri" pitchFamily="34" charset="0"/>
                <a:ea typeface="Calibri" pitchFamily="34" charset="-122"/>
                <a:cs typeface="Calibri" pitchFamily="34" charset="-120"/>
              </a:rPr>
              <a:t>Instrument observability</a:t>
            </a:r>
            <a:endParaRPr lang="en-US" sz="1800" dirty="0"/>
          </a:p>
        </p:txBody>
      </p:sp>
      <p:sp>
        <p:nvSpPr>
          <p:cNvPr id="19" name="Text 17"/>
          <p:cNvSpPr/>
          <p:nvPr/>
        </p:nvSpPr>
        <p:spPr>
          <a:xfrm>
            <a:off x="2011680" y="4937760"/>
            <a:ext cx="9601200" cy="411480"/>
          </a:xfrm>
          <a:prstGeom prst="rect">
            <a:avLst/>
          </a:prstGeom>
          <a:noFill/>
          <a:ln/>
        </p:spPr>
        <p:txBody>
          <a:bodyPr wrap="square" lIns="0" tIns="0" rIns="0" bIns="0" rtlCol="0" anchor="t"/>
          <a:lstStyle/>
          <a:p>
            <a:pPr marL="0" indent="0">
              <a:buNone/>
            </a:pPr>
            <a:r>
              <a:rPr lang="en-US" sz="1400" dirty="0">
                <a:solidFill>
                  <a:srgbClr val="B8C9E0"/>
                </a:solidFill>
                <a:latin typeface="Calibri" pitchFamily="34" charset="0"/>
                <a:ea typeface="Calibri" pitchFamily="34" charset="-122"/>
                <a:cs typeface="Calibri" pitchFamily="34" charset="-120"/>
              </a:rPr>
              <a:t>If you can’t tell me what your agent did yesterday at 3:14pm, you’re flying blind. Logs, traces, structured outputs, redaction. </a:t>
            </a:r>
            <a:endParaRPr lang="en-US" sz="1400" dirty="0"/>
          </a:p>
        </p:txBody>
      </p:sp>
      <p:sp>
        <p:nvSpPr>
          <p:cNvPr id="20" name="Shape 18">
            <a:extLst>
              <a:ext uri="{C183D7F6-B498-43B3-948B-1728B52AA6E4}">
                <adec:decorative xmlns:adec="http://schemas.microsoft.com/office/drawing/2017/decorative" val="1"/>
              </a:ext>
            </a:extLst>
          </p:cNvPr>
          <p:cNvSpPr/>
          <p:nvPr/>
        </p:nvSpPr>
        <p:spPr>
          <a:xfrm>
            <a:off x="640080" y="5440680"/>
            <a:ext cx="10972800" cy="868680"/>
          </a:xfrm>
          <a:prstGeom prst="rect">
            <a:avLst/>
          </a:prstGeom>
          <a:solidFill>
            <a:srgbClr val="1A2B47"/>
          </a:solidFill>
          <a:ln/>
        </p:spPr>
        <p:txBody>
          <a:bodyPr/>
          <a:lstStyle/>
          <a:p>
            <a:endParaRPr lang="en-US"/>
          </a:p>
        </p:txBody>
      </p:sp>
      <p:sp>
        <p:nvSpPr>
          <p:cNvPr id="21" name="Text 19"/>
          <p:cNvSpPr/>
          <p:nvPr/>
        </p:nvSpPr>
        <p:spPr>
          <a:xfrm>
            <a:off x="822960" y="5577840"/>
            <a:ext cx="1097280" cy="640080"/>
          </a:xfrm>
          <a:prstGeom prst="rect">
            <a:avLst/>
          </a:prstGeom>
          <a:noFill/>
          <a:ln/>
        </p:spPr>
        <p:txBody>
          <a:bodyPr wrap="square" lIns="0" tIns="0" rIns="0" bIns="0" rtlCol="0" anchor="ctr"/>
          <a:lstStyle/>
          <a:p>
            <a:pPr marL="0" indent="0">
              <a:buNone/>
            </a:pPr>
            <a:r>
              <a:rPr lang="en-US" sz="3600" b="1" dirty="0">
                <a:solidFill>
                  <a:srgbClr val="06B6D4"/>
                </a:solidFill>
                <a:latin typeface="Georgia" pitchFamily="34" charset="0"/>
                <a:ea typeface="Georgia" pitchFamily="34" charset="-122"/>
                <a:cs typeface="Georgia" pitchFamily="34" charset="-120"/>
              </a:rPr>
              <a:t>05</a:t>
            </a:r>
            <a:endParaRPr lang="en-US" sz="3600" dirty="0"/>
          </a:p>
        </p:txBody>
      </p:sp>
      <p:sp>
        <p:nvSpPr>
          <p:cNvPr id="22" name="Text 20"/>
          <p:cNvSpPr/>
          <p:nvPr/>
        </p:nvSpPr>
        <p:spPr>
          <a:xfrm>
            <a:off x="2011680" y="5532120"/>
            <a:ext cx="9144000" cy="411480"/>
          </a:xfrm>
          <a:prstGeom prst="rect">
            <a:avLst/>
          </a:prstGeom>
          <a:noFill/>
          <a:ln/>
        </p:spPr>
        <p:txBody>
          <a:bodyPr wrap="square" lIns="0" tIns="0" rIns="0" bIns="0" rtlCol="0" anchor="ctr"/>
          <a:lstStyle/>
          <a:p>
            <a:pPr marL="0" indent="0">
              <a:buNone/>
            </a:pPr>
            <a:r>
              <a:rPr lang="en-US" sz="1800" b="1" dirty="0">
                <a:solidFill>
                  <a:srgbClr val="E8F1FF"/>
                </a:solidFill>
                <a:latin typeface="Calibri" pitchFamily="34" charset="0"/>
                <a:ea typeface="Calibri" pitchFamily="34" charset="-122"/>
                <a:cs typeface="Calibri" pitchFamily="34" charset="-120"/>
              </a:rPr>
              <a:t>Start talk to your engineering teams about STRIDE and MAESTRO threat modeling</a:t>
            </a:r>
            <a:endParaRPr lang="en-US" sz="1800" dirty="0"/>
          </a:p>
        </p:txBody>
      </p:sp>
      <p:sp>
        <p:nvSpPr>
          <p:cNvPr id="23" name="Text 21"/>
          <p:cNvSpPr/>
          <p:nvPr/>
        </p:nvSpPr>
        <p:spPr>
          <a:xfrm>
            <a:off x="2011680" y="5897880"/>
            <a:ext cx="9601200" cy="411480"/>
          </a:xfrm>
          <a:prstGeom prst="rect">
            <a:avLst/>
          </a:prstGeom>
          <a:noFill/>
          <a:ln/>
        </p:spPr>
        <p:txBody>
          <a:bodyPr wrap="square" lIns="0" tIns="0" rIns="0" bIns="0" rtlCol="0" anchor="t"/>
          <a:lstStyle/>
          <a:p>
            <a:pPr marL="0" indent="0">
              <a:buNone/>
            </a:pPr>
            <a:r>
              <a:rPr lang="en-US" sz="1400" dirty="0">
                <a:solidFill>
                  <a:srgbClr val="B8C9E0"/>
                </a:solidFill>
                <a:latin typeface="Calibri" pitchFamily="34" charset="0"/>
                <a:ea typeface="Calibri" pitchFamily="34" charset="-122"/>
                <a:cs typeface="Calibri" pitchFamily="34" charset="-120"/>
              </a:rPr>
              <a:t>You can’t do it all. You must teach them how to threat model.</a:t>
            </a:r>
            <a:endParaRPr lang="en-US" sz="1400" dirty="0"/>
          </a:p>
        </p:txBody>
      </p:sp>
      <p:sp>
        <p:nvSpPr>
          <p:cNvPr id="25" name="Text 23"/>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B8C9E0"/>
                </a:solidFill>
                <a:latin typeface="Calibri" pitchFamily="34" charset="0"/>
                <a:ea typeface="Calibri" pitchFamily="34" charset="-122"/>
                <a:cs typeface="Calibri" pitchFamily="34" charset="-120"/>
              </a:rPr>
              <a:t>Beyond STRIDE</a:t>
            </a:r>
            <a:endParaRPr lang="en-US" sz="1000" dirty="0"/>
          </a:p>
        </p:txBody>
      </p:sp>
      <p:sp>
        <p:nvSpPr>
          <p:cNvPr id="26" name="TextBox 25"/>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40 / 43</a:t>
            </a:r>
          </a:p>
        </p:txBody>
      </p:sp>
    </p:spTree>
  </p:cSld>
  <p:clrMapOvr>
    <a:masterClrMapping/>
  </p:clrMapOvr>
  <mc:AlternateContent xmlns:mc="http://schemas.openxmlformats.org/markup-compatibility/2006">
    <mc:Choice xmlns:p14="http://schemas.microsoft.com/office/powerpoint/2010/main" Requires="p14">
      <p:transition spd="slow" p14:dur="2000" advTm="107027"/>
    </mc:Choice>
    <mc:Fallback>
      <p:transition spd="slow" advTm="107027"/>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lIns="0" tIns="0" rIns="0" bIns="0" rtlCol="0" anchor="ctr"/>
          <a:lstStyle/>
          <a:p>
            <a:pPr marL="0" indent="0">
              <a:buNone/>
            </a:pPr>
            <a:r>
              <a:rPr lang="en-US" sz="3200" b="1" i="1" dirty="0">
                <a:solidFill>
                  <a:srgbClr val="E8F1FF"/>
                </a:solidFill>
                <a:latin typeface="Georgia" pitchFamily="34" charset="0"/>
                <a:ea typeface="Georgia" pitchFamily="34" charset="-122"/>
                <a:cs typeface="Georgia" pitchFamily="34" charset="-120"/>
              </a:rPr>
              <a:t>If you remember nothing else…</a:t>
            </a:r>
            <a:endParaRPr lang="en-US" sz="3200" dirty="0"/>
          </a:p>
        </p:txBody>
      </p:sp>
      <p:sp>
        <p:nvSpPr>
          <p:cNvPr id="3" name="Shape 1">
            <a:extLst>
              <a:ext uri="{C183D7F6-B498-43B3-948B-1728B52AA6E4}">
                <adec:decorative xmlns:adec="http://schemas.microsoft.com/office/drawing/2017/decorative" val="1"/>
              </a:ext>
            </a:extLst>
          </p:cNvPr>
          <p:cNvSpPr/>
          <p:nvPr/>
        </p:nvSpPr>
        <p:spPr>
          <a:xfrm>
            <a:off x="640080" y="1280160"/>
            <a:ext cx="731520" cy="45720"/>
          </a:xfrm>
          <a:prstGeom prst="rect">
            <a:avLst/>
          </a:prstGeom>
          <a:solidFill>
            <a:srgbClr val="F97066"/>
          </a:solidFill>
          <a:ln/>
        </p:spPr>
        <p:txBody>
          <a:bodyPr/>
          <a:lstStyle/>
          <a:p>
            <a:endParaRPr lang="en-US"/>
          </a:p>
        </p:txBody>
      </p:sp>
      <p:sp>
        <p:nvSpPr>
          <p:cNvPr id="4" name="Text 2"/>
          <p:cNvSpPr/>
          <p:nvPr/>
        </p:nvSpPr>
        <p:spPr>
          <a:xfrm>
            <a:off x="640080" y="1600200"/>
            <a:ext cx="1280160" cy="777240"/>
          </a:xfrm>
          <a:prstGeom prst="rect">
            <a:avLst/>
          </a:prstGeom>
          <a:noFill/>
          <a:ln/>
        </p:spPr>
        <p:txBody>
          <a:bodyPr wrap="square" lIns="0" tIns="0" rIns="0" bIns="0" rtlCol="0" anchor="ctr"/>
          <a:lstStyle/>
          <a:p>
            <a:pPr marL="0" indent="0">
              <a:buNone/>
            </a:pPr>
            <a:r>
              <a:rPr lang="en-US" sz="5000" b="1" dirty="0">
                <a:solidFill>
                  <a:srgbClr val="06B6D4"/>
                </a:solidFill>
                <a:latin typeface="Georgia" pitchFamily="34" charset="0"/>
                <a:ea typeface="Georgia" pitchFamily="34" charset="-122"/>
                <a:cs typeface="Georgia" pitchFamily="34" charset="-120"/>
              </a:rPr>
              <a:t>01</a:t>
            </a:r>
            <a:endParaRPr lang="en-US" sz="5000" dirty="0"/>
          </a:p>
        </p:txBody>
      </p:sp>
      <p:sp>
        <p:nvSpPr>
          <p:cNvPr id="5" name="Text 3"/>
          <p:cNvSpPr/>
          <p:nvPr/>
        </p:nvSpPr>
        <p:spPr>
          <a:xfrm>
            <a:off x="2011680" y="1645920"/>
            <a:ext cx="9601200" cy="411480"/>
          </a:xfrm>
          <a:prstGeom prst="rect">
            <a:avLst/>
          </a:prstGeom>
          <a:noFill/>
          <a:ln/>
        </p:spPr>
        <p:txBody>
          <a:bodyPr wrap="square" lIns="0" tIns="0" rIns="0" bIns="0" rtlCol="0" anchor="ctr"/>
          <a:lstStyle/>
          <a:p>
            <a:pPr marL="0" indent="0">
              <a:buNone/>
            </a:pPr>
            <a:r>
              <a:rPr lang="en-US" sz="1900" b="1" dirty="0">
                <a:solidFill>
                  <a:srgbClr val="E8F1FF"/>
                </a:solidFill>
                <a:latin typeface="Calibri" pitchFamily="34" charset="0"/>
                <a:ea typeface="Calibri" pitchFamily="34" charset="-122"/>
                <a:cs typeface="Calibri" pitchFamily="34" charset="-120"/>
              </a:rPr>
              <a:t>Agentic AI breaks traditional threat modeling.</a:t>
            </a:r>
            <a:endParaRPr lang="en-US" sz="1900" dirty="0"/>
          </a:p>
        </p:txBody>
      </p:sp>
      <p:sp>
        <p:nvSpPr>
          <p:cNvPr id="6" name="Text 4"/>
          <p:cNvSpPr/>
          <p:nvPr/>
        </p:nvSpPr>
        <p:spPr>
          <a:xfrm>
            <a:off x="2011680" y="2057400"/>
            <a:ext cx="9601200" cy="457200"/>
          </a:xfrm>
          <a:prstGeom prst="rect">
            <a:avLst/>
          </a:prstGeom>
          <a:noFill/>
          <a:ln/>
        </p:spPr>
        <p:txBody>
          <a:bodyPr wrap="square" lIns="0" tIns="0" rIns="0" bIns="0" rtlCol="0" anchor="t"/>
          <a:lstStyle/>
          <a:p>
            <a:pPr marL="0" indent="0">
              <a:buNone/>
            </a:pPr>
            <a:r>
              <a:rPr lang="en-US" sz="1400" dirty="0">
                <a:solidFill>
                  <a:srgbClr val="B8C9E0"/>
                </a:solidFill>
                <a:latin typeface="Calibri" pitchFamily="34" charset="0"/>
                <a:ea typeface="Calibri" pitchFamily="34" charset="-122"/>
                <a:cs typeface="Calibri" pitchFamily="34" charset="-120"/>
              </a:rPr>
              <a:t>Non-determinism, autonomy, no real trust boundaries. Your old frameworks weren’t designed for this.</a:t>
            </a:r>
            <a:endParaRPr lang="en-US" sz="1400" dirty="0"/>
          </a:p>
        </p:txBody>
      </p:sp>
      <p:sp>
        <p:nvSpPr>
          <p:cNvPr id="7" name="Shape 5">
            <a:extLst>
              <a:ext uri="{C183D7F6-B498-43B3-948B-1728B52AA6E4}">
                <adec:decorative xmlns:adec="http://schemas.microsoft.com/office/drawing/2017/decorative" val="1"/>
              </a:ext>
            </a:extLst>
          </p:cNvPr>
          <p:cNvSpPr/>
          <p:nvPr/>
        </p:nvSpPr>
        <p:spPr>
          <a:xfrm>
            <a:off x="640080" y="2514600"/>
            <a:ext cx="10972800" cy="0"/>
          </a:xfrm>
          <a:prstGeom prst="line">
            <a:avLst/>
          </a:prstGeom>
          <a:noFill/>
          <a:ln w="12700">
            <a:solidFill>
              <a:srgbClr val="1A2B47"/>
            </a:solidFill>
            <a:prstDash val="solid"/>
          </a:ln>
        </p:spPr>
        <p:txBody>
          <a:bodyPr/>
          <a:lstStyle/>
          <a:p>
            <a:endParaRPr lang="en-US"/>
          </a:p>
        </p:txBody>
      </p:sp>
      <p:sp>
        <p:nvSpPr>
          <p:cNvPr id="8" name="Text 6"/>
          <p:cNvSpPr/>
          <p:nvPr/>
        </p:nvSpPr>
        <p:spPr>
          <a:xfrm>
            <a:off x="640080" y="2560320"/>
            <a:ext cx="1280160" cy="777240"/>
          </a:xfrm>
          <a:prstGeom prst="rect">
            <a:avLst/>
          </a:prstGeom>
          <a:noFill/>
          <a:ln/>
        </p:spPr>
        <p:txBody>
          <a:bodyPr wrap="square" lIns="0" tIns="0" rIns="0" bIns="0" rtlCol="0" anchor="ctr"/>
          <a:lstStyle/>
          <a:p>
            <a:pPr marL="0" indent="0">
              <a:buNone/>
            </a:pPr>
            <a:r>
              <a:rPr lang="en-US" sz="5000" b="1" dirty="0">
                <a:solidFill>
                  <a:srgbClr val="06B6D4"/>
                </a:solidFill>
                <a:latin typeface="Georgia" pitchFamily="34" charset="0"/>
                <a:ea typeface="Georgia" pitchFamily="34" charset="-122"/>
                <a:cs typeface="Georgia" pitchFamily="34" charset="-120"/>
              </a:rPr>
              <a:t>02</a:t>
            </a:r>
            <a:endParaRPr lang="en-US" sz="5000" dirty="0"/>
          </a:p>
        </p:txBody>
      </p:sp>
      <p:sp>
        <p:nvSpPr>
          <p:cNvPr id="9" name="Text 7"/>
          <p:cNvSpPr/>
          <p:nvPr/>
        </p:nvSpPr>
        <p:spPr>
          <a:xfrm>
            <a:off x="2011680" y="2606040"/>
            <a:ext cx="9601200" cy="411480"/>
          </a:xfrm>
          <a:prstGeom prst="rect">
            <a:avLst/>
          </a:prstGeom>
          <a:noFill/>
          <a:ln/>
        </p:spPr>
        <p:txBody>
          <a:bodyPr wrap="square" lIns="0" tIns="0" rIns="0" bIns="0" rtlCol="0" anchor="ctr"/>
          <a:lstStyle/>
          <a:p>
            <a:pPr marL="0" indent="0">
              <a:buNone/>
            </a:pPr>
            <a:r>
              <a:rPr lang="en-US" sz="1900" b="1" dirty="0">
                <a:solidFill>
                  <a:srgbClr val="E8F1FF"/>
                </a:solidFill>
                <a:latin typeface="Calibri" pitchFamily="34" charset="0"/>
                <a:ea typeface="Calibri" pitchFamily="34" charset="-122"/>
                <a:cs typeface="Calibri" pitchFamily="34" charset="-120"/>
              </a:rPr>
              <a:t>STRIDE isn’t dead — it’s just not enough.</a:t>
            </a:r>
            <a:endParaRPr lang="en-US" sz="1900" dirty="0"/>
          </a:p>
        </p:txBody>
      </p:sp>
      <p:sp>
        <p:nvSpPr>
          <p:cNvPr id="10" name="Text 8"/>
          <p:cNvSpPr/>
          <p:nvPr/>
        </p:nvSpPr>
        <p:spPr>
          <a:xfrm>
            <a:off x="2011680" y="3017520"/>
            <a:ext cx="9601200" cy="457200"/>
          </a:xfrm>
          <a:prstGeom prst="rect">
            <a:avLst/>
          </a:prstGeom>
          <a:noFill/>
          <a:ln/>
        </p:spPr>
        <p:txBody>
          <a:bodyPr wrap="square" lIns="0" tIns="0" rIns="0" bIns="0" rtlCol="0" anchor="t"/>
          <a:lstStyle/>
          <a:p>
            <a:pPr marL="0" indent="0">
              <a:buNone/>
            </a:pPr>
            <a:r>
              <a:rPr lang="en-US" sz="1400" dirty="0">
                <a:solidFill>
                  <a:srgbClr val="B8C9E0"/>
                </a:solidFill>
                <a:latin typeface="Calibri" pitchFamily="34" charset="0"/>
                <a:ea typeface="Calibri" pitchFamily="34" charset="-122"/>
                <a:cs typeface="Calibri" pitchFamily="34" charset="-120"/>
              </a:rPr>
              <a:t>Use it. Add MAESTRO on top. They’re complementary.</a:t>
            </a:r>
            <a:endParaRPr lang="en-US" sz="1400" dirty="0"/>
          </a:p>
        </p:txBody>
      </p:sp>
      <p:sp>
        <p:nvSpPr>
          <p:cNvPr id="11" name="Shape 9">
            <a:extLst>
              <a:ext uri="{C183D7F6-B498-43B3-948B-1728B52AA6E4}">
                <adec:decorative xmlns:adec="http://schemas.microsoft.com/office/drawing/2017/decorative" val="1"/>
              </a:ext>
            </a:extLst>
          </p:cNvPr>
          <p:cNvSpPr/>
          <p:nvPr/>
        </p:nvSpPr>
        <p:spPr>
          <a:xfrm>
            <a:off x="640080" y="3474720"/>
            <a:ext cx="10972800" cy="0"/>
          </a:xfrm>
          <a:prstGeom prst="line">
            <a:avLst/>
          </a:prstGeom>
          <a:noFill/>
          <a:ln w="12700">
            <a:solidFill>
              <a:srgbClr val="1A2B47"/>
            </a:solidFill>
            <a:prstDash val="solid"/>
          </a:ln>
        </p:spPr>
        <p:txBody>
          <a:bodyPr/>
          <a:lstStyle/>
          <a:p>
            <a:endParaRPr lang="en-US"/>
          </a:p>
        </p:txBody>
      </p:sp>
      <p:sp>
        <p:nvSpPr>
          <p:cNvPr id="12" name="Text 10"/>
          <p:cNvSpPr/>
          <p:nvPr/>
        </p:nvSpPr>
        <p:spPr>
          <a:xfrm>
            <a:off x="640080" y="3520440"/>
            <a:ext cx="1280160" cy="777240"/>
          </a:xfrm>
          <a:prstGeom prst="rect">
            <a:avLst/>
          </a:prstGeom>
          <a:noFill/>
          <a:ln/>
        </p:spPr>
        <p:txBody>
          <a:bodyPr wrap="square" lIns="0" tIns="0" rIns="0" bIns="0" rtlCol="0" anchor="ctr"/>
          <a:lstStyle/>
          <a:p>
            <a:pPr marL="0" indent="0">
              <a:buNone/>
            </a:pPr>
            <a:r>
              <a:rPr lang="en-US" sz="5000" b="1" dirty="0">
                <a:solidFill>
                  <a:srgbClr val="06B6D4"/>
                </a:solidFill>
                <a:latin typeface="Georgia" pitchFamily="34" charset="0"/>
                <a:ea typeface="Georgia" pitchFamily="34" charset="-122"/>
                <a:cs typeface="Georgia" pitchFamily="34" charset="-120"/>
              </a:rPr>
              <a:t>03</a:t>
            </a:r>
            <a:endParaRPr lang="en-US" sz="5000" dirty="0"/>
          </a:p>
        </p:txBody>
      </p:sp>
      <p:sp>
        <p:nvSpPr>
          <p:cNvPr id="13" name="Text 11"/>
          <p:cNvSpPr/>
          <p:nvPr/>
        </p:nvSpPr>
        <p:spPr>
          <a:xfrm>
            <a:off x="2011680" y="3566160"/>
            <a:ext cx="9601200" cy="411480"/>
          </a:xfrm>
          <a:prstGeom prst="rect">
            <a:avLst/>
          </a:prstGeom>
          <a:noFill/>
          <a:ln/>
        </p:spPr>
        <p:txBody>
          <a:bodyPr wrap="square" lIns="0" tIns="0" rIns="0" bIns="0" rtlCol="0" anchor="ctr"/>
          <a:lstStyle/>
          <a:p>
            <a:pPr marL="0" indent="0">
              <a:buNone/>
            </a:pPr>
            <a:r>
              <a:rPr lang="en-US" sz="1900" b="1" dirty="0">
                <a:solidFill>
                  <a:srgbClr val="E8F1FF"/>
                </a:solidFill>
                <a:latin typeface="Calibri" pitchFamily="34" charset="0"/>
                <a:ea typeface="Calibri" pitchFamily="34" charset="-122"/>
                <a:cs typeface="Calibri" pitchFamily="34" charset="-120"/>
              </a:rPr>
              <a:t>The seven layers are the minimum surface area.</a:t>
            </a:r>
            <a:endParaRPr lang="en-US" sz="1900" dirty="0"/>
          </a:p>
        </p:txBody>
      </p:sp>
      <p:sp>
        <p:nvSpPr>
          <p:cNvPr id="14" name="Text 12"/>
          <p:cNvSpPr/>
          <p:nvPr/>
        </p:nvSpPr>
        <p:spPr>
          <a:xfrm>
            <a:off x="2011680" y="3977640"/>
            <a:ext cx="9601200" cy="457200"/>
          </a:xfrm>
          <a:prstGeom prst="rect">
            <a:avLst/>
          </a:prstGeom>
          <a:noFill/>
          <a:ln/>
        </p:spPr>
        <p:txBody>
          <a:bodyPr wrap="square" lIns="0" tIns="0" rIns="0" bIns="0" rtlCol="0" anchor="t"/>
          <a:lstStyle/>
          <a:p>
            <a:pPr marL="0" indent="0">
              <a:buNone/>
            </a:pPr>
            <a:r>
              <a:rPr lang="en-US" sz="1400" dirty="0">
                <a:solidFill>
                  <a:srgbClr val="B8C9E0"/>
                </a:solidFill>
                <a:latin typeface="Calibri" pitchFamily="34" charset="0"/>
                <a:ea typeface="Calibri" pitchFamily="34" charset="-122"/>
                <a:cs typeface="Calibri" pitchFamily="34" charset="-120"/>
              </a:rPr>
              <a:t>Ecosystem → Security → Observability → Deployment → Frameworks → Data → Foundation. Don’t skip any.</a:t>
            </a:r>
            <a:endParaRPr lang="en-US" sz="1400" dirty="0"/>
          </a:p>
        </p:txBody>
      </p:sp>
      <p:sp>
        <p:nvSpPr>
          <p:cNvPr id="15" name="Shape 13">
            <a:extLst>
              <a:ext uri="{C183D7F6-B498-43B3-948B-1728B52AA6E4}">
                <adec:decorative xmlns:adec="http://schemas.microsoft.com/office/drawing/2017/decorative" val="1"/>
              </a:ext>
            </a:extLst>
          </p:cNvPr>
          <p:cNvSpPr/>
          <p:nvPr/>
        </p:nvSpPr>
        <p:spPr>
          <a:xfrm>
            <a:off x="640080" y="4434840"/>
            <a:ext cx="10972800" cy="0"/>
          </a:xfrm>
          <a:prstGeom prst="line">
            <a:avLst/>
          </a:prstGeom>
          <a:noFill/>
          <a:ln w="12700">
            <a:solidFill>
              <a:srgbClr val="1A2B47"/>
            </a:solidFill>
            <a:prstDash val="solid"/>
          </a:ln>
        </p:spPr>
        <p:txBody>
          <a:bodyPr/>
          <a:lstStyle/>
          <a:p>
            <a:endParaRPr lang="en-US"/>
          </a:p>
        </p:txBody>
      </p:sp>
      <p:sp>
        <p:nvSpPr>
          <p:cNvPr id="16" name="Text 14"/>
          <p:cNvSpPr/>
          <p:nvPr/>
        </p:nvSpPr>
        <p:spPr>
          <a:xfrm>
            <a:off x="640080" y="4480560"/>
            <a:ext cx="1280160" cy="777240"/>
          </a:xfrm>
          <a:prstGeom prst="rect">
            <a:avLst/>
          </a:prstGeom>
          <a:noFill/>
          <a:ln/>
        </p:spPr>
        <p:txBody>
          <a:bodyPr wrap="square" lIns="0" tIns="0" rIns="0" bIns="0" rtlCol="0" anchor="ctr"/>
          <a:lstStyle/>
          <a:p>
            <a:pPr marL="0" indent="0">
              <a:buNone/>
            </a:pPr>
            <a:r>
              <a:rPr lang="en-US" sz="5000" b="1" dirty="0">
                <a:solidFill>
                  <a:srgbClr val="06B6D4"/>
                </a:solidFill>
                <a:latin typeface="Georgia" pitchFamily="34" charset="0"/>
                <a:ea typeface="Georgia" pitchFamily="34" charset="-122"/>
                <a:cs typeface="Georgia" pitchFamily="34" charset="-120"/>
              </a:rPr>
              <a:t>04</a:t>
            </a:r>
            <a:endParaRPr lang="en-US" sz="5000" dirty="0"/>
          </a:p>
        </p:txBody>
      </p:sp>
      <p:sp>
        <p:nvSpPr>
          <p:cNvPr id="17" name="Text 15"/>
          <p:cNvSpPr/>
          <p:nvPr/>
        </p:nvSpPr>
        <p:spPr>
          <a:xfrm>
            <a:off x="2011680" y="4526280"/>
            <a:ext cx="9601200" cy="411480"/>
          </a:xfrm>
          <a:prstGeom prst="rect">
            <a:avLst/>
          </a:prstGeom>
          <a:noFill/>
          <a:ln/>
        </p:spPr>
        <p:txBody>
          <a:bodyPr wrap="square" lIns="0" tIns="0" rIns="0" bIns="0" rtlCol="0" anchor="ctr"/>
          <a:lstStyle/>
          <a:p>
            <a:pPr marL="0" indent="0">
              <a:buNone/>
            </a:pPr>
            <a:r>
              <a:rPr lang="en-US" sz="1900" b="1" dirty="0">
                <a:solidFill>
                  <a:srgbClr val="E8F1FF"/>
                </a:solidFill>
                <a:latin typeface="Calibri" pitchFamily="34" charset="0"/>
                <a:ea typeface="Calibri" pitchFamily="34" charset="-122"/>
                <a:cs typeface="Calibri" pitchFamily="34" charset="-120"/>
              </a:rPr>
              <a:t>Cross-layer attacks are the real nightmare.</a:t>
            </a:r>
            <a:endParaRPr lang="en-US" sz="1900" dirty="0"/>
          </a:p>
        </p:txBody>
      </p:sp>
      <p:sp>
        <p:nvSpPr>
          <p:cNvPr id="18" name="Text 16"/>
          <p:cNvSpPr/>
          <p:nvPr/>
        </p:nvSpPr>
        <p:spPr>
          <a:xfrm>
            <a:off x="2011680" y="4937760"/>
            <a:ext cx="9601200" cy="457200"/>
          </a:xfrm>
          <a:prstGeom prst="rect">
            <a:avLst/>
          </a:prstGeom>
          <a:noFill/>
          <a:ln/>
        </p:spPr>
        <p:txBody>
          <a:bodyPr wrap="square" lIns="0" tIns="0" rIns="0" bIns="0" rtlCol="0" anchor="t"/>
          <a:lstStyle/>
          <a:p>
            <a:pPr marL="0" indent="0">
              <a:buNone/>
            </a:pPr>
            <a:r>
              <a:rPr lang="en-US" sz="1400" dirty="0">
                <a:solidFill>
                  <a:srgbClr val="B8C9E0"/>
                </a:solidFill>
                <a:latin typeface="Calibri" pitchFamily="34" charset="0"/>
                <a:ea typeface="Calibri" pitchFamily="34" charset="-122"/>
                <a:cs typeface="Calibri" pitchFamily="34" charset="-120"/>
              </a:rPr>
              <a:t>Single-layer threats hurt. Cascading chains end careers. Hunt the chains.</a:t>
            </a:r>
            <a:endParaRPr lang="en-US" sz="1400" dirty="0"/>
          </a:p>
        </p:txBody>
      </p:sp>
      <p:sp>
        <p:nvSpPr>
          <p:cNvPr id="19" name="Shape 17">
            <a:extLst>
              <a:ext uri="{C183D7F6-B498-43B3-948B-1728B52AA6E4}">
                <adec:decorative xmlns:adec="http://schemas.microsoft.com/office/drawing/2017/decorative" val="1"/>
              </a:ext>
            </a:extLst>
          </p:cNvPr>
          <p:cNvSpPr/>
          <p:nvPr/>
        </p:nvSpPr>
        <p:spPr>
          <a:xfrm>
            <a:off x="640080" y="5394960"/>
            <a:ext cx="10972800" cy="0"/>
          </a:xfrm>
          <a:prstGeom prst="line">
            <a:avLst/>
          </a:prstGeom>
          <a:noFill/>
          <a:ln w="12700">
            <a:solidFill>
              <a:srgbClr val="1A2B47"/>
            </a:solidFill>
            <a:prstDash val="solid"/>
          </a:ln>
        </p:spPr>
        <p:txBody>
          <a:bodyPr/>
          <a:lstStyle/>
          <a:p>
            <a:endParaRPr lang="en-US"/>
          </a:p>
        </p:txBody>
      </p:sp>
      <p:sp>
        <p:nvSpPr>
          <p:cNvPr id="24" name="Text 22"/>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B8C9E0"/>
                </a:solidFill>
                <a:latin typeface="Calibri" pitchFamily="34" charset="0"/>
                <a:ea typeface="Calibri" pitchFamily="34" charset="-122"/>
                <a:cs typeface="Calibri" pitchFamily="34" charset="-120"/>
              </a:rPr>
              <a:t>Beyond STRIDE</a:t>
            </a:r>
            <a:endParaRPr lang="en-US" sz="1000" dirty="0"/>
          </a:p>
        </p:txBody>
      </p:sp>
      <p:sp>
        <p:nvSpPr>
          <p:cNvPr id="25" name="TextBox 24"/>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41 / 43</a:t>
            </a:r>
          </a:p>
        </p:txBody>
      </p:sp>
    </p:spTree>
  </p:cSld>
  <p:clrMapOvr>
    <a:masterClrMapping/>
  </p:clrMapOvr>
  <mc:AlternateContent xmlns:mc="http://schemas.openxmlformats.org/markup-compatibility/2006">
    <mc:Choice xmlns:p14="http://schemas.microsoft.com/office/powerpoint/2010/main" Requires="p14">
      <p:transition spd="slow" p14:dur="2000" advTm="38135"/>
    </mc:Choice>
    <mc:Fallback>
      <p:transition spd="slow" advTm="38135"/>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47" name="Shape 26">
            <a:extLst>
              <a:ext uri="{FF2B5EF4-FFF2-40B4-BE49-F238E27FC236}">
                <a16:creationId xmlns:a16="http://schemas.microsoft.com/office/drawing/2014/main" id="{AC9E6E01-AB12-B68B-D5A2-285B31C18BB6}"/>
              </a:ext>
              <a:ext uri="{C183D7F6-B498-43B3-948B-1728B52AA6E4}">
                <adec:decorative xmlns:adec="http://schemas.microsoft.com/office/drawing/2017/decorative" val="1"/>
              </a:ext>
            </a:extLst>
          </p:cNvPr>
          <p:cNvSpPr/>
          <p:nvPr/>
        </p:nvSpPr>
        <p:spPr>
          <a:xfrm>
            <a:off x="640080" y="4983480"/>
            <a:ext cx="5440680" cy="1508760"/>
          </a:xfrm>
          <a:prstGeom prst="rect">
            <a:avLst/>
          </a:prstGeom>
          <a:solidFill>
            <a:srgbClr val="F8FAFC"/>
          </a:solidFill>
          <a:ln w="12700">
            <a:solidFill>
              <a:srgbClr val="E2E8F0"/>
            </a:solidFill>
            <a:prstDash val="solid"/>
          </a:ln>
        </p:spPr>
        <p:txBody>
          <a:bodyPr/>
          <a:lstStyle/>
          <a:p>
            <a:endParaRPr lang="en-US" dirty="0"/>
          </a:p>
        </p:txBody>
      </p:sp>
      <p:sp>
        <p:nvSpPr>
          <p:cNvPr id="2" name="Text 0"/>
          <p:cNvSpPr/>
          <p:nvPr/>
        </p:nvSpPr>
        <p:spPr>
          <a:xfrm>
            <a:off x="640080" y="502920"/>
            <a:ext cx="10972800" cy="640080"/>
          </a:xfrm>
          <a:prstGeom prst="rect">
            <a:avLst/>
          </a:prstGeom>
          <a:noFill/>
          <a:ln/>
        </p:spPr>
        <p:txBody>
          <a:bodyPr wrap="square" lIns="0" tIns="0" rIns="0" bIns="0" rtlCol="0" anchor="ctr"/>
          <a:lstStyle/>
          <a:p>
            <a:pPr marL="0" indent="0">
              <a:buNone/>
            </a:pPr>
            <a:r>
              <a:rPr lang="en-US" sz="3600" b="1" dirty="0">
                <a:solidFill>
                  <a:srgbClr val="1E293B"/>
                </a:solidFill>
                <a:latin typeface="Georgia" pitchFamily="34" charset="0"/>
                <a:ea typeface="Georgia" pitchFamily="34" charset="-122"/>
                <a:cs typeface="Georgia" pitchFamily="34" charset="-120"/>
              </a:rPr>
              <a:t>Resources</a:t>
            </a:r>
            <a:endParaRPr lang="en-US" sz="3600" dirty="0"/>
          </a:p>
        </p:txBody>
      </p:sp>
      <p:sp>
        <p:nvSpPr>
          <p:cNvPr id="4" name="Shape 2">
            <a:extLst>
              <a:ext uri="{C183D7F6-B498-43B3-948B-1728B52AA6E4}">
                <adec:decorative xmlns:adec="http://schemas.microsoft.com/office/drawing/2017/decorative" val="1"/>
              </a:ext>
            </a:extLst>
          </p:cNvPr>
          <p:cNvSpPr/>
          <p:nvPr/>
        </p:nvSpPr>
        <p:spPr>
          <a:xfrm>
            <a:off x="640080" y="1691640"/>
            <a:ext cx="5440680" cy="1508760"/>
          </a:xfrm>
          <a:prstGeom prst="rect">
            <a:avLst/>
          </a:prstGeom>
          <a:solidFill>
            <a:srgbClr val="F8FAFC"/>
          </a:solidFill>
          <a:ln w="12700">
            <a:solidFill>
              <a:srgbClr val="E2E8F0"/>
            </a:solidFill>
            <a:prstDash val="solid"/>
          </a:ln>
        </p:spPr>
        <p:txBody>
          <a:bodyPr/>
          <a:lstStyle/>
          <a:p>
            <a:endParaRPr lang="en-US" dirty="0"/>
          </a:p>
        </p:txBody>
      </p:sp>
      <p:sp>
        <p:nvSpPr>
          <p:cNvPr id="5" name="Shape 3">
            <a:extLst>
              <a:ext uri="{C183D7F6-B498-43B3-948B-1728B52AA6E4}">
                <adec:decorative xmlns:adec="http://schemas.microsoft.com/office/drawing/2017/decorative" val="1"/>
              </a:ext>
            </a:extLst>
          </p:cNvPr>
          <p:cNvSpPr/>
          <p:nvPr/>
        </p:nvSpPr>
        <p:spPr>
          <a:xfrm>
            <a:off x="640080" y="1691640"/>
            <a:ext cx="73152" cy="1508760"/>
          </a:xfrm>
          <a:prstGeom prst="rect">
            <a:avLst/>
          </a:prstGeom>
          <a:solidFill>
            <a:srgbClr val="06B6D4"/>
          </a:solidFill>
          <a:ln/>
        </p:spPr>
        <p:txBody>
          <a:bodyPr/>
          <a:lstStyle/>
          <a:p>
            <a:endParaRPr lang="en-US"/>
          </a:p>
        </p:txBody>
      </p:sp>
      <p:sp>
        <p:nvSpPr>
          <p:cNvPr id="6" name="Text 4"/>
          <p:cNvSpPr/>
          <p:nvPr/>
        </p:nvSpPr>
        <p:spPr>
          <a:xfrm>
            <a:off x="868680" y="1828800"/>
            <a:ext cx="4983480" cy="274320"/>
          </a:xfrm>
          <a:prstGeom prst="rect">
            <a:avLst/>
          </a:prstGeom>
          <a:noFill/>
          <a:ln/>
        </p:spPr>
        <p:txBody>
          <a:bodyPr wrap="square" lIns="0" tIns="0" rIns="0" bIns="0" rtlCol="0" anchor="ctr"/>
          <a:lstStyle/>
          <a:p>
            <a:pPr marL="0" indent="0">
              <a:buNone/>
            </a:pPr>
            <a:r>
              <a:rPr lang="en-US" sz="900" b="1" kern="0" spc="300" dirty="0">
                <a:solidFill>
                  <a:srgbClr val="06B6D4"/>
                </a:solidFill>
                <a:latin typeface="Calibri" pitchFamily="34" charset="0"/>
                <a:ea typeface="Calibri" pitchFamily="34" charset="-122"/>
                <a:cs typeface="Calibri" pitchFamily="34" charset="-120"/>
              </a:rPr>
              <a:t>PRIMARY SOURCE</a:t>
            </a:r>
            <a:endParaRPr lang="en-US" sz="900" dirty="0"/>
          </a:p>
        </p:txBody>
      </p:sp>
      <p:sp>
        <p:nvSpPr>
          <p:cNvPr id="7" name="Text 5"/>
          <p:cNvSpPr/>
          <p:nvPr/>
        </p:nvSpPr>
        <p:spPr>
          <a:xfrm>
            <a:off x="868680" y="2075688"/>
            <a:ext cx="507492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Ken Huang — “Agentic AI Threat Modeling Framework: MAESTRO”</a:t>
            </a:r>
            <a:endParaRPr lang="en-US" sz="1400" dirty="0"/>
          </a:p>
        </p:txBody>
      </p:sp>
      <p:sp>
        <p:nvSpPr>
          <p:cNvPr id="8" name="Text 6"/>
          <p:cNvSpPr/>
          <p:nvPr/>
        </p:nvSpPr>
        <p:spPr>
          <a:xfrm>
            <a:off x="846378" y="2487168"/>
            <a:ext cx="5074920" cy="414492"/>
          </a:xfrm>
          <a:prstGeom prst="rect">
            <a:avLst/>
          </a:prstGeom>
          <a:noFill/>
          <a:ln/>
        </p:spPr>
        <p:txBody>
          <a:bodyPr wrap="square" lIns="0" tIns="0" rIns="0" bIns="0" rtlCol="0" anchor="ctr"/>
          <a:lstStyle/>
          <a:p>
            <a:r>
              <a:rPr lang="en-US" sz="1200" dirty="0">
                <a:solidFill>
                  <a:srgbClr val="0891B2"/>
                </a:solidFill>
                <a:latin typeface="Consolas" pitchFamily="34" charset="0"/>
                <a:cs typeface="Consolas" pitchFamily="34" charset="-120"/>
              </a:rPr>
              <a:t>https://</a:t>
            </a:r>
            <a:r>
              <a:rPr lang="en-US" sz="1200" dirty="0" err="1">
                <a:solidFill>
                  <a:srgbClr val="0891B2"/>
                </a:solidFill>
                <a:latin typeface="Consolas" pitchFamily="34" charset="0"/>
                <a:cs typeface="Consolas" pitchFamily="34" charset="-120"/>
              </a:rPr>
              <a:t>cloudsecurityalliance.org</a:t>
            </a:r>
            <a:r>
              <a:rPr lang="en-US" sz="1200" dirty="0">
                <a:solidFill>
                  <a:srgbClr val="0891B2"/>
                </a:solidFill>
                <a:latin typeface="Consolas" pitchFamily="34" charset="0"/>
                <a:cs typeface="Consolas" pitchFamily="34" charset="-120"/>
              </a:rPr>
              <a:t>/blog/2025/02/06/agentic-ai-threat-modeling-framework-maestro</a:t>
            </a:r>
          </a:p>
        </p:txBody>
      </p:sp>
      <p:sp>
        <p:nvSpPr>
          <p:cNvPr id="9" name="Text 7"/>
          <p:cNvSpPr/>
          <p:nvPr/>
        </p:nvSpPr>
        <p:spPr>
          <a:xfrm>
            <a:off x="868680" y="2834640"/>
            <a:ext cx="5074920" cy="365760"/>
          </a:xfrm>
          <a:prstGeom prst="rect">
            <a:avLst/>
          </a:prstGeom>
          <a:noFill/>
          <a:ln/>
        </p:spPr>
        <p:txBody>
          <a:bodyPr wrap="square" lIns="0" tIns="0" rIns="0" bIns="0" rtlCol="0" anchor="ctr"/>
          <a:lstStyle/>
          <a:p>
            <a:pPr marL="0" indent="0">
              <a:buNone/>
            </a:pPr>
            <a:r>
              <a:rPr lang="en-US" sz="1400" i="1" dirty="0">
                <a:solidFill>
                  <a:srgbClr val="FF0000"/>
                </a:solidFill>
                <a:latin typeface="Calibri" pitchFamily="34" charset="0"/>
                <a:ea typeface="Calibri" pitchFamily="34" charset="-122"/>
                <a:cs typeface="Calibri" pitchFamily="34" charset="-120"/>
              </a:rPr>
              <a:t>If you read one thing, read this. It’s free. It’s better than this talk.</a:t>
            </a:r>
            <a:endParaRPr lang="en-US" sz="1400" dirty="0">
              <a:solidFill>
                <a:srgbClr val="FF0000"/>
              </a:solidFill>
            </a:endParaRPr>
          </a:p>
        </p:txBody>
      </p:sp>
      <p:sp>
        <p:nvSpPr>
          <p:cNvPr id="11" name="Shape 9">
            <a:extLst>
              <a:ext uri="{C183D7F6-B498-43B3-948B-1728B52AA6E4}">
                <adec:decorative xmlns:adec="http://schemas.microsoft.com/office/drawing/2017/decorative" val="1"/>
              </a:ext>
            </a:extLst>
          </p:cNvPr>
          <p:cNvSpPr/>
          <p:nvPr/>
        </p:nvSpPr>
        <p:spPr>
          <a:xfrm>
            <a:off x="6446520" y="1691640"/>
            <a:ext cx="73152" cy="1508760"/>
          </a:xfrm>
          <a:prstGeom prst="rect">
            <a:avLst/>
          </a:prstGeom>
          <a:solidFill>
            <a:srgbClr val="06B6D4"/>
          </a:solidFill>
          <a:ln/>
        </p:spPr>
        <p:txBody>
          <a:bodyPr/>
          <a:lstStyle/>
          <a:p>
            <a:endParaRPr lang="en-US"/>
          </a:p>
        </p:txBody>
      </p:sp>
      <p:grpSp>
        <p:nvGrpSpPr>
          <p:cNvPr id="44" name="Group 43">
            <a:extLst>
              <a:ext uri="{FF2B5EF4-FFF2-40B4-BE49-F238E27FC236}">
                <a16:creationId xmlns:a16="http://schemas.microsoft.com/office/drawing/2014/main" id="{895E6713-B539-ECD9-22A9-922120173EAB}"/>
              </a:ext>
            </a:extLst>
          </p:cNvPr>
          <p:cNvGrpSpPr/>
          <p:nvPr/>
        </p:nvGrpSpPr>
        <p:grpSpPr>
          <a:xfrm>
            <a:off x="713232" y="3331427"/>
            <a:ext cx="5367528" cy="1508760"/>
            <a:chOff x="6446520" y="1691640"/>
            <a:chExt cx="5440680" cy="1508760"/>
          </a:xfrm>
        </p:grpSpPr>
        <p:sp>
          <p:nvSpPr>
            <p:cNvPr id="10" name="Shape 8"/>
            <p:cNvSpPr/>
            <p:nvPr/>
          </p:nvSpPr>
          <p:spPr>
            <a:xfrm>
              <a:off x="6446520" y="1691640"/>
              <a:ext cx="5440680" cy="1508760"/>
            </a:xfrm>
            <a:prstGeom prst="rect">
              <a:avLst/>
            </a:prstGeom>
            <a:solidFill>
              <a:srgbClr val="F8FAFC"/>
            </a:solidFill>
            <a:ln w="12700">
              <a:solidFill>
                <a:srgbClr val="E2E8F0"/>
              </a:solidFill>
              <a:prstDash val="solid"/>
            </a:ln>
          </p:spPr>
          <p:txBody>
            <a:bodyPr/>
            <a:lstStyle/>
            <a:p>
              <a:endParaRPr lang="en-US" dirty="0"/>
            </a:p>
          </p:txBody>
        </p:sp>
        <p:sp>
          <p:nvSpPr>
            <p:cNvPr id="12" name="Text 10"/>
            <p:cNvSpPr/>
            <p:nvPr/>
          </p:nvSpPr>
          <p:spPr>
            <a:xfrm>
              <a:off x="6675120" y="1828800"/>
              <a:ext cx="4983480" cy="274320"/>
            </a:xfrm>
            <a:prstGeom prst="rect">
              <a:avLst/>
            </a:prstGeom>
            <a:noFill/>
            <a:ln/>
          </p:spPr>
          <p:txBody>
            <a:bodyPr wrap="square" lIns="0" tIns="0" rIns="0" bIns="0" rtlCol="0" anchor="ctr"/>
            <a:lstStyle/>
            <a:p>
              <a:pPr marL="0" indent="0">
                <a:buNone/>
              </a:pPr>
              <a:r>
                <a:rPr lang="en-US" sz="900" b="1" kern="0" spc="300" dirty="0">
                  <a:solidFill>
                    <a:srgbClr val="06B6D4"/>
                  </a:solidFill>
                  <a:latin typeface="Calibri" pitchFamily="34" charset="0"/>
                  <a:ea typeface="Calibri" pitchFamily="34" charset="-122"/>
                  <a:cs typeface="Calibri" pitchFamily="34" charset="-120"/>
                </a:rPr>
                <a:t>FOLLOW-UP READING</a:t>
              </a:r>
              <a:endParaRPr lang="en-US" sz="900" dirty="0"/>
            </a:p>
          </p:txBody>
        </p:sp>
        <p:sp>
          <p:nvSpPr>
            <p:cNvPr id="13" name="Text 11"/>
            <p:cNvSpPr/>
            <p:nvPr/>
          </p:nvSpPr>
          <p:spPr>
            <a:xfrm>
              <a:off x="6675120" y="2075688"/>
              <a:ext cx="507492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MAESTRO Threat Modeling Examples</a:t>
              </a:r>
              <a:endParaRPr lang="en-US" sz="1400" dirty="0"/>
            </a:p>
          </p:txBody>
        </p:sp>
        <p:sp>
          <p:nvSpPr>
            <p:cNvPr id="14" name="Text 12"/>
            <p:cNvSpPr/>
            <p:nvPr/>
          </p:nvSpPr>
          <p:spPr>
            <a:xfrm>
              <a:off x="6675120" y="2560320"/>
              <a:ext cx="5074920" cy="274320"/>
            </a:xfrm>
            <a:prstGeom prst="rect">
              <a:avLst/>
            </a:prstGeom>
            <a:noFill/>
            <a:ln/>
          </p:spPr>
          <p:txBody>
            <a:bodyPr wrap="square" lIns="0" tIns="0" rIns="0" bIns="0" rtlCol="0" anchor="ctr"/>
            <a:lstStyle/>
            <a:p>
              <a:pPr marL="0" indent="0">
                <a:buNone/>
              </a:pPr>
              <a:r>
                <a:rPr lang="en-US" sz="1200" dirty="0">
                  <a:solidFill>
                    <a:srgbClr val="0891B2"/>
                  </a:solidFill>
                  <a:latin typeface="Consolas" pitchFamily="34" charset="0"/>
                  <a:ea typeface="Consolas" pitchFamily="34" charset="-122"/>
                  <a:cs typeface="Consolas" pitchFamily="34" charset="-120"/>
                </a:rPr>
                <a:t>cloudsecurityalliance.org/blog/ - Search for MAESTRO</a:t>
              </a:r>
              <a:endParaRPr lang="en-US" sz="1200" dirty="0"/>
            </a:p>
          </p:txBody>
        </p:sp>
        <p:sp>
          <p:nvSpPr>
            <p:cNvPr id="15" name="Text 13"/>
            <p:cNvSpPr/>
            <p:nvPr/>
          </p:nvSpPr>
          <p:spPr>
            <a:xfrm>
              <a:off x="6675120" y="2834640"/>
              <a:ext cx="5074920" cy="36576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ea typeface="Calibri" pitchFamily="34" charset="-122"/>
                  <a:cs typeface="Calibri" pitchFamily="34" charset="-120"/>
                </a:rPr>
                <a:t>MAESTRO applied to a specific platform. Great working example.</a:t>
              </a:r>
              <a:endParaRPr lang="en-US" sz="1200" dirty="0"/>
            </a:p>
          </p:txBody>
        </p:sp>
      </p:grpSp>
      <p:sp>
        <p:nvSpPr>
          <p:cNvPr id="17" name="Shape 15">
            <a:extLst>
              <a:ext uri="{C183D7F6-B498-43B3-948B-1728B52AA6E4}">
                <adec:decorative xmlns:adec="http://schemas.microsoft.com/office/drawing/2017/decorative" val="1"/>
              </a:ext>
            </a:extLst>
          </p:cNvPr>
          <p:cNvSpPr/>
          <p:nvPr/>
        </p:nvSpPr>
        <p:spPr>
          <a:xfrm>
            <a:off x="640080" y="3337560"/>
            <a:ext cx="73152" cy="1508760"/>
          </a:xfrm>
          <a:prstGeom prst="rect">
            <a:avLst/>
          </a:prstGeom>
          <a:solidFill>
            <a:srgbClr val="06B6D4"/>
          </a:solidFill>
          <a:ln/>
        </p:spPr>
        <p:txBody>
          <a:bodyPr/>
          <a:lstStyle/>
          <a:p>
            <a:endParaRPr lang="en-US"/>
          </a:p>
        </p:txBody>
      </p:sp>
      <p:grpSp>
        <p:nvGrpSpPr>
          <p:cNvPr id="43" name="Group 42">
            <a:extLst>
              <a:ext uri="{FF2B5EF4-FFF2-40B4-BE49-F238E27FC236}">
                <a16:creationId xmlns:a16="http://schemas.microsoft.com/office/drawing/2014/main" id="{0F7B8135-B098-AF23-232C-28BC18274F76}"/>
              </a:ext>
            </a:extLst>
          </p:cNvPr>
          <p:cNvGrpSpPr/>
          <p:nvPr/>
        </p:nvGrpSpPr>
        <p:grpSpPr>
          <a:xfrm>
            <a:off x="6519672" y="3339093"/>
            <a:ext cx="5513832" cy="1508760"/>
            <a:chOff x="640080" y="3337560"/>
            <a:chExt cx="5513832" cy="1508760"/>
          </a:xfrm>
        </p:grpSpPr>
        <p:sp>
          <p:nvSpPr>
            <p:cNvPr id="16" name="Shape 14"/>
            <p:cNvSpPr/>
            <p:nvPr/>
          </p:nvSpPr>
          <p:spPr>
            <a:xfrm>
              <a:off x="640080" y="3337560"/>
              <a:ext cx="5440680" cy="1508760"/>
            </a:xfrm>
            <a:prstGeom prst="rect">
              <a:avLst/>
            </a:prstGeom>
            <a:solidFill>
              <a:srgbClr val="F8FAFC"/>
            </a:solidFill>
            <a:ln w="12700">
              <a:solidFill>
                <a:srgbClr val="E2E8F0"/>
              </a:solidFill>
              <a:prstDash val="solid"/>
            </a:ln>
          </p:spPr>
          <p:txBody>
            <a:bodyPr/>
            <a:lstStyle/>
            <a:p>
              <a:endParaRPr lang="en-US" dirty="0"/>
            </a:p>
          </p:txBody>
        </p:sp>
        <p:sp>
          <p:nvSpPr>
            <p:cNvPr id="18" name="Text 16"/>
            <p:cNvSpPr/>
            <p:nvPr/>
          </p:nvSpPr>
          <p:spPr>
            <a:xfrm>
              <a:off x="868680" y="3474720"/>
              <a:ext cx="4983480" cy="274320"/>
            </a:xfrm>
            <a:prstGeom prst="rect">
              <a:avLst/>
            </a:prstGeom>
            <a:noFill/>
            <a:ln/>
          </p:spPr>
          <p:txBody>
            <a:bodyPr wrap="square" lIns="0" tIns="0" rIns="0" bIns="0" rtlCol="0" anchor="ctr"/>
            <a:lstStyle/>
            <a:p>
              <a:pPr marL="0" indent="0">
                <a:buNone/>
              </a:pPr>
              <a:r>
                <a:rPr lang="en-US" sz="900" b="1" kern="0" spc="300" dirty="0">
                  <a:solidFill>
                    <a:srgbClr val="06B6D4"/>
                  </a:solidFill>
                  <a:latin typeface="Calibri" pitchFamily="34" charset="0"/>
                  <a:ea typeface="Calibri" pitchFamily="34" charset="-122"/>
                  <a:cs typeface="Calibri" pitchFamily="34" charset="-120"/>
                </a:rPr>
                <a:t>OPEN-SOURCE TOOLING</a:t>
              </a:r>
              <a:endParaRPr lang="en-US" sz="900" dirty="0"/>
            </a:p>
          </p:txBody>
        </p:sp>
        <p:sp>
          <p:nvSpPr>
            <p:cNvPr id="19" name="Text 17"/>
            <p:cNvSpPr/>
            <p:nvPr/>
          </p:nvSpPr>
          <p:spPr>
            <a:xfrm>
              <a:off x="868680" y="3721608"/>
              <a:ext cx="507492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MAESTRO Threat Analyzer</a:t>
              </a:r>
              <a:endParaRPr lang="en-US" sz="1400" dirty="0"/>
            </a:p>
          </p:txBody>
        </p:sp>
        <p:sp>
          <p:nvSpPr>
            <p:cNvPr id="20" name="Text 18"/>
            <p:cNvSpPr/>
            <p:nvPr/>
          </p:nvSpPr>
          <p:spPr>
            <a:xfrm>
              <a:off x="868680" y="4164676"/>
              <a:ext cx="5074920" cy="274320"/>
            </a:xfrm>
            <a:prstGeom prst="rect">
              <a:avLst/>
            </a:prstGeom>
            <a:noFill/>
            <a:ln/>
          </p:spPr>
          <p:txBody>
            <a:bodyPr wrap="square" lIns="0" tIns="0" rIns="0" bIns="0" rtlCol="0" anchor="ctr"/>
            <a:lstStyle/>
            <a:p>
              <a:pPr marL="0" indent="0">
                <a:buNone/>
              </a:pPr>
              <a:r>
                <a:rPr lang="en-US" sz="1200" dirty="0">
                  <a:solidFill>
                    <a:srgbClr val="0891B2"/>
                  </a:solidFill>
                  <a:latin typeface="Consolas" pitchFamily="34" charset="0"/>
                  <a:ea typeface="Consolas" pitchFamily="34" charset="-122"/>
                  <a:cs typeface="Consolas" pitchFamily="34" charset="-120"/>
                </a:rPr>
                <a:t>github.com/</a:t>
              </a:r>
              <a:r>
                <a:rPr lang="en-US" sz="1200" dirty="0" err="1">
                  <a:solidFill>
                    <a:srgbClr val="0891B2"/>
                  </a:solidFill>
                  <a:latin typeface="Consolas" pitchFamily="34" charset="0"/>
                  <a:ea typeface="Consolas" pitchFamily="34" charset="-122"/>
                  <a:cs typeface="Consolas" pitchFamily="34" charset="-120"/>
                </a:rPr>
                <a:t>CloudSecurityAlliance</a:t>
              </a:r>
              <a:r>
                <a:rPr lang="en-US" sz="1200" dirty="0">
                  <a:solidFill>
                    <a:srgbClr val="0891B2"/>
                  </a:solidFill>
                  <a:latin typeface="Consolas" pitchFamily="34" charset="0"/>
                  <a:ea typeface="Consolas" pitchFamily="34" charset="-122"/>
                  <a:cs typeface="Consolas" pitchFamily="34" charset="-120"/>
                </a:rPr>
                <a:t>/MAESTRO</a:t>
              </a:r>
              <a:endParaRPr lang="en-US" sz="1200" dirty="0"/>
            </a:p>
          </p:txBody>
        </p:sp>
        <p:sp>
          <p:nvSpPr>
            <p:cNvPr id="21" name="Text 19"/>
            <p:cNvSpPr/>
            <p:nvPr/>
          </p:nvSpPr>
          <p:spPr>
            <a:xfrm>
              <a:off x="850392" y="4472894"/>
              <a:ext cx="5303520" cy="365760"/>
            </a:xfrm>
            <a:prstGeom prst="rect">
              <a:avLst/>
            </a:prstGeom>
            <a:noFill/>
            <a:ln/>
          </p:spPr>
          <p:txBody>
            <a:bodyPr wrap="square" lIns="0" tIns="0" rIns="0" bIns="0" rtlCol="0" anchor="ctr"/>
            <a:lstStyle/>
            <a:p>
              <a:r>
                <a:rPr lang="en-US" sz="1200" i="1" dirty="0">
                  <a:solidFill>
                    <a:srgbClr val="475569"/>
                  </a:solidFill>
                  <a:latin typeface="Calibri" pitchFamily="34" charset="0"/>
                  <a:cs typeface="Calibri" pitchFamily="34" charset="-120"/>
                </a:rPr>
                <a:t>The tooling is immature. The methodology is more valuable right now than any specific tool.</a:t>
              </a:r>
            </a:p>
          </p:txBody>
        </p:sp>
      </p:grpSp>
      <p:sp>
        <p:nvSpPr>
          <p:cNvPr id="23" name="Shape 21">
            <a:extLst>
              <a:ext uri="{C183D7F6-B498-43B3-948B-1728B52AA6E4}">
                <adec:decorative xmlns:adec="http://schemas.microsoft.com/office/drawing/2017/decorative" val="1"/>
              </a:ext>
            </a:extLst>
          </p:cNvPr>
          <p:cNvSpPr/>
          <p:nvPr/>
        </p:nvSpPr>
        <p:spPr>
          <a:xfrm>
            <a:off x="6446520" y="3337560"/>
            <a:ext cx="73152" cy="1508760"/>
          </a:xfrm>
          <a:prstGeom prst="rect">
            <a:avLst/>
          </a:prstGeom>
          <a:solidFill>
            <a:srgbClr val="06B6D4"/>
          </a:solidFill>
          <a:ln/>
        </p:spPr>
        <p:txBody>
          <a:bodyPr/>
          <a:lstStyle/>
          <a:p>
            <a:endParaRPr lang="en-US"/>
          </a:p>
        </p:txBody>
      </p:sp>
      <p:grpSp>
        <p:nvGrpSpPr>
          <p:cNvPr id="45" name="Group 44">
            <a:extLst>
              <a:ext uri="{FF2B5EF4-FFF2-40B4-BE49-F238E27FC236}">
                <a16:creationId xmlns:a16="http://schemas.microsoft.com/office/drawing/2014/main" id="{FAF9E18D-6970-E5BD-6D3B-D105BE2C705D}"/>
              </a:ext>
            </a:extLst>
          </p:cNvPr>
          <p:cNvGrpSpPr/>
          <p:nvPr/>
        </p:nvGrpSpPr>
        <p:grpSpPr>
          <a:xfrm>
            <a:off x="6519672" y="1688573"/>
            <a:ext cx="5440680" cy="1508760"/>
            <a:chOff x="6446520" y="3337560"/>
            <a:chExt cx="5440680" cy="1508760"/>
          </a:xfrm>
        </p:grpSpPr>
        <p:sp>
          <p:nvSpPr>
            <p:cNvPr id="22" name="Shape 20"/>
            <p:cNvSpPr/>
            <p:nvPr/>
          </p:nvSpPr>
          <p:spPr>
            <a:xfrm>
              <a:off x="6446520" y="3337560"/>
              <a:ext cx="5440680" cy="1508760"/>
            </a:xfrm>
            <a:prstGeom prst="rect">
              <a:avLst/>
            </a:prstGeom>
            <a:solidFill>
              <a:srgbClr val="F8FAFC"/>
            </a:solidFill>
            <a:ln w="12700">
              <a:solidFill>
                <a:srgbClr val="E2E8F0"/>
              </a:solidFill>
              <a:prstDash val="solid"/>
            </a:ln>
          </p:spPr>
          <p:txBody>
            <a:bodyPr/>
            <a:lstStyle/>
            <a:p>
              <a:endParaRPr lang="en-US"/>
            </a:p>
          </p:txBody>
        </p:sp>
        <p:sp>
          <p:nvSpPr>
            <p:cNvPr id="24" name="Text 22"/>
            <p:cNvSpPr/>
            <p:nvPr/>
          </p:nvSpPr>
          <p:spPr>
            <a:xfrm>
              <a:off x="6675120" y="3474720"/>
              <a:ext cx="4983480" cy="274320"/>
            </a:xfrm>
            <a:prstGeom prst="rect">
              <a:avLst/>
            </a:prstGeom>
            <a:noFill/>
            <a:ln/>
          </p:spPr>
          <p:txBody>
            <a:bodyPr wrap="square" lIns="0" tIns="0" rIns="0" bIns="0" rtlCol="0" anchor="ctr"/>
            <a:lstStyle/>
            <a:p>
              <a:pPr marL="0" indent="0">
                <a:buNone/>
              </a:pPr>
              <a:r>
                <a:rPr lang="en-US" sz="900" b="1" kern="0" spc="300" dirty="0">
                  <a:solidFill>
                    <a:srgbClr val="06B6D4"/>
                  </a:solidFill>
                  <a:latin typeface="Calibri" pitchFamily="34" charset="0"/>
                  <a:ea typeface="Calibri" pitchFamily="34" charset="-122"/>
                  <a:cs typeface="Calibri" pitchFamily="34" charset="-120"/>
                </a:rPr>
                <a:t>COMPLEMENTARY</a:t>
              </a:r>
              <a:endParaRPr lang="en-US" sz="900" dirty="0"/>
            </a:p>
          </p:txBody>
        </p:sp>
        <p:sp>
          <p:nvSpPr>
            <p:cNvPr id="25" name="Text 23"/>
            <p:cNvSpPr/>
            <p:nvPr/>
          </p:nvSpPr>
          <p:spPr>
            <a:xfrm>
              <a:off x="6675120" y="3721608"/>
              <a:ext cx="507492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OWASP LLM Top 10 · OWASP Agentic AI Threats and Mitigations</a:t>
              </a:r>
              <a:endParaRPr lang="en-US" sz="1400" dirty="0"/>
            </a:p>
          </p:txBody>
        </p:sp>
        <p:sp>
          <p:nvSpPr>
            <p:cNvPr id="26" name="Text 24"/>
            <p:cNvSpPr/>
            <p:nvPr/>
          </p:nvSpPr>
          <p:spPr>
            <a:xfrm>
              <a:off x="6675120" y="4206240"/>
              <a:ext cx="5074920" cy="274320"/>
            </a:xfrm>
            <a:prstGeom prst="rect">
              <a:avLst/>
            </a:prstGeom>
            <a:noFill/>
            <a:ln/>
          </p:spPr>
          <p:txBody>
            <a:bodyPr wrap="square" lIns="0" tIns="0" rIns="0" bIns="0" rtlCol="0" anchor="ctr"/>
            <a:lstStyle/>
            <a:p>
              <a:pPr marL="0" indent="0">
                <a:buNone/>
              </a:pPr>
              <a:r>
                <a:rPr lang="en-US" sz="1200" dirty="0">
                  <a:solidFill>
                    <a:srgbClr val="0891B2"/>
                  </a:solidFill>
                  <a:latin typeface="Consolas" pitchFamily="34" charset="0"/>
                  <a:ea typeface="Consolas" pitchFamily="34" charset="-122"/>
                  <a:cs typeface="Consolas" pitchFamily="34" charset="-120"/>
                </a:rPr>
                <a:t>genai.owasp.org</a:t>
              </a:r>
              <a:endParaRPr lang="en-US" sz="1200" dirty="0"/>
            </a:p>
          </p:txBody>
        </p:sp>
        <p:sp>
          <p:nvSpPr>
            <p:cNvPr id="27" name="Text 25"/>
            <p:cNvSpPr/>
            <p:nvPr/>
          </p:nvSpPr>
          <p:spPr>
            <a:xfrm>
              <a:off x="6675120" y="4480560"/>
              <a:ext cx="5074920" cy="36576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ea typeface="Calibri" pitchFamily="34" charset="-122"/>
                  <a:cs typeface="Calibri" pitchFamily="34" charset="-120"/>
                </a:rPr>
                <a:t>Threat catalogs that pair well with MAESTRO’s layered approach.</a:t>
              </a:r>
              <a:endParaRPr lang="en-US" sz="1200" dirty="0"/>
            </a:p>
          </p:txBody>
        </p:sp>
      </p:grpSp>
      <p:sp>
        <p:nvSpPr>
          <p:cNvPr id="29" name="Shape 27">
            <a:extLst>
              <a:ext uri="{C183D7F6-B498-43B3-948B-1728B52AA6E4}">
                <adec:decorative xmlns:adec="http://schemas.microsoft.com/office/drawing/2017/decorative" val="1"/>
              </a:ext>
            </a:extLst>
          </p:cNvPr>
          <p:cNvSpPr/>
          <p:nvPr/>
        </p:nvSpPr>
        <p:spPr>
          <a:xfrm>
            <a:off x="640080" y="4983480"/>
            <a:ext cx="73152" cy="1508760"/>
          </a:xfrm>
          <a:prstGeom prst="rect">
            <a:avLst/>
          </a:prstGeom>
          <a:solidFill>
            <a:srgbClr val="06B6D4"/>
          </a:solidFill>
          <a:ln/>
        </p:spPr>
        <p:txBody>
          <a:bodyPr/>
          <a:lstStyle/>
          <a:p>
            <a:endParaRPr lang="en-US"/>
          </a:p>
        </p:txBody>
      </p:sp>
      <p:sp>
        <p:nvSpPr>
          <p:cNvPr id="30" name="Text 28"/>
          <p:cNvSpPr/>
          <p:nvPr/>
        </p:nvSpPr>
        <p:spPr>
          <a:xfrm>
            <a:off x="868680" y="5120640"/>
            <a:ext cx="4983480" cy="274320"/>
          </a:xfrm>
          <a:prstGeom prst="rect">
            <a:avLst/>
          </a:prstGeom>
          <a:noFill/>
          <a:ln/>
        </p:spPr>
        <p:txBody>
          <a:bodyPr wrap="square" lIns="0" tIns="0" rIns="0" bIns="0" rtlCol="0" anchor="ctr"/>
          <a:lstStyle/>
          <a:p>
            <a:pPr marL="0" indent="0">
              <a:buNone/>
            </a:pPr>
            <a:r>
              <a:rPr lang="en-US" sz="900" b="1" kern="0" spc="300" dirty="0">
                <a:solidFill>
                  <a:srgbClr val="06B6D4"/>
                </a:solidFill>
                <a:latin typeface="Calibri" pitchFamily="34" charset="0"/>
                <a:cs typeface="Calibri" pitchFamily="34" charset="-120"/>
              </a:rPr>
              <a:t>DEVELOPING DEFENSE STRATEGIES</a:t>
            </a:r>
            <a:endParaRPr lang="en-US" sz="900" dirty="0"/>
          </a:p>
        </p:txBody>
      </p:sp>
      <p:sp>
        <p:nvSpPr>
          <p:cNvPr id="32" name="Text 30"/>
          <p:cNvSpPr/>
          <p:nvPr/>
        </p:nvSpPr>
        <p:spPr>
          <a:xfrm>
            <a:off x="868680" y="5709389"/>
            <a:ext cx="5074920" cy="274320"/>
          </a:xfrm>
          <a:prstGeom prst="rect">
            <a:avLst/>
          </a:prstGeom>
          <a:noFill/>
          <a:ln/>
        </p:spPr>
        <p:txBody>
          <a:bodyPr wrap="square" lIns="0" tIns="0" rIns="0" bIns="0" rtlCol="0" anchor="ctr"/>
          <a:lstStyle/>
          <a:p>
            <a:r>
              <a:rPr lang="en-US" sz="1200" u="sng" dirty="0">
                <a:solidFill>
                  <a:srgbClr val="0891B2"/>
                </a:solidFill>
                <a:latin typeface="Consolas" pitchFamily="34" charset="0"/>
                <a:cs typeface="Consolas" pitchFamily="34" charset="-120"/>
                <a:hlinkClick r:id="rId3">
                  <a:extLst>
                    <a:ext uri="{A12FA001-AC4F-418D-AE19-62706E023703}">
                      <ahyp:hlinkClr xmlns:ahyp="http://schemas.microsoft.com/office/drawing/2018/hyperlinkcolor" val="tx"/>
                    </a:ext>
                  </a:extLst>
                </a:hlinkClick>
              </a:rPr>
              <a:t>https://arxiv.org/abs/2503.18813</a:t>
            </a:r>
            <a:br>
              <a:rPr lang="en-US" sz="1200" dirty="0">
                <a:solidFill>
                  <a:srgbClr val="0891B2"/>
                </a:solidFill>
                <a:latin typeface="Consolas" pitchFamily="34" charset="0"/>
                <a:cs typeface="Consolas" pitchFamily="34" charset="-120"/>
              </a:rPr>
            </a:br>
            <a:r>
              <a:rPr lang="en-US" sz="1200" dirty="0">
                <a:solidFill>
                  <a:srgbClr val="0891B2"/>
                </a:solidFill>
                <a:latin typeface="Consolas" pitchFamily="34" charset="0"/>
                <a:cs typeface="Consolas" pitchFamily="34" charset="-120"/>
              </a:rPr>
              <a:t>https://</a:t>
            </a:r>
            <a:r>
              <a:rPr lang="en-US" sz="1200" dirty="0" err="1">
                <a:solidFill>
                  <a:srgbClr val="0891B2"/>
                </a:solidFill>
                <a:latin typeface="Consolas" pitchFamily="34" charset="0"/>
                <a:cs typeface="Consolas" pitchFamily="34" charset="-120"/>
              </a:rPr>
              <a:t>github.com</a:t>
            </a:r>
            <a:r>
              <a:rPr lang="en-US" sz="1200" dirty="0">
                <a:solidFill>
                  <a:srgbClr val="0891B2"/>
                </a:solidFill>
                <a:latin typeface="Consolas" pitchFamily="34" charset="0"/>
                <a:cs typeface="Consolas" pitchFamily="34" charset="-120"/>
              </a:rPr>
              <a:t>/google-research/camel-prompt-injection</a:t>
            </a:r>
          </a:p>
        </p:txBody>
      </p:sp>
      <p:sp>
        <p:nvSpPr>
          <p:cNvPr id="33" name="Text 31"/>
          <p:cNvSpPr/>
          <p:nvPr/>
        </p:nvSpPr>
        <p:spPr>
          <a:xfrm>
            <a:off x="859535" y="6022363"/>
            <a:ext cx="5074920" cy="573994"/>
          </a:xfrm>
          <a:prstGeom prst="rect">
            <a:avLst/>
          </a:prstGeom>
          <a:noFill/>
          <a:ln/>
        </p:spPr>
        <p:txBody>
          <a:bodyPr wrap="square" lIns="0" tIns="0" rIns="0" bIns="0" rtlCol="0" anchor="ctr"/>
          <a:lstStyle/>
          <a:p>
            <a:r>
              <a:rPr lang="en-US" sz="1200" i="1" dirty="0">
                <a:solidFill>
                  <a:srgbClr val="475569"/>
                </a:solidFill>
                <a:latin typeface="Calibri" pitchFamily="34" charset="0"/>
                <a:cs typeface="Calibri" pitchFamily="34" charset="-120"/>
              </a:rPr>
              <a:t>A robust defense that creates a protective system layer around the LLM, securing it even when underlying models are susceptible to attacks. </a:t>
            </a:r>
            <a:endParaRPr lang="en-US" sz="1200" dirty="0"/>
          </a:p>
        </p:txBody>
      </p:sp>
      <p:sp>
        <p:nvSpPr>
          <p:cNvPr id="34" name="Shape 32">
            <a:extLst>
              <a:ext uri="{C183D7F6-B498-43B3-948B-1728B52AA6E4}">
                <adec:decorative xmlns:adec="http://schemas.microsoft.com/office/drawing/2017/decorative" val="1"/>
              </a:ext>
            </a:extLst>
          </p:cNvPr>
          <p:cNvSpPr/>
          <p:nvPr/>
        </p:nvSpPr>
        <p:spPr>
          <a:xfrm>
            <a:off x="6519672" y="4983480"/>
            <a:ext cx="5440680" cy="1508760"/>
          </a:xfrm>
          <a:prstGeom prst="rect">
            <a:avLst/>
          </a:prstGeom>
          <a:solidFill>
            <a:srgbClr val="F8FAFC"/>
          </a:solidFill>
          <a:ln w="12700">
            <a:solidFill>
              <a:srgbClr val="E2E8F0"/>
            </a:solidFill>
            <a:prstDash val="solid"/>
          </a:ln>
        </p:spPr>
        <p:txBody>
          <a:bodyPr/>
          <a:lstStyle/>
          <a:p>
            <a:endParaRPr lang="en-US"/>
          </a:p>
        </p:txBody>
      </p:sp>
      <p:sp>
        <p:nvSpPr>
          <p:cNvPr id="35" name="Shape 33">
            <a:extLst>
              <a:ext uri="{C183D7F6-B498-43B3-948B-1728B52AA6E4}">
                <adec:decorative xmlns:adec="http://schemas.microsoft.com/office/drawing/2017/decorative" val="1"/>
              </a:ext>
            </a:extLst>
          </p:cNvPr>
          <p:cNvSpPr/>
          <p:nvPr/>
        </p:nvSpPr>
        <p:spPr>
          <a:xfrm>
            <a:off x="6446520" y="4983480"/>
            <a:ext cx="73152" cy="1508760"/>
          </a:xfrm>
          <a:prstGeom prst="rect">
            <a:avLst/>
          </a:prstGeom>
          <a:solidFill>
            <a:srgbClr val="06B6D4"/>
          </a:solidFill>
          <a:ln/>
        </p:spPr>
        <p:txBody>
          <a:bodyPr/>
          <a:lstStyle/>
          <a:p>
            <a:endParaRPr lang="en-US" dirty="0"/>
          </a:p>
        </p:txBody>
      </p:sp>
      <p:sp>
        <p:nvSpPr>
          <p:cNvPr id="36" name="Text 34"/>
          <p:cNvSpPr/>
          <p:nvPr/>
        </p:nvSpPr>
        <p:spPr>
          <a:xfrm>
            <a:off x="6675120" y="5120640"/>
            <a:ext cx="4983480" cy="274320"/>
          </a:xfrm>
          <a:prstGeom prst="rect">
            <a:avLst/>
          </a:prstGeom>
          <a:noFill/>
          <a:ln/>
        </p:spPr>
        <p:txBody>
          <a:bodyPr wrap="square" lIns="0" tIns="0" rIns="0" bIns="0" rtlCol="0" anchor="ctr"/>
          <a:lstStyle/>
          <a:p>
            <a:pPr marL="0" indent="0">
              <a:buNone/>
            </a:pPr>
            <a:r>
              <a:rPr lang="en-US" sz="900" b="1" kern="0" spc="300" dirty="0">
                <a:solidFill>
                  <a:srgbClr val="06B6D4"/>
                </a:solidFill>
                <a:latin typeface="Calibri" pitchFamily="34" charset="0"/>
                <a:ea typeface="Calibri" pitchFamily="34" charset="-122"/>
                <a:cs typeface="Calibri" pitchFamily="34" charset="-120"/>
              </a:rPr>
              <a:t>REGULATORY HOOK</a:t>
            </a:r>
            <a:endParaRPr lang="en-US" sz="900" dirty="0"/>
          </a:p>
        </p:txBody>
      </p:sp>
      <p:sp>
        <p:nvSpPr>
          <p:cNvPr id="37" name="Text 35"/>
          <p:cNvSpPr/>
          <p:nvPr/>
        </p:nvSpPr>
        <p:spPr>
          <a:xfrm>
            <a:off x="6675120" y="5367528"/>
            <a:ext cx="507492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NIST AI RMF · ISO/IEC 42001 · EU AI Act</a:t>
            </a:r>
            <a:endParaRPr lang="en-US" sz="1400" dirty="0"/>
          </a:p>
        </p:txBody>
      </p:sp>
      <p:sp>
        <p:nvSpPr>
          <p:cNvPr id="38" name="Text 36"/>
          <p:cNvSpPr/>
          <p:nvPr/>
        </p:nvSpPr>
        <p:spPr>
          <a:xfrm>
            <a:off x="6675120" y="5852160"/>
            <a:ext cx="5074920" cy="274320"/>
          </a:xfrm>
          <a:prstGeom prst="rect">
            <a:avLst/>
          </a:prstGeom>
          <a:noFill/>
          <a:ln/>
        </p:spPr>
        <p:txBody>
          <a:bodyPr wrap="square" lIns="0" tIns="0" rIns="0" bIns="0" rtlCol="0" anchor="ctr"/>
          <a:lstStyle/>
          <a:p>
            <a:pPr marL="0" indent="0">
              <a:buNone/>
            </a:pPr>
            <a:r>
              <a:rPr lang="en-US" sz="1200" dirty="0">
                <a:solidFill>
                  <a:srgbClr val="0891B2"/>
                </a:solidFill>
                <a:latin typeface="Consolas" pitchFamily="34" charset="0"/>
                <a:ea typeface="Consolas" pitchFamily="34" charset="-122"/>
                <a:cs typeface="Consolas" pitchFamily="34" charset="-120"/>
              </a:rPr>
              <a:t>nist.gov/itl/ai-risk-management-framework</a:t>
            </a:r>
            <a:endParaRPr lang="en-US" sz="1200" dirty="0"/>
          </a:p>
        </p:txBody>
      </p:sp>
      <p:sp>
        <p:nvSpPr>
          <p:cNvPr id="39" name="Text 37"/>
          <p:cNvSpPr/>
          <p:nvPr/>
        </p:nvSpPr>
        <p:spPr>
          <a:xfrm>
            <a:off x="6675120" y="6126480"/>
            <a:ext cx="5074920" cy="365760"/>
          </a:xfrm>
          <a:prstGeom prst="rect">
            <a:avLst/>
          </a:prstGeom>
          <a:noFill/>
          <a:ln/>
        </p:spPr>
        <p:txBody>
          <a:bodyPr wrap="square" lIns="0" tIns="0" rIns="0" bIns="0" rtlCol="0" anchor="ctr"/>
          <a:lstStyle/>
          <a:p>
            <a:pPr marL="0" indent="0">
              <a:buNone/>
            </a:pPr>
            <a:r>
              <a:rPr lang="en-US" sz="1200" i="1" dirty="0">
                <a:solidFill>
                  <a:srgbClr val="475569"/>
                </a:solidFill>
                <a:latin typeface="Calibri" pitchFamily="34" charset="0"/>
                <a:ea typeface="Calibri" pitchFamily="34" charset="-122"/>
                <a:cs typeface="Calibri" pitchFamily="34" charset="-120"/>
              </a:rPr>
              <a:t>Useful when you need budget. Auditors are starting to ask.</a:t>
            </a:r>
            <a:endParaRPr lang="en-US" sz="1200" dirty="0"/>
          </a:p>
        </p:txBody>
      </p:sp>
      <p:sp>
        <p:nvSpPr>
          <p:cNvPr id="41" name="Text 39"/>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94A3B8"/>
                </a:solidFill>
                <a:latin typeface="Calibri" pitchFamily="34" charset="0"/>
                <a:ea typeface="Calibri" pitchFamily="34" charset="-122"/>
                <a:cs typeface="Calibri" pitchFamily="34" charset="-120"/>
              </a:rPr>
              <a:t>Beyond STRIDE</a:t>
            </a:r>
            <a:endParaRPr lang="en-US" sz="1000" dirty="0"/>
          </a:p>
        </p:txBody>
      </p:sp>
      <p:sp>
        <p:nvSpPr>
          <p:cNvPr id="46" name="TextBox 45"/>
          <p:cNvSpPr txBox="1"/>
          <p:nvPr/>
        </p:nvSpPr>
        <p:spPr>
          <a:xfrm>
            <a:off x="457200" y="6711696"/>
            <a:ext cx="1828800" cy="182880"/>
          </a:xfrm>
          <a:prstGeom prst="rect">
            <a:avLst/>
          </a:prstGeom>
          <a:noFill/>
        </p:spPr>
        <p:txBody>
          <a:bodyPr wrap="none" lIns="0" tIns="0" rIns="0" bIns="0">
            <a:spAutoFit/>
          </a:bodyPr>
          <a:lstStyle/>
          <a:p>
            <a:pPr algn="l"/>
            <a:r>
              <a:rPr sz="1000" i="1">
                <a:solidFill>
                  <a:srgbClr val="94A3B8"/>
                </a:solidFill>
                <a:latin typeface="Calibri"/>
              </a:rPr>
              <a:t>42 / 43</a:t>
            </a:r>
          </a:p>
        </p:txBody>
      </p:sp>
      <p:sp>
        <p:nvSpPr>
          <p:cNvPr id="42" name="Text 29">
            <a:extLst>
              <a:ext uri="{FF2B5EF4-FFF2-40B4-BE49-F238E27FC236}">
                <a16:creationId xmlns:a16="http://schemas.microsoft.com/office/drawing/2014/main" id="{1B47627F-B2EA-F82E-8F39-9F8D2FEE39B8}"/>
              </a:ext>
            </a:extLst>
          </p:cNvPr>
          <p:cNvSpPr/>
          <p:nvPr/>
        </p:nvSpPr>
        <p:spPr>
          <a:xfrm>
            <a:off x="859535" y="5510299"/>
            <a:ext cx="5074920" cy="246888"/>
          </a:xfrm>
          <a:prstGeom prst="rect">
            <a:avLst/>
          </a:prstGeom>
          <a:noFill/>
          <a:ln/>
        </p:spPr>
        <p:txBody>
          <a:bodyPr wrap="square" lIns="0" tIns="0" rIns="0" bIns="0" rtlCol="0" anchor="ctr"/>
          <a:lstStyle/>
          <a:p>
            <a:r>
              <a:rPr lang="en-US" sz="1400" b="1" dirty="0" err="1">
                <a:solidFill>
                  <a:srgbClr val="1E293B"/>
                </a:solidFill>
                <a:latin typeface="Calibri" pitchFamily="34" charset="0"/>
                <a:ea typeface="Calibri" pitchFamily="34" charset="-122"/>
                <a:cs typeface="Calibri" pitchFamily="34" charset="-120"/>
              </a:rPr>
              <a:t>CaMeL</a:t>
            </a:r>
            <a:r>
              <a:rPr lang="en-US" sz="1400" b="1" dirty="0">
                <a:solidFill>
                  <a:srgbClr val="1E293B"/>
                </a:solidFill>
                <a:latin typeface="Calibri" pitchFamily="34" charset="0"/>
                <a:ea typeface="Calibri" pitchFamily="34" charset="-122"/>
                <a:cs typeface="Calibri" pitchFamily="34" charset="-120"/>
              </a:rPr>
              <a:t>: </a:t>
            </a:r>
            <a:r>
              <a:rPr lang="en-US" sz="1400" b="1" dirty="0">
                <a:solidFill>
                  <a:srgbClr val="1E293B"/>
                </a:solidFill>
                <a:latin typeface="Calibri" pitchFamily="34" charset="0"/>
                <a:cs typeface="Calibri" pitchFamily="34" charset="-120"/>
              </a:rPr>
              <a:t>Defeating Prompt Injections by Design</a:t>
            </a:r>
          </a:p>
          <a:p>
            <a:pPr marL="0" indent="0">
              <a:buNone/>
            </a:pPr>
            <a:endParaRPr lang="en-US" sz="1400" dirty="0"/>
          </a:p>
        </p:txBody>
      </p:sp>
      <p:sp>
        <p:nvSpPr>
          <p:cNvPr id="49" name="TextBox 48">
            <a:extLst>
              <a:ext uri="{FF2B5EF4-FFF2-40B4-BE49-F238E27FC236}">
                <a16:creationId xmlns:a16="http://schemas.microsoft.com/office/drawing/2014/main" id="{C08EEE1B-0407-9B64-A344-F54D1A25044F}"/>
              </a:ext>
            </a:extLst>
          </p:cNvPr>
          <p:cNvSpPr txBox="1"/>
          <p:nvPr/>
        </p:nvSpPr>
        <p:spPr>
          <a:xfrm>
            <a:off x="640080" y="1183614"/>
            <a:ext cx="11320272" cy="369332"/>
          </a:xfrm>
          <a:prstGeom prst="rect">
            <a:avLst/>
          </a:prstGeom>
          <a:solidFill>
            <a:srgbClr val="F8FAFC"/>
          </a:solidFill>
          <a:ln w="12700">
            <a:solidFill>
              <a:srgbClr val="E2E8F0"/>
            </a:solidFill>
            <a:prstDash val="solid"/>
          </a:ln>
        </p:spPr>
        <p:txBody>
          <a:bodyPr/>
          <a:lstStyle/>
          <a:p>
            <a:r>
              <a:rPr lang="en-US" dirty="0"/>
              <a:t> https://</a:t>
            </a:r>
            <a:r>
              <a:rPr lang="en-US" dirty="0" err="1"/>
              <a:t>github.com</a:t>
            </a:r>
            <a:r>
              <a:rPr lang="en-US" dirty="0"/>
              <a:t>/</a:t>
            </a:r>
            <a:r>
              <a:rPr lang="en-US" dirty="0" err="1"/>
              <a:t>darylynn</a:t>
            </a:r>
            <a:r>
              <a:rPr lang="en-US" dirty="0"/>
              <a:t>-ross-</a:t>
            </a:r>
            <a:r>
              <a:rPr lang="en-US" dirty="0" err="1"/>
              <a:t>cmm</a:t>
            </a:r>
            <a:r>
              <a:rPr lang="en-US" dirty="0"/>
              <a:t>/Beyond-Stride-Securing-Agentic-AI-with-the-MAESTRO-Framework-Talk</a:t>
            </a:r>
          </a:p>
        </p:txBody>
      </p:sp>
      <p:sp>
        <p:nvSpPr>
          <p:cNvPr id="50" name="Shape 3">
            <a:extLst>
              <a:ext uri="{FF2B5EF4-FFF2-40B4-BE49-F238E27FC236}">
                <a16:creationId xmlns:a16="http://schemas.microsoft.com/office/drawing/2014/main" id="{4DAD4178-DD40-AB8F-BA5C-72211CDD7B88}"/>
              </a:ext>
              <a:ext uri="{C183D7F6-B498-43B3-948B-1728B52AA6E4}">
                <adec:decorative xmlns:adec="http://schemas.microsoft.com/office/drawing/2017/decorative" val="1"/>
              </a:ext>
            </a:extLst>
          </p:cNvPr>
          <p:cNvSpPr/>
          <p:nvPr/>
        </p:nvSpPr>
        <p:spPr>
          <a:xfrm>
            <a:off x="635843" y="1177481"/>
            <a:ext cx="73152" cy="369332"/>
          </a:xfrm>
          <a:prstGeom prst="rect">
            <a:avLst/>
          </a:prstGeom>
          <a:solidFill>
            <a:srgbClr val="06B6D4"/>
          </a:solidFill>
          <a:ln/>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2000" advTm="122036"/>
    </mc:Choice>
    <mc:Fallback>
      <p:transition spd="slow" advTm="122036"/>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0">
    <p:bg>
      <p:bgPr>
        <a:solidFill>
          <a:srgbClr val="0A1628"/>
        </a:solidFill>
        <a:effectLst/>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228600" cy="6858000"/>
          </a:xfrm>
          <a:prstGeom prst="rect">
            <a:avLst/>
          </a:prstGeom>
          <a:solidFill>
            <a:srgbClr val="F97066"/>
          </a:solidFill>
          <a:ln/>
        </p:spPr>
        <p:txBody>
          <a:bodyPr/>
          <a:lstStyle/>
          <a:p>
            <a:endParaRPr lang="en-US"/>
          </a:p>
        </p:txBody>
      </p:sp>
      <p:sp>
        <p:nvSpPr>
          <p:cNvPr id="3" name="Text 1"/>
          <p:cNvSpPr/>
          <p:nvPr/>
        </p:nvSpPr>
        <p:spPr>
          <a:xfrm>
            <a:off x="822960" y="1463040"/>
            <a:ext cx="10972800" cy="1463040"/>
          </a:xfrm>
          <a:prstGeom prst="rect">
            <a:avLst/>
          </a:prstGeom>
          <a:noFill/>
          <a:ln/>
        </p:spPr>
        <p:txBody>
          <a:bodyPr wrap="square" lIns="0" tIns="0" rIns="0" bIns="0" rtlCol="0" anchor="ctr"/>
          <a:lstStyle/>
          <a:p>
            <a:pPr marL="0" indent="0">
              <a:buNone/>
            </a:pPr>
            <a:r>
              <a:rPr lang="en-US" sz="9600" b="1" dirty="0">
                <a:solidFill>
                  <a:srgbClr val="E8F1FF"/>
                </a:solidFill>
                <a:latin typeface="Georgia" pitchFamily="34" charset="0"/>
                <a:ea typeface="Georgia" pitchFamily="34" charset="-122"/>
                <a:cs typeface="Georgia" pitchFamily="34" charset="-120"/>
              </a:rPr>
              <a:t>Questions?</a:t>
            </a:r>
            <a:endParaRPr lang="en-US" sz="9600" dirty="0"/>
          </a:p>
        </p:txBody>
      </p:sp>
      <p:sp>
        <p:nvSpPr>
          <p:cNvPr id="4" name="Shape 2">
            <a:extLst>
              <a:ext uri="{C183D7F6-B498-43B3-948B-1728B52AA6E4}">
                <adec:decorative xmlns:adec="http://schemas.microsoft.com/office/drawing/2017/decorative" val="1"/>
              </a:ext>
            </a:extLst>
          </p:cNvPr>
          <p:cNvSpPr/>
          <p:nvPr/>
        </p:nvSpPr>
        <p:spPr>
          <a:xfrm>
            <a:off x="822960" y="3108960"/>
            <a:ext cx="1371600" cy="45720"/>
          </a:xfrm>
          <a:prstGeom prst="rect">
            <a:avLst/>
          </a:prstGeom>
          <a:solidFill>
            <a:srgbClr val="06B6D4"/>
          </a:solidFill>
          <a:ln/>
        </p:spPr>
        <p:txBody>
          <a:bodyPr/>
          <a:lstStyle/>
          <a:p>
            <a:endParaRPr lang="en-US"/>
          </a:p>
        </p:txBody>
      </p:sp>
      <p:sp>
        <p:nvSpPr>
          <p:cNvPr id="11" name="Text 8"/>
          <p:cNvSpPr/>
          <p:nvPr/>
        </p:nvSpPr>
        <p:spPr>
          <a:xfrm>
            <a:off x="8046720" y="6492240"/>
            <a:ext cx="3657600" cy="274320"/>
          </a:xfrm>
          <a:prstGeom prst="rect">
            <a:avLst/>
          </a:prstGeom>
          <a:noFill/>
          <a:ln/>
        </p:spPr>
        <p:txBody>
          <a:bodyPr wrap="square" rtlCol="0" anchor="ctr"/>
          <a:lstStyle/>
          <a:p>
            <a:pPr marL="0" indent="0" algn="r">
              <a:buNone/>
            </a:pPr>
            <a:r>
              <a:rPr lang="en-US" sz="1000" i="1" dirty="0">
                <a:solidFill>
                  <a:srgbClr val="B8C9E0"/>
                </a:solidFill>
                <a:latin typeface="Calibri" pitchFamily="34" charset="0"/>
                <a:ea typeface="Calibri" pitchFamily="34" charset="-122"/>
                <a:cs typeface="Calibri" pitchFamily="34" charset="-120"/>
              </a:rPr>
              <a:t>Beyond STRIDE</a:t>
            </a:r>
            <a:endParaRPr lang="en-US" sz="1000" dirty="0"/>
          </a:p>
        </p:txBody>
      </p:sp>
      <p:pic>
        <p:nvPicPr>
          <p:cNvPr id="5" name="Picture 4" descr="Loaded Questions (@carcarewarriors) • Facebook">
            <a:extLst>
              <a:ext uri="{FF2B5EF4-FFF2-40B4-BE49-F238E27FC236}">
                <a16:creationId xmlns:a16="http://schemas.microsoft.com/office/drawing/2014/main" id="{1F9E307C-E9AB-9ECA-22D0-D34B43BA6961}"/>
              </a:ext>
            </a:extLst>
          </p:cNvPr>
          <p:cNvPicPr>
            <a:picLocks noChangeAspect="1"/>
          </p:cNvPicPr>
          <p:nvPr/>
        </p:nvPicPr>
        <p:blipFill>
          <a:blip r:embed="rId3"/>
          <a:stretch>
            <a:fillRect/>
          </a:stretch>
        </p:blipFill>
        <p:spPr>
          <a:xfrm>
            <a:off x="4528962" y="3154680"/>
            <a:ext cx="3560795" cy="3560795"/>
          </a:xfrm>
          <a:prstGeom prst="rect">
            <a:avLst/>
          </a:prstGeom>
        </p:spPr>
      </p:pic>
      <p:sp>
        <p:nvSpPr>
          <p:cNvPr id="12" name="TextBox 11"/>
          <p:cNvSpPr txBox="1"/>
          <p:nvPr/>
        </p:nvSpPr>
        <p:spPr>
          <a:xfrm>
            <a:off x="457200" y="6492240"/>
            <a:ext cx="1828800" cy="182880"/>
          </a:xfrm>
          <a:prstGeom prst="rect">
            <a:avLst/>
          </a:prstGeom>
          <a:noFill/>
        </p:spPr>
        <p:txBody>
          <a:bodyPr wrap="none" lIns="0" tIns="0" rIns="0" bIns="0">
            <a:spAutoFit/>
          </a:bodyPr>
          <a:lstStyle/>
          <a:p>
            <a:pPr algn="l"/>
            <a:r>
              <a:rPr sz="1000" i="1">
                <a:solidFill>
                  <a:srgbClr val="94A3B8"/>
                </a:solidFill>
                <a:latin typeface="Calibri"/>
              </a:rPr>
              <a:t>43 / 43</a:t>
            </a:r>
          </a:p>
        </p:txBody>
      </p:sp>
    </p:spTree>
  </p:cSld>
  <p:clrMapOvr>
    <a:masterClrMapping/>
  </p:clrMapOvr>
  <mc:AlternateContent xmlns:mc="http://schemas.openxmlformats.org/markup-compatibility/2006">
    <mc:Choice xmlns:p14="http://schemas.microsoft.com/office/powerpoint/2010/main" Requires="p14">
      <p:transition spd="slow" p14:dur="2000" advTm="4520"/>
    </mc:Choice>
    <mc:Fallback>
      <p:transition spd="slow" advTm="452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fbd6cd6-3262-48dc-8011-f5abeb79275f}" enabled="1" method="Standard" siteId="{da67ef1b-ca59-4db2-9a8c-aa8d94617a16}" contentBits="0" removed="0"/>
</clbl:labelList>
</file>

<file path=docProps/app.xml><?xml version="1.0" encoding="utf-8"?>
<Properties xmlns="http://schemas.openxmlformats.org/officeDocument/2006/extended-properties" xmlns:vt="http://schemas.openxmlformats.org/officeDocument/2006/docPropsVTypes">
  <TotalTime>12360</TotalTime>
  <Words>4909</Words>
  <Application>Microsoft Macintosh PowerPoint</Application>
  <PresentationFormat>Widescreen</PresentationFormat>
  <Paragraphs>766</Paragraphs>
  <Slides>39</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STRIDE: Securing Agentic AI with the MAESTRO Framework</dc:title>
  <dc:subject>PptxGenJS Presentation</dc:subject>
  <dc:creator>MAESTRO Talk</dc:creator>
  <cp:lastModifiedBy>Ross, Darylynn</cp:lastModifiedBy>
  <cp:revision>18</cp:revision>
  <dcterms:created xsi:type="dcterms:W3CDTF">2026-04-28T20:51:01Z</dcterms:created>
  <dcterms:modified xsi:type="dcterms:W3CDTF">2026-05-27T18:06:32Z</dcterms:modified>
</cp:coreProperties>
</file>